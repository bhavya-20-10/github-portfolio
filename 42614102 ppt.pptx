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61" r:id="rId2"/>
    <p:sldId id="290" r:id="rId3"/>
    <p:sldId id="291" r:id="rId4"/>
    <p:sldId id="279" r:id="rId5"/>
    <p:sldId id="281" r:id="rId6"/>
    <p:sldId id="282" r:id="rId7"/>
    <p:sldId id="292" r:id="rId8"/>
    <p:sldId id="293" r:id="rId9"/>
    <p:sldId id="283" r:id="rId10"/>
    <p:sldId id="296" r:id="rId11"/>
    <p:sldId id="294" r:id="rId12"/>
    <p:sldId id="295" r:id="rId13"/>
    <p:sldId id="284" r:id="rId14"/>
    <p:sldId id="297" r:id="rId15"/>
    <p:sldId id="298" r:id="rId16"/>
    <p:sldId id="299" r:id="rId17"/>
    <p:sldId id="300" r:id="rId18"/>
    <p:sldId id="301" r:id="rId19"/>
    <p:sldId id="302" r:id="rId20"/>
    <p:sldId id="285" r:id="rId21"/>
    <p:sldId id="288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4590" autoAdjust="0"/>
  </p:normalViewPr>
  <p:slideViewPr>
    <p:cSldViewPr>
      <p:cViewPr varScale="1">
        <p:scale>
          <a:sx n="65" d="100"/>
          <a:sy n="65" d="100"/>
        </p:scale>
        <p:origin x="92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E042AB-CB75-4A93-BCF4-19E8F5053529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C218053-9ACC-4D1D-9EE8-0FC6059C5DB9}">
      <dgm:prSet phldrT="[Text]"/>
      <dgm:spPr/>
      <dgm:t>
        <a:bodyPr/>
        <a:lstStyle/>
        <a:p>
          <a:r>
            <a:rPr lang="en-IN" dirty="0" smtClean="0"/>
            <a:t>Sprint 0(planning</a:t>
          </a:r>
          <a:r>
            <a:rPr lang="en-IN" dirty="0"/>
            <a:t>)</a:t>
          </a:r>
        </a:p>
      </dgm:t>
    </dgm:pt>
    <dgm:pt modelId="{3D22AC4B-097A-4FA5-AA22-B52C0A76911F}" type="parTrans" cxnId="{AD7096F7-5818-4A2C-B159-AD8AD2449834}">
      <dgm:prSet/>
      <dgm:spPr/>
      <dgm:t>
        <a:bodyPr/>
        <a:lstStyle/>
        <a:p>
          <a:endParaRPr lang="en-IN"/>
        </a:p>
      </dgm:t>
    </dgm:pt>
    <dgm:pt modelId="{CE41C11B-B47B-43BA-9F23-91787F818C98}" type="sibTrans" cxnId="{AD7096F7-5818-4A2C-B159-AD8AD2449834}">
      <dgm:prSet/>
      <dgm:spPr/>
      <dgm:t>
        <a:bodyPr/>
        <a:lstStyle/>
        <a:p>
          <a:endParaRPr lang="en-IN"/>
        </a:p>
      </dgm:t>
    </dgm:pt>
    <dgm:pt modelId="{643780E6-172B-4947-A9BD-80C25AB738B2}">
      <dgm:prSet phldrT="[Text]"/>
      <dgm:spPr/>
      <dgm:t>
        <a:bodyPr/>
        <a:lstStyle/>
        <a:p>
          <a:r>
            <a:rPr lang="en-IN" dirty="0"/>
            <a:t>Design and Development</a:t>
          </a:r>
        </a:p>
      </dgm:t>
    </dgm:pt>
    <dgm:pt modelId="{4980F18C-CC24-440A-B8F0-E7634CCE0E5F}" type="parTrans" cxnId="{5544C4F6-2176-4A8A-B54B-67C510CDD077}">
      <dgm:prSet/>
      <dgm:spPr/>
      <dgm:t>
        <a:bodyPr/>
        <a:lstStyle/>
        <a:p>
          <a:endParaRPr lang="en-IN"/>
        </a:p>
      </dgm:t>
    </dgm:pt>
    <dgm:pt modelId="{A8B4B13E-2BAB-4462-B416-2CA692B06916}" type="sibTrans" cxnId="{5544C4F6-2176-4A8A-B54B-67C510CDD077}">
      <dgm:prSet/>
      <dgm:spPr/>
      <dgm:t>
        <a:bodyPr/>
        <a:lstStyle/>
        <a:p>
          <a:endParaRPr lang="en-IN"/>
        </a:p>
      </dgm:t>
    </dgm:pt>
    <dgm:pt modelId="{63F227F6-E6CA-4166-B3ED-742F8F1C60B5}">
      <dgm:prSet phldrT="[Text]"/>
      <dgm:spPr/>
      <dgm:t>
        <a:bodyPr/>
        <a:lstStyle/>
        <a:p>
          <a:r>
            <a:rPr lang="en-IN" dirty="0"/>
            <a:t>Testing</a:t>
          </a:r>
        </a:p>
      </dgm:t>
    </dgm:pt>
    <dgm:pt modelId="{91CB6A3E-596C-4ED2-A149-DE06E8FC9544}" type="parTrans" cxnId="{A4ED7D72-448E-4378-B82D-460F98BFEA84}">
      <dgm:prSet/>
      <dgm:spPr/>
      <dgm:t>
        <a:bodyPr/>
        <a:lstStyle/>
        <a:p>
          <a:endParaRPr lang="en-IN"/>
        </a:p>
      </dgm:t>
    </dgm:pt>
    <dgm:pt modelId="{FD83598F-13E3-4F8C-B254-F15E47E9BBF6}" type="sibTrans" cxnId="{A4ED7D72-448E-4378-B82D-460F98BFEA84}">
      <dgm:prSet/>
      <dgm:spPr/>
      <dgm:t>
        <a:bodyPr/>
        <a:lstStyle/>
        <a:p>
          <a:endParaRPr lang="en-IN"/>
        </a:p>
      </dgm:t>
    </dgm:pt>
    <dgm:pt modelId="{53BDDBC0-6D0C-4702-AF56-062D8CE24169}">
      <dgm:prSet phldrT="[Text]"/>
      <dgm:spPr/>
      <dgm:t>
        <a:bodyPr/>
        <a:lstStyle/>
        <a:p>
          <a:r>
            <a:rPr lang="en-IN" dirty="0"/>
            <a:t>Design prototype</a:t>
          </a:r>
        </a:p>
      </dgm:t>
    </dgm:pt>
    <dgm:pt modelId="{9ECEF2C6-7F2B-41A9-AC8A-13EBE5F46A2C}" type="parTrans" cxnId="{AB4A3FF6-35E7-491C-AB05-2E6239E65BF1}">
      <dgm:prSet/>
      <dgm:spPr/>
      <dgm:t>
        <a:bodyPr/>
        <a:lstStyle/>
        <a:p>
          <a:endParaRPr lang="en-IN"/>
        </a:p>
      </dgm:t>
    </dgm:pt>
    <dgm:pt modelId="{A355FC25-CF1C-4851-A640-C27295A29DDA}" type="sibTrans" cxnId="{AB4A3FF6-35E7-491C-AB05-2E6239E65BF1}">
      <dgm:prSet/>
      <dgm:spPr/>
      <dgm:t>
        <a:bodyPr/>
        <a:lstStyle/>
        <a:p>
          <a:endParaRPr lang="en-IN"/>
        </a:p>
      </dgm:t>
    </dgm:pt>
    <dgm:pt modelId="{72DC1B5D-EE60-4C70-A9BD-76B1B124F70D}">
      <dgm:prSet phldrT="[Text]"/>
      <dgm:spPr/>
      <dgm:t>
        <a:bodyPr/>
        <a:lstStyle/>
        <a:p>
          <a:r>
            <a:rPr lang="en-IN" dirty="0"/>
            <a:t>Sprint review</a:t>
          </a:r>
        </a:p>
      </dgm:t>
    </dgm:pt>
    <dgm:pt modelId="{63D2A94D-11B3-4B51-986A-E4EAB4039E02}" type="parTrans" cxnId="{02995B1E-B3D9-4FBA-AB57-5F8E127265D2}">
      <dgm:prSet/>
      <dgm:spPr/>
      <dgm:t>
        <a:bodyPr/>
        <a:lstStyle/>
        <a:p>
          <a:endParaRPr lang="en-IN"/>
        </a:p>
      </dgm:t>
    </dgm:pt>
    <dgm:pt modelId="{688680F5-8339-4FE0-9AB0-8BE8944571B4}" type="sibTrans" cxnId="{02995B1E-B3D9-4FBA-AB57-5F8E127265D2}">
      <dgm:prSet/>
      <dgm:spPr/>
      <dgm:t>
        <a:bodyPr/>
        <a:lstStyle/>
        <a:p>
          <a:endParaRPr lang="en-IN"/>
        </a:p>
      </dgm:t>
    </dgm:pt>
    <dgm:pt modelId="{529DEC58-33AE-4695-8F1B-3868E9E235D0}">
      <dgm:prSet phldrT="[Text]"/>
      <dgm:spPr/>
      <dgm:t>
        <a:bodyPr/>
        <a:lstStyle/>
        <a:p>
          <a:r>
            <a:rPr lang="en-IN" dirty="0"/>
            <a:t>Final launch</a:t>
          </a:r>
        </a:p>
      </dgm:t>
    </dgm:pt>
    <dgm:pt modelId="{DAAAE458-139A-4FA3-BC54-60E386CAA760}" type="parTrans" cxnId="{D1AE327A-0DC4-4755-8CDC-873791E2B057}">
      <dgm:prSet/>
      <dgm:spPr/>
      <dgm:t>
        <a:bodyPr/>
        <a:lstStyle/>
        <a:p>
          <a:endParaRPr lang="en-IN"/>
        </a:p>
      </dgm:t>
    </dgm:pt>
    <dgm:pt modelId="{EDEED03E-51DD-4673-9902-FF1D83ED999F}" type="sibTrans" cxnId="{D1AE327A-0DC4-4755-8CDC-873791E2B057}">
      <dgm:prSet/>
      <dgm:spPr/>
      <dgm:t>
        <a:bodyPr/>
        <a:lstStyle/>
        <a:p>
          <a:endParaRPr lang="en-IN"/>
        </a:p>
      </dgm:t>
    </dgm:pt>
    <dgm:pt modelId="{358C34A5-47D4-49C0-90EB-A3E625E33A8C}">
      <dgm:prSet phldrT="[Text]"/>
      <dgm:spPr/>
      <dgm:t>
        <a:bodyPr/>
        <a:lstStyle/>
        <a:p>
          <a:r>
            <a:rPr lang="en-IN" dirty="0"/>
            <a:t> User research</a:t>
          </a:r>
        </a:p>
      </dgm:t>
    </dgm:pt>
    <dgm:pt modelId="{275DAD3A-6F14-49C1-8CD0-AE0E8B7A58BF}" type="sibTrans" cxnId="{7FE52FBF-0548-4464-819E-F3B1C71A4CED}">
      <dgm:prSet/>
      <dgm:spPr/>
      <dgm:t>
        <a:bodyPr/>
        <a:lstStyle/>
        <a:p>
          <a:endParaRPr lang="en-IN"/>
        </a:p>
      </dgm:t>
    </dgm:pt>
    <dgm:pt modelId="{3A622D34-DE67-44A8-9DD4-8F0A3342FDD7}" type="parTrans" cxnId="{7FE52FBF-0548-4464-819E-F3B1C71A4CED}">
      <dgm:prSet/>
      <dgm:spPr/>
      <dgm:t>
        <a:bodyPr/>
        <a:lstStyle/>
        <a:p>
          <a:endParaRPr lang="en-IN"/>
        </a:p>
      </dgm:t>
    </dgm:pt>
    <dgm:pt modelId="{C524457B-73F8-49E0-86C4-0A8D5087AD0C}">
      <dgm:prSet/>
      <dgm:spPr/>
      <dgm:t>
        <a:bodyPr/>
        <a:lstStyle/>
        <a:p>
          <a:r>
            <a:rPr lang="en-IN"/>
            <a:t>Continuous integration /deployment</a:t>
          </a:r>
          <a:endParaRPr lang="en-IN" dirty="0"/>
        </a:p>
      </dgm:t>
    </dgm:pt>
    <dgm:pt modelId="{475D2886-7826-4DD1-A569-5E4D130D7150}" type="parTrans" cxnId="{64666A64-5B40-4420-B5BB-AC3797E1D2E1}">
      <dgm:prSet/>
      <dgm:spPr/>
      <dgm:t>
        <a:bodyPr/>
        <a:lstStyle/>
        <a:p>
          <a:endParaRPr lang="en-IN"/>
        </a:p>
      </dgm:t>
    </dgm:pt>
    <dgm:pt modelId="{7CA9371B-C9F4-43E2-82F3-3B1BE973C258}" type="sibTrans" cxnId="{64666A64-5B40-4420-B5BB-AC3797E1D2E1}">
      <dgm:prSet/>
      <dgm:spPr/>
      <dgm:t>
        <a:bodyPr/>
        <a:lstStyle/>
        <a:p>
          <a:endParaRPr lang="en-IN"/>
        </a:p>
      </dgm:t>
    </dgm:pt>
    <dgm:pt modelId="{225B0EFE-63AB-4DB3-909F-1B969D9BCA6E}" type="pres">
      <dgm:prSet presAssocID="{17E042AB-CB75-4A93-BCF4-19E8F5053529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7251935D-26F3-451C-88C7-248E17007290}" type="pres">
      <dgm:prSet presAssocID="{3C218053-9ACC-4D1D-9EE8-0FC6059C5DB9}" presName="compNode" presStyleCnt="0"/>
      <dgm:spPr/>
    </dgm:pt>
    <dgm:pt modelId="{B71A519F-5DFD-4E46-9DD1-C2761A3C2A11}" type="pres">
      <dgm:prSet presAssocID="{3C218053-9ACC-4D1D-9EE8-0FC6059C5DB9}" presName="dummyConnPt" presStyleCnt="0"/>
      <dgm:spPr/>
    </dgm:pt>
    <dgm:pt modelId="{E2FD69AD-8D4B-4FF1-95C1-371DEE98BB80}" type="pres">
      <dgm:prSet presAssocID="{3C218053-9ACC-4D1D-9EE8-0FC6059C5DB9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0D2253-D902-4310-9BF9-778EB0E149B4}" type="pres">
      <dgm:prSet presAssocID="{CE41C11B-B47B-43BA-9F23-91787F818C98}" presName="sibTrans" presStyleLbl="bgSibTrans2D1" presStyleIdx="0" presStyleCnt="7"/>
      <dgm:spPr/>
      <dgm:t>
        <a:bodyPr/>
        <a:lstStyle/>
        <a:p>
          <a:endParaRPr lang="en-US"/>
        </a:p>
      </dgm:t>
    </dgm:pt>
    <dgm:pt modelId="{DCE82BB5-A07E-4B7C-BF1B-177F93726B4D}" type="pres">
      <dgm:prSet presAssocID="{358C34A5-47D4-49C0-90EB-A3E625E33A8C}" presName="compNode" presStyleCnt="0"/>
      <dgm:spPr/>
    </dgm:pt>
    <dgm:pt modelId="{50C2F2FB-EC0C-46B5-9F48-5D6E73844145}" type="pres">
      <dgm:prSet presAssocID="{358C34A5-47D4-49C0-90EB-A3E625E33A8C}" presName="dummyConnPt" presStyleCnt="0"/>
      <dgm:spPr/>
    </dgm:pt>
    <dgm:pt modelId="{8B0E92EB-8FC5-4F96-B165-FDEF5548A667}" type="pres">
      <dgm:prSet presAssocID="{358C34A5-47D4-49C0-90EB-A3E625E33A8C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3A51D0-7081-4FC9-8E0D-5B801C133E94}" type="pres">
      <dgm:prSet presAssocID="{275DAD3A-6F14-49C1-8CD0-AE0E8B7A58BF}" presName="sibTrans" presStyleLbl="bgSibTrans2D1" presStyleIdx="1" presStyleCnt="7"/>
      <dgm:spPr/>
      <dgm:t>
        <a:bodyPr/>
        <a:lstStyle/>
        <a:p>
          <a:endParaRPr lang="en-US"/>
        </a:p>
      </dgm:t>
    </dgm:pt>
    <dgm:pt modelId="{FEB31592-28CD-4FD0-BAF6-07692F864D3F}" type="pres">
      <dgm:prSet presAssocID="{643780E6-172B-4947-A9BD-80C25AB738B2}" presName="compNode" presStyleCnt="0"/>
      <dgm:spPr/>
    </dgm:pt>
    <dgm:pt modelId="{CB15B5DD-F4B2-4AE5-8D0A-4C71E363C9F4}" type="pres">
      <dgm:prSet presAssocID="{643780E6-172B-4947-A9BD-80C25AB738B2}" presName="dummyConnPt" presStyleCnt="0"/>
      <dgm:spPr/>
    </dgm:pt>
    <dgm:pt modelId="{A1DAA8C7-F93D-4A83-93FF-6E5C97268DA4}" type="pres">
      <dgm:prSet presAssocID="{643780E6-172B-4947-A9BD-80C25AB738B2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C20BBD-CA4B-4F40-9ABB-B916B9019041}" type="pres">
      <dgm:prSet presAssocID="{A8B4B13E-2BAB-4462-B416-2CA692B06916}" presName="sibTrans" presStyleLbl="bgSibTrans2D1" presStyleIdx="2" presStyleCnt="7"/>
      <dgm:spPr/>
      <dgm:t>
        <a:bodyPr/>
        <a:lstStyle/>
        <a:p>
          <a:endParaRPr lang="en-US"/>
        </a:p>
      </dgm:t>
    </dgm:pt>
    <dgm:pt modelId="{C1F179C4-B07C-4D86-A696-AAAA76925120}" type="pres">
      <dgm:prSet presAssocID="{63F227F6-E6CA-4166-B3ED-742F8F1C60B5}" presName="compNode" presStyleCnt="0"/>
      <dgm:spPr/>
    </dgm:pt>
    <dgm:pt modelId="{F482E2CA-ED7E-4235-BE59-393BE9B116C3}" type="pres">
      <dgm:prSet presAssocID="{63F227F6-E6CA-4166-B3ED-742F8F1C60B5}" presName="dummyConnPt" presStyleCnt="0"/>
      <dgm:spPr/>
    </dgm:pt>
    <dgm:pt modelId="{E7EAD8DD-7690-407B-BA71-0B635DE661F5}" type="pres">
      <dgm:prSet presAssocID="{63F227F6-E6CA-4166-B3ED-742F8F1C60B5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74053C-BD95-4EEA-A862-5223162DF7AA}" type="pres">
      <dgm:prSet presAssocID="{FD83598F-13E3-4F8C-B254-F15E47E9BBF6}" presName="sibTrans" presStyleLbl="bgSibTrans2D1" presStyleIdx="3" presStyleCnt="7"/>
      <dgm:spPr/>
      <dgm:t>
        <a:bodyPr/>
        <a:lstStyle/>
        <a:p>
          <a:endParaRPr lang="en-US"/>
        </a:p>
      </dgm:t>
    </dgm:pt>
    <dgm:pt modelId="{59F1679A-8DBC-4239-9C03-009019A99645}" type="pres">
      <dgm:prSet presAssocID="{53BDDBC0-6D0C-4702-AF56-062D8CE24169}" presName="compNode" presStyleCnt="0"/>
      <dgm:spPr/>
    </dgm:pt>
    <dgm:pt modelId="{E1B78554-AB82-408D-8B3C-2846A621B591}" type="pres">
      <dgm:prSet presAssocID="{53BDDBC0-6D0C-4702-AF56-062D8CE24169}" presName="dummyConnPt" presStyleCnt="0"/>
      <dgm:spPr/>
    </dgm:pt>
    <dgm:pt modelId="{0101B2CE-3C6A-477A-8D79-D0C0BCD95FAF}" type="pres">
      <dgm:prSet presAssocID="{53BDDBC0-6D0C-4702-AF56-062D8CE24169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AD56FB-D48B-44F6-B835-12B333219BD5}" type="pres">
      <dgm:prSet presAssocID="{A355FC25-CF1C-4851-A640-C27295A29DDA}" presName="sibTrans" presStyleLbl="bgSibTrans2D1" presStyleIdx="4" presStyleCnt="7"/>
      <dgm:spPr/>
      <dgm:t>
        <a:bodyPr/>
        <a:lstStyle/>
        <a:p>
          <a:endParaRPr lang="en-US"/>
        </a:p>
      </dgm:t>
    </dgm:pt>
    <dgm:pt modelId="{38024241-1E4A-4CBD-B45D-6173A2237CA8}" type="pres">
      <dgm:prSet presAssocID="{72DC1B5D-EE60-4C70-A9BD-76B1B124F70D}" presName="compNode" presStyleCnt="0"/>
      <dgm:spPr/>
    </dgm:pt>
    <dgm:pt modelId="{72A164BE-6AF5-414F-B9E7-5037611BADFB}" type="pres">
      <dgm:prSet presAssocID="{72DC1B5D-EE60-4C70-A9BD-76B1B124F70D}" presName="dummyConnPt" presStyleCnt="0"/>
      <dgm:spPr/>
    </dgm:pt>
    <dgm:pt modelId="{8386A0DD-33A2-4296-8874-E23A6FD85EF3}" type="pres">
      <dgm:prSet presAssocID="{72DC1B5D-EE60-4C70-A9BD-76B1B124F70D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5FCEED-72D5-4883-AFE7-5E1EAF4FA2A3}" type="pres">
      <dgm:prSet presAssocID="{688680F5-8339-4FE0-9AB0-8BE8944571B4}" presName="sibTrans" presStyleLbl="bgSibTrans2D1" presStyleIdx="5" presStyleCnt="7"/>
      <dgm:spPr/>
      <dgm:t>
        <a:bodyPr/>
        <a:lstStyle/>
        <a:p>
          <a:endParaRPr lang="en-US"/>
        </a:p>
      </dgm:t>
    </dgm:pt>
    <dgm:pt modelId="{F757827F-7B46-499A-BE6D-7A5D50F265BB}" type="pres">
      <dgm:prSet presAssocID="{C524457B-73F8-49E0-86C4-0A8D5087AD0C}" presName="compNode" presStyleCnt="0"/>
      <dgm:spPr/>
    </dgm:pt>
    <dgm:pt modelId="{D159B253-62DF-4578-8C05-91FA5BF80C58}" type="pres">
      <dgm:prSet presAssocID="{C524457B-73F8-49E0-86C4-0A8D5087AD0C}" presName="dummyConnPt" presStyleCnt="0"/>
      <dgm:spPr/>
    </dgm:pt>
    <dgm:pt modelId="{443E7072-D50C-4475-BABA-BC16435D4D52}" type="pres">
      <dgm:prSet presAssocID="{C524457B-73F8-49E0-86C4-0A8D5087AD0C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46088C-2E38-4553-B8BB-8CB391336E55}" type="pres">
      <dgm:prSet presAssocID="{7CA9371B-C9F4-43E2-82F3-3B1BE973C258}" presName="sibTrans" presStyleLbl="bgSibTrans2D1" presStyleIdx="6" presStyleCnt="7"/>
      <dgm:spPr/>
      <dgm:t>
        <a:bodyPr/>
        <a:lstStyle/>
        <a:p>
          <a:endParaRPr lang="en-US"/>
        </a:p>
      </dgm:t>
    </dgm:pt>
    <dgm:pt modelId="{109F6B4E-2DF7-4083-9FD4-9C3B95366E9B}" type="pres">
      <dgm:prSet presAssocID="{529DEC58-33AE-4695-8F1B-3868E9E235D0}" presName="compNode" presStyleCnt="0"/>
      <dgm:spPr/>
    </dgm:pt>
    <dgm:pt modelId="{406EE701-EB94-4435-BEAB-53C32812B39D}" type="pres">
      <dgm:prSet presAssocID="{529DEC58-33AE-4695-8F1B-3868E9E235D0}" presName="dummyConnPt" presStyleCnt="0"/>
      <dgm:spPr/>
    </dgm:pt>
    <dgm:pt modelId="{9BA1C045-016A-4414-AFA1-F1891FDAC099}" type="pres">
      <dgm:prSet presAssocID="{529DEC58-33AE-4695-8F1B-3868E9E235D0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3814C51-FB58-4A00-8C55-B4E70644DBDF}" type="presOf" srcId="{CE41C11B-B47B-43BA-9F23-91787F818C98}" destId="{210D2253-D902-4310-9BF9-778EB0E149B4}" srcOrd="0" destOrd="0" presId="urn:microsoft.com/office/officeart/2005/8/layout/bProcess4"/>
    <dgm:cxn modelId="{D1AE327A-0DC4-4755-8CDC-873791E2B057}" srcId="{17E042AB-CB75-4A93-BCF4-19E8F5053529}" destId="{529DEC58-33AE-4695-8F1B-3868E9E235D0}" srcOrd="7" destOrd="0" parTransId="{DAAAE458-139A-4FA3-BC54-60E386CAA760}" sibTransId="{EDEED03E-51DD-4673-9902-FF1D83ED999F}"/>
    <dgm:cxn modelId="{43D4561C-D7CE-4A22-BA31-2815A2CDFA09}" type="presOf" srcId="{529DEC58-33AE-4695-8F1B-3868E9E235D0}" destId="{9BA1C045-016A-4414-AFA1-F1891FDAC099}" srcOrd="0" destOrd="0" presId="urn:microsoft.com/office/officeart/2005/8/layout/bProcess4"/>
    <dgm:cxn modelId="{9023BC9F-8870-4082-AE3D-D4CEED97857C}" type="presOf" srcId="{275DAD3A-6F14-49C1-8CD0-AE0E8B7A58BF}" destId="{073A51D0-7081-4FC9-8E0D-5B801C133E94}" srcOrd="0" destOrd="0" presId="urn:microsoft.com/office/officeart/2005/8/layout/bProcess4"/>
    <dgm:cxn modelId="{75D5FE82-8203-43B0-ADBD-2826F2B77B00}" type="presOf" srcId="{53BDDBC0-6D0C-4702-AF56-062D8CE24169}" destId="{0101B2CE-3C6A-477A-8D79-D0C0BCD95FAF}" srcOrd="0" destOrd="0" presId="urn:microsoft.com/office/officeart/2005/8/layout/bProcess4"/>
    <dgm:cxn modelId="{A4ED7D72-448E-4378-B82D-460F98BFEA84}" srcId="{17E042AB-CB75-4A93-BCF4-19E8F5053529}" destId="{63F227F6-E6CA-4166-B3ED-742F8F1C60B5}" srcOrd="3" destOrd="0" parTransId="{91CB6A3E-596C-4ED2-A149-DE06E8FC9544}" sibTransId="{FD83598F-13E3-4F8C-B254-F15E47E9BBF6}"/>
    <dgm:cxn modelId="{AD7096F7-5818-4A2C-B159-AD8AD2449834}" srcId="{17E042AB-CB75-4A93-BCF4-19E8F5053529}" destId="{3C218053-9ACC-4D1D-9EE8-0FC6059C5DB9}" srcOrd="0" destOrd="0" parTransId="{3D22AC4B-097A-4FA5-AA22-B52C0A76911F}" sibTransId="{CE41C11B-B47B-43BA-9F23-91787F818C98}"/>
    <dgm:cxn modelId="{708AB0F7-91A9-40F1-B776-B9B88BC80895}" type="presOf" srcId="{688680F5-8339-4FE0-9AB0-8BE8944571B4}" destId="{145FCEED-72D5-4883-AFE7-5E1EAF4FA2A3}" srcOrd="0" destOrd="0" presId="urn:microsoft.com/office/officeart/2005/8/layout/bProcess4"/>
    <dgm:cxn modelId="{AB4A3FF6-35E7-491C-AB05-2E6239E65BF1}" srcId="{17E042AB-CB75-4A93-BCF4-19E8F5053529}" destId="{53BDDBC0-6D0C-4702-AF56-062D8CE24169}" srcOrd="4" destOrd="0" parTransId="{9ECEF2C6-7F2B-41A9-AC8A-13EBE5F46A2C}" sibTransId="{A355FC25-CF1C-4851-A640-C27295A29DDA}"/>
    <dgm:cxn modelId="{CC1C11A5-E49F-419E-A61A-EE2F88E69185}" type="presOf" srcId="{17E042AB-CB75-4A93-BCF4-19E8F5053529}" destId="{225B0EFE-63AB-4DB3-909F-1B969D9BCA6E}" srcOrd="0" destOrd="0" presId="urn:microsoft.com/office/officeart/2005/8/layout/bProcess4"/>
    <dgm:cxn modelId="{5544C4F6-2176-4A8A-B54B-67C510CDD077}" srcId="{17E042AB-CB75-4A93-BCF4-19E8F5053529}" destId="{643780E6-172B-4947-A9BD-80C25AB738B2}" srcOrd="2" destOrd="0" parTransId="{4980F18C-CC24-440A-B8F0-E7634CCE0E5F}" sibTransId="{A8B4B13E-2BAB-4462-B416-2CA692B06916}"/>
    <dgm:cxn modelId="{41CA1F95-5ADD-4485-83D9-FD65FD78A132}" type="presOf" srcId="{643780E6-172B-4947-A9BD-80C25AB738B2}" destId="{A1DAA8C7-F93D-4A83-93FF-6E5C97268DA4}" srcOrd="0" destOrd="0" presId="urn:microsoft.com/office/officeart/2005/8/layout/bProcess4"/>
    <dgm:cxn modelId="{03BDD1F9-80AC-493B-AD7A-8EB813B1F89D}" type="presOf" srcId="{72DC1B5D-EE60-4C70-A9BD-76B1B124F70D}" destId="{8386A0DD-33A2-4296-8874-E23A6FD85EF3}" srcOrd="0" destOrd="0" presId="urn:microsoft.com/office/officeart/2005/8/layout/bProcess4"/>
    <dgm:cxn modelId="{7FE52FBF-0548-4464-819E-F3B1C71A4CED}" srcId="{17E042AB-CB75-4A93-BCF4-19E8F5053529}" destId="{358C34A5-47D4-49C0-90EB-A3E625E33A8C}" srcOrd="1" destOrd="0" parTransId="{3A622D34-DE67-44A8-9DD4-8F0A3342FDD7}" sibTransId="{275DAD3A-6F14-49C1-8CD0-AE0E8B7A58BF}"/>
    <dgm:cxn modelId="{64666A64-5B40-4420-B5BB-AC3797E1D2E1}" srcId="{17E042AB-CB75-4A93-BCF4-19E8F5053529}" destId="{C524457B-73F8-49E0-86C4-0A8D5087AD0C}" srcOrd="6" destOrd="0" parTransId="{475D2886-7826-4DD1-A569-5E4D130D7150}" sibTransId="{7CA9371B-C9F4-43E2-82F3-3B1BE973C258}"/>
    <dgm:cxn modelId="{4B6CF51C-4834-4C75-B570-D3511E60EAD9}" type="presOf" srcId="{A355FC25-CF1C-4851-A640-C27295A29DDA}" destId="{EBAD56FB-D48B-44F6-B835-12B333219BD5}" srcOrd="0" destOrd="0" presId="urn:microsoft.com/office/officeart/2005/8/layout/bProcess4"/>
    <dgm:cxn modelId="{02995B1E-B3D9-4FBA-AB57-5F8E127265D2}" srcId="{17E042AB-CB75-4A93-BCF4-19E8F5053529}" destId="{72DC1B5D-EE60-4C70-A9BD-76B1B124F70D}" srcOrd="5" destOrd="0" parTransId="{63D2A94D-11B3-4B51-986A-E4EAB4039E02}" sibTransId="{688680F5-8339-4FE0-9AB0-8BE8944571B4}"/>
    <dgm:cxn modelId="{13F99900-7682-46A8-9CFE-D8D8C50B1091}" type="presOf" srcId="{C524457B-73F8-49E0-86C4-0A8D5087AD0C}" destId="{443E7072-D50C-4475-BABA-BC16435D4D52}" srcOrd="0" destOrd="0" presId="urn:microsoft.com/office/officeart/2005/8/layout/bProcess4"/>
    <dgm:cxn modelId="{CF320FAD-7128-496F-A7D2-18AD8A6D1605}" type="presOf" srcId="{3C218053-9ACC-4D1D-9EE8-0FC6059C5DB9}" destId="{E2FD69AD-8D4B-4FF1-95C1-371DEE98BB80}" srcOrd="0" destOrd="0" presId="urn:microsoft.com/office/officeart/2005/8/layout/bProcess4"/>
    <dgm:cxn modelId="{0435E68A-C9F7-4778-922C-57BDB1C1132F}" type="presOf" srcId="{63F227F6-E6CA-4166-B3ED-742F8F1C60B5}" destId="{E7EAD8DD-7690-407B-BA71-0B635DE661F5}" srcOrd="0" destOrd="0" presId="urn:microsoft.com/office/officeart/2005/8/layout/bProcess4"/>
    <dgm:cxn modelId="{330F90A0-5627-439F-AE7C-26E39A3DEB5F}" type="presOf" srcId="{A8B4B13E-2BAB-4462-B416-2CA692B06916}" destId="{49C20BBD-CA4B-4F40-9ABB-B916B9019041}" srcOrd="0" destOrd="0" presId="urn:microsoft.com/office/officeart/2005/8/layout/bProcess4"/>
    <dgm:cxn modelId="{A6791752-221A-4FF7-9170-7D4F5E6C58CA}" type="presOf" srcId="{FD83598F-13E3-4F8C-B254-F15E47E9BBF6}" destId="{C974053C-BD95-4EEA-A862-5223162DF7AA}" srcOrd="0" destOrd="0" presId="urn:microsoft.com/office/officeart/2005/8/layout/bProcess4"/>
    <dgm:cxn modelId="{43BD0435-5104-42B7-B7B1-A0B84929C826}" type="presOf" srcId="{7CA9371B-C9F4-43E2-82F3-3B1BE973C258}" destId="{1746088C-2E38-4553-B8BB-8CB391336E55}" srcOrd="0" destOrd="0" presId="urn:microsoft.com/office/officeart/2005/8/layout/bProcess4"/>
    <dgm:cxn modelId="{4E775721-C574-433F-BF97-13F6061D7B15}" type="presOf" srcId="{358C34A5-47D4-49C0-90EB-A3E625E33A8C}" destId="{8B0E92EB-8FC5-4F96-B165-FDEF5548A667}" srcOrd="0" destOrd="0" presId="urn:microsoft.com/office/officeart/2005/8/layout/bProcess4"/>
    <dgm:cxn modelId="{B8AAD0EB-B172-412A-99D2-21AE907CB70B}" type="presParOf" srcId="{225B0EFE-63AB-4DB3-909F-1B969D9BCA6E}" destId="{7251935D-26F3-451C-88C7-248E17007290}" srcOrd="0" destOrd="0" presId="urn:microsoft.com/office/officeart/2005/8/layout/bProcess4"/>
    <dgm:cxn modelId="{753E430C-CF4E-45EC-BC52-07B303268A86}" type="presParOf" srcId="{7251935D-26F3-451C-88C7-248E17007290}" destId="{B71A519F-5DFD-4E46-9DD1-C2761A3C2A11}" srcOrd="0" destOrd="0" presId="urn:microsoft.com/office/officeart/2005/8/layout/bProcess4"/>
    <dgm:cxn modelId="{9D6A0A5A-BE99-4060-8322-A018BAFF24E0}" type="presParOf" srcId="{7251935D-26F3-451C-88C7-248E17007290}" destId="{E2FD69AD-8D4B-4FF1-95C1-371DEE98BB80}" srcOrd="1" destOrd="0" presId="urn:microsoft.com/office/officeart/2005/8/layout/bProcess4"/>
    <dgm:cxn modelId="{1DF95C3E-B996-4AD2-95C9-59C1FFDFC459}" type="presParOf" srcId="{225B0EFE-63AB-4DB3-909F-1B969D9BCA6E}" destId="{210D2253-D902-4310-9BF9-778EB0E149B4}" srcOrd="1" destOrd="0" presId="urn:microsoft.com/office/officeart/2005/8/layout/bProcess4"/>
    <dgm:cxn modelId="{00154C38-E1E1-4419-90B7-65E21456EF85}" type="presParOf" srcId="{225B0EFE-63AB-4DB3-909F-1B969D9BCA6E}" destId="{DCE82BB5-A07E-4B7C-BF1B-177F93726B4D}" srcOrd="2" destOrd="0" presId="urn:microsoft.com/office/officeart/2005/8/layout/bProcess4"/>
    <dgm:cxn modelId="{863BE93C-2705-4A7D-BE5B-BC52741B3808}" type="presParOf" srcId="{DCE82BB5-A07E-4B7C-BF1B-177F93726B4D}" destId="{50C2F2FB-EC0C-46B5-9F48-5D6E73844145}" srcOrd="0" destOrd="0" presId="urn:microsoft.com/office/officeart/2005/8/layout/bProcess4"/>
    <dgm:cxn modelId="{333F9293-3D2E-4478-AE24-1D8F84FE07B2}" type="presParOf" srcId="{DCE82BB5-A07E-4B7C-BF1B-177F93726B4D}" destId="{8B0E92EB-8FC5-4F96-B165-FDEF5548A667}" srcOrd="1" destOrd="0" presId="urn:microsoft.com/office/officeart/2005/8/layout/bProcess4"/>
    <dgm:cxn modelId="{900FCACB-04D1-4F85-A464-FE15F8D81D12}" type="presParOf" srcId="{225B0EFE-63AB-4DB3-909F-1B969D9BCA6E}" destId="{073A51D0-7081-4FC9-8E0D-5B801C133E94}" srcOrd="3" destOrd="0" presId="urn:microsoft.com/office/officeart/2005/8/layout/bProcess4"/>
    <dgm:cxn modelId="{8E83D4F7-3F7C-4A91-97CB-A59973212F69}" type="presParOf" srcId="{225B0EFE-63AB-4DB3-909F-1B969D9BCA6E}" destId="{FEB31592-28CD-4FD0-BAF6-07692F864D3F}" srcOrd="4" destOrd="0" presId="urn:microsoft.com/office/officeart/2005/8/layout/bProcess4"/>
    <dgm:cxn modelId="{967D87AA-F93A-40E5-9FC1-B14CF208EA72}" type="presParOf" srcId="{FEB31592-28CD-4FD0-BAF6-07692F864D3F}" destId="{CB15B5DD-F4B2-4AE5-8D0A-4C71E363C9F4}" srcOrd="0" destOrd="0" presId="urn:microsoft.com/office/officeart/2005/8/layout/bProcess4"/>
    <dgm:cxn modelId="{F297A29E-2038-48A1-8413-6916185AA7EB}" type="presParOf" srcId="{FEB31592-28CD-4FD0-BAF6-07692F864D3F}" destId="{A1DAA8C7-F93D-4A83-93FF-6E5C97268DA4}" srcOrd="1" destOrd="0" presId="urn:microsoft.com/office/officeart/2005/8/layout/bProcess4"/>
    <dgm:cxn modelId="{ADD7563F-A3AA-4AE7-8BD0-BA5861B6BCAC}" type="presParOf" srcId="{225B0EFE-63AB-4DB3-909F-1B969D9BCA6E}" destId="{49C20BBD-CA4B-4F40-9ABB-B916B9019041}" srcOrd="5" destOrd="0" presId="urn:microsoft.com/office/officeart/2005/8/layout/bProcess4"/>
    <dgm:cxn modelId="{8F2267C3-0914-4ABF-9C07-59D55F180B05}" type="presParOf" srcId="{225B0EFE-63AB-4DB3-909F-1B969D9BCA6E}" destId="{C1F179C4-B07C-4D86-A696-AAAA76925120}" srcOrd="6" destOrd="0" presId="urn:microsoft.com/office/officeart/2005/8/layout/bProcess4"/>
    <dgm:cxn modelId="{7E096FFD-31D6-4038-B229-6CB2BF02E075}" type="presParOf" srcId="{C1F179C4-B07C-4D86-A696-AAAA76925120}" destId="{F482E2CA-ED7E-4235-BE59-393BE9B116C3}" srcOrd="0" destOrd="0" presId="urn:microsoft.com/office/officeart/2005/8/layout/bProcess4"/>
    <dgm:cxn modelId="{8F256AED-C7A0-43F3-A85C-7A0A90EA6B3E}" type="presParOf" srcId="{C1F179C4-B07C-4D86-A696-AAAA76925120}" destId="{E7EAD8DD-7690-407B-BA71-0B635DE661F5}" srcOrd="1" destOrd="0" presId="urn:microsoft.com/office/officeart/2005/8/layout/bProcess4"/>
    <dgm:cxn modelId="{A534F855-AA2E-4642-AD0F-DF580B564B03}" type="presParOf" srcId="{225B0EFE-63AB-4DB3-909F-1B969D9BCA6E}" destId="{C974053C-BD95-4EEA-A862-5223162DF7AA}" srcOrd="7" destOrd="0" presId="urn:microsoft.com/office/officeart/2005/8/layout/bProcess4"/>
    <dgm:cxn modelId="{6DA36D28-C5A9-457E-A7B9-8EEA281135EE}" type="presParOf" srcId="{225B0EFE-63AB-4DB3-909F-1B969D9BCA6E}" destId="{59F1679A-8DBC-4239-9C03-009019A99645}" srcOrd="8" destOrd="0" presId="urn:microsoft.com/office/officeart/2005/8/layout/bProcess4"/>
    <dgm:cxn modelId="{BA0EE3C6-F9A6-440E-9A32-286438B21A65}" type="presParOf" srcId="{59F1679A-8DBC-4239-9C03-009019A99645}" destId="{E1B78554-AB82-408D-8B3C-2846A621B591}" srcOrd="0" destOrd="0" presId="urn:microsoft.com/office/officeart/2005/8/layout/bProcess4"/>
    <dgm:cxn modelId="{46CB78B5-B788-463C-A477-2537254EE9C9}" type="presParOf" srcId="{59F1679A-8DBC-4239-9C03-009019A99645}" destId="{0101B2CE-3C6A-477A-8D79-D0C0BCD95FAF}" srcOrd="1" destOrd="0" presId="urn:microsoft.com/office/officeart/2005/8/layout/bProcess4"/>
    <dgm:cxn modelId="{FF48E8C8-A12C-4BBF-A014-6E43A6457EAD}" type="presParOf" srcId="{225B0EFE-63AB-4DB3-909F-1B969D9BCA6E}" destId="{EBAD56FB-D48B-44F6-B835-12B333219BD5}" srcOrd="9" destOrd="0" presId="urn:microsoft.com/office/officeart/2005/8/layout/bProcess4"/>
    <dgm:cxn modelId="{7D40F5EE-4828-41E5-B8B0-87F0794D5272}" type="presParOf" srcId="{225B0EFE-63AB-4DB3-909F-1B969D9BCA6E}" destId="{38024241-1E4A-4CBD-B45D-6173A2237CA8}" srcOrd="10" destOrd="0" presId="urn:microsoft.com/office/officeart/2005/8/layout/bProcess4"/>
    <dgm:cxn modelId="{3C44530A-0B48-4B5A-BE94-66259BB02160}" type="presParOf" srcId="{38024241-1E4A-4CBD-B45D-6173A2237CA8}" destId="{72A164BE-6AF5-414F-B9E7-5037611BADFB}" srcOrd="0" destOrd="0" presId="urn:microsoft.com/office/officeart/2005/8/layout/bProcess4"/>
    <dgm:cxn modelId="{EBDED32A-7813-443E-8CA9-B5FD70AD085D}" type="presParOf" srcId="{38024241-1E4A-4CBD-B45D-6173A2237CA8}" destId="{8386A0DD-33A2-4296-8874-E23A6FD85EF3}" srcOrd="1" destOrd="0" presId="urn:microsoft.com/office/officeart/2005/8/layout/bProcess4"/>
    <dgm:cxn modelId="{EDECB504-9AEB-4591-A290-269C967C18E8}" type="presParOf" srcId="{225B0EFE-63AB-4DB3-909F-1B969D9BCA6E}" destId="{145FCEED-72D5-4883-AFE7-5E1EAF4FA2A3}" srcOrd="11" destOrd="0" presId="urn:microsoft.com/office/officeart/2005/8/layout/bProcess4"/>
    <dgm:cxn modelId="{A4C1AEF6-8C28-404B-923A-1B10827A6428}" type="presParOf" srcId="{225B0EFE-63AB-4DB3-909F-1B969D9BCA6E}" destId="{F757827F-7B46-499A-BE6D-7A5D50F265BB}" srcOrd="12" destOrd="0" presId="urn:microsoft.com/office/officeart/2005/8/layout/bProcess4"/>
    <dgm:cxn modelId="{C2909626-9B08-4D1B-A67B-4F69908EDAFD}" type="presParOf" srcId="{F757827F-7B46-499A-BE6D-7A5D50F265BB}" destId="{D159B253-62DF-4578-8C05-91FA5BF80C58}" srcOrd="0" destOrd="0" presId="urn:microsoft.com/office/officeart/2005/8/layout/bProcess4"/>
    <dgm:cxn modelId="{1FE3D0F8-04DE-47EC-A31F-AF304B025CE3}" type="presParOf" srcId="{F757827F-7B46-499A-BE6D-7A5D50F265BB}" destId="{443E7072-D50C-4475-BABA-BC16435D4D52}" srcOrd="1" destOrd="0" presId="urn:microsoft.com/office/officeart/2005/8/layout/bProcess4"/>
    <dgm:cxn modelId="{1CF9FE20-18C7-4748-B597-8231306A956E}" type="presParOf" srcId="{225B0EFE-63AB-4DB3-909F-1B969D9BCA6E}" destId="{1746088C-2E38-4553-B8BB-8CB391336E55}" srcOrd="13" destOrd="0" presId="urn:microsoft.com/office/officeart/2005/8/layout/bProcess4"/>
    <dgm:cxn modelId="{BBD3791A-0B25-474B-A432-E38D3751E130}" type="presParOf" srcId="{225B0EFE-63AB-4DB3-909F-1B969D9BCA6E}" destId="{109F6B4E-2DF7-4083-9FD4-9C3B95366E9B}" srcOrd="14" destOrd="0" presId="urn:microsoft.com/office/officeart/2005/8/layout/bProcess4"/>
    <dgm:cxn modelId="{B6E61A79-6AAB-42B2-832D-B664DB1843BA}" type="presParOf" srcId="{109F6B4E-2DF7-4083-9FD4-9C3B95366E9B}" destId="{406EE701-EB94-4435-BEAB-53C32812B39D}" srcOrd="0" destOrd="0" presId="urn:microsoft.com/office/officeart/2005/8/layout/bProcess4"/>
    <dgm:cxn modelId="{E5576D5C-C557-461A-8404-C59A7CA9CC16}" type="presParOf" srcId="{109F6B4E-2DF7-4083-9FD4-9C3B95366E9B}" destId="{9BA1C045-016A-4414-AFA1-F1891FDAC09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D2253-D902-4310-9BF9-778EB0E149B4}">
      <dsp:nvSpPr>
        <dsp:cNvPr id="0" name=""/>
        <dsp:cNvSpPr/>
      </dsp:nvSpPr>
      <dsp:spPr>
        <a:xfrm rot="5400000">
          <a:off x="621798" y="779936"/>
          <a:ext cx="1216366" cy="14687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D69AD-8D4B-4FF1-95C1-371DEE98BB80}">
      <dsp:nvSpPr>
        <dsp:cNvPr id="0" name=""/>
        <dsp:cNvSpPr/>
      </dsp:nvSpPr>
      <dsp:spPr>
        <a:xfrm>
          <a:off x="899822" y="1004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Sprint 0(planning</a:t>
          </a:r>
          <a:r>
            <a:rPr lang="en-IN" sz="1800" kern="1200" dirty="0"/>
            <a:t>)</a:t>
          </a:r>
        </a:p>
      </dsp:txBody>
      <dsp:txXfrm>
        <a:off x="928500" y="29682"/>
        <a:ext cx="1574544" cy="921784"/>
      </dsp:txXfrm>
    </dsp:sp>
    <dsp:sp modelId="{073A51D0-7081-4FC9-8E0D-5B801C133E94}">
      <dsp:nvSpPr>
        <dsp:cNvPr id="0" name=""/>
        <dsp:cNvSpPr/>
      </dsp:nvSpPr>
      <dsp:spPr>
        <a:xfrm rot="5400000">
          <a:off x="621798" y="2003861"/>
          <a:ext cx="1216366" cy="14687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E92EB-8FC5-4F96-B165-FDEF5548A667}">
      <dsp:nvSpPr>
        <dsp:cNvPr id="0" name=""/>
        <dsp:cNvSpPr/>
      </dsp:nvSpPr>
      <dsp:spPr>
        <a:xfrm>
          <a:off x="899822" y="1224929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 User research</a:t>
          </a:r>
        </a:p>
      </dsp:txBody>
      <dsp:txXfrm>
        <a:off x="928500" y="1253607"/>
        <a:ext cx="1574544" cy="921784"/>
      </dsp:txXfrm>
    </dsp:sp>
    <dsp:sp modelId="{49C20BBD-CA4B-4F40-9ABB-B916B9019041}">
      <dsp:nvSpPr>
        <dsp:cNvPr id="0" name=""/>
        <dsp:cNvSpPr/>
      </dsp:nvSpPr>
      <dsp:spPr>
        <a:xfrm>
          <a:off x="1233760" y="2615824"/>
          <a:ext cx="2162868" cy="14687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AA8C7-F93D-4A83-93FF-6E5C97268DA4}">
      <dsp:nvSpPr>
        <dsp:cNvPr id="0" name=""/>
        <dsp:cNvSpPr/>
      </dsp:nvSpPr>
      <dsp:spPr>
        <a:xfrm>
          <a:off x="899822" y="2448855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Design and Development</a:t>
          </a:r>
        </a:p>
      </dsp:txBody>
      <dsp:txXfrm>
        <a:off x="928500" y="2477533"/>
        <a:ext cx="1574544" cy="921784"/>
      </dsp:txXfrm>
    </dsp:sp>
    <dsp:sp modelId="{C974053C-BD95-4EEA-A862-5223162DF7AA}">
      <dsp:nvSpPr>
        <dsp:cNvPr id="0" name=""/>
        <dsp:cNvSpPr/>
      </dsp:nvSpPr>
      <dsp:spPr>
        <a:xfrm rot="16200000">
          <a:off x="2792225" y="2003861"/>
          <a:ext cx="1216366" cy="14687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AD8DD-7690-407B-BA71-0B635DE661F5}">
      <dsp:nvSpPr>
        <dsp:cNvPr id="0" name=""/>
        <dsp:cNvSpPr/>
      </dsp:nvSpPr>
      <dsp:spPr>
        <a:xfrm>
          <a:off x="3070249" y="2448855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Testing</a:t>
          </a:r>
        </a:p>
      </dsp:txBody>
      <dsp:txXfrm>
        <a:off x="3098927" y="2477533"/>
        <a:ext cx="1574544" cy="921784"/>
      </dsp:txXfrm>
    </dsp:sp>
    <dsp:sp modelId="{EBAD56FB-D48B-44F6-B835-12B333219BD5}">
      <dsp:nvSpPr>
        <dsp:cNvPr id="0" name=""/>
        <dsp:cNvSpPr/>
      </dsp:nvSpPr>
      <dsp:spPr>
        <a:xfrm rot="16200000">
          <a:off x="2792225" y="779936"/>
          <a:ext cx="1216366" cy="14687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1B2CE-3C6A-477A-8D79-D0C0BCD95FAF}">
      <dsp:nvSpPr>
        <dsp:cNvPr id="0" name=""/>
        <dsp:cNvSpPr/>
      </dsp:nvSpPr>
      <dsp:spPr>
        <a:xfrm>
          <a:off x="3070249" y="1224929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Design prototype</a:t>
          </a:r>
        </a:p>
      </dsp:txBody>
      <dsp:txXfrm>
        <a:off x="3098927" y="1253607"/>
        <a:ext cx="1574544" cy="921784"/>
      </dsp:txXfrm>
    </dsp:sp>
    <dsp:sp modelId="{145FCEED-72D5-4883-AFE7-5E1EAF4FA2A3}">
      <dsp:nvSpPr>
        <dsp:cNvPr id="0" name=""/>
        <dsp:cNvSpPr/>
      </dsp:nvSpPr>
      <dsp:spPr>
        <a:xfrm>
          <a:off x="3404188" y="167973"/>
          <a:ext cx="2162868" cy="14687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6A0DD-33A2-4296-8874-E23A6FD85EF3}">
      <dsp:nvSpPr>
        <dsp:cNvPr id="0" name=""/>
        <dsp:cNvSpPr/>
      </dsp:nvSpPr>
      <dsp:spPr>
        <a:xfrm>
          <a:off x="3070249" y="1004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Sprint review</a:t>
          </a:r>
        </a:p>
      </dsp:txBody>
      <dsp:txXfrm>
        <a:off x="3098927" y="29682"/>
        <a:ext cx="1574544" cy="921784"/>
      </dsp:txXfrm>
    </dsp:sp>
    <dsp:sp modelId="{1746088C-2E38-4553-B8BB-8CB391336E55}">
      <dsp:nvSpPr>
        <dsp:cNvPr id="0" name=""/>
        <dsp:cNvSpPr/>
      </dsp:nvSpPr>
      <dsp:spPr>
        <a:xfrm rot="5400000">
          <a:off x="4962653" y="779936"/>
          <a:ext cx="1216366" cy="14687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E7072-D50C-4475-BABA-BC16435D4D52}">
      <dsp:nvSpPr>
        <dsp:cNvPr id="0" name=""/>
        <dsp:cNvSpPr/>
      </dsp:nvSpPr>
      <dsp:spPr>
        <a:xfrm>
          <a:off x="5240677" y="1004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/>
            <a:t>Continuous integration /deployment</a:t>
          </a:r>
          <a:endParaRPr lang="en-IN" sz="1800" kern="1200" dirty="0"/>
        </a:p>
      </dsp:txBody>
      <dsp:txXfrm>
        <a:off x="5269355" y="29682"/>
        <a:ext cx="1574544" cy="921784"/>
      </dsp:txXfrm>
    </dsp:sp>
    <dsp:sp modelId="{9BA1C045-016A-4414-AFA1-F1891FDAC099}">
      <dsp:nvSpPr>
        <dsp:cNvPr id="0" name=""/>
        <dsp:cNvSpPr/>
      </dsp:nvSpPr>
      <dsp:spPr>
        <a:xfrm>
          <a:off x="5240677" y="1224929"/>
          <a:ext cx="1631900" cy="97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Final launch</a:t>
          </a:r>
        </a:p>
      </dsp:txBody>
      <dsp:txXfrm>
        <a:off x="5269355" y="1253607"/>
        <a:ext cx="1574544" cy="921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EC765-4EEE-40D6-8764-C358A9B0EA2D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4E9F-A237-4082-B37B-D926ADB268EE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643EF-B253-4651-964D-5C22C18A1755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EA68-FEEF-400D-AE97-0743E2B01B36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55E2-DE6E-4EB6-8DFA-DC17E6D6B29D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DA3-207B-4128-A780-0899C9C276AD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DA7BD-A364-4835-B5C3-69F4869872EB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59191-5CCA-41B9-93A5-50C4E62DD0DE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40CD3-6E5F-40AF-B983-BCBC5BE7EFA8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0355-2878-40EF-BB47-0AEFF38312E9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E2D50-3CC8-4828-A0F7-4352819C0BDB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70AC0-521A-4761-B605-21BC84785148}" type="datetime3">
              <a:rPr lang="en-US" sz="1600" b="1" smtClean="0"/>
              <a:pPr/>
              <a:t>23 October 2024</a:t>
            </a:fld>
            <a:endParaRPr lang="en-US" sz="16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z="1600" smtClean="0"/>
              <a:pPr/>
              <a:t>1</a:t>
            </a:fld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1295400" y="1981199"/>
            <a:ext cx="655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REDESIGNING A UNIVERSITY PORTAL FOR ENHANCED USER EXPERIENCE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762000" y="3048000"/>
            <a:ext cx="8077200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ID:PT1394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Ms.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Puchha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Bhavya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(42614102)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J.Prerna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(42614101)</a:t>
            </a:r>
          </a:p>
          <a:p>
            <a:r>
              <a:rPr lang="en-IN" sz="18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Dept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CSE in specialisation with Cyber Security</a:t>
            </a:r>
            <a:endParaRPr lang="en-IN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					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Dr.R.Shalini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Assistant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Department of CSE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					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new letter head July30_2020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"/>
            <a:ext cx="8686800" cy="1752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Course Certificate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Objectives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System Architecture / Ideation Map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Module Implementation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Application Snapshots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Results and Discussions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Conclusion &amp; Future work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References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50EAB-41BE-44C5-8B3C-E8577D7CCC37}" type="datetime3">
              <a:rPr lang="en-US" smtClean="0"/>
              <a:pPr/>
              <a:t>23 October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381000"/>
            <a:ext cx="8229600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Introduction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447801"/>
            <a:ext cx="8305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 smtClean="0">
                <a:latin typeface="Arial" pitchFamily="34" charset="0"/>
                <a:cs typeface="Arial" pitchFamily="34" charset="0"/>
              </a:rPr>
              <a:t>Enhance the university portal’s usability, accessibility, and overall experience to meet the needs of students, faculty, and </a:t>
            </a:r>
            <a:r>
              <a:rPr lang="en-US" sz="2000" smtClean="0">
                <a:latin typeface="Arial" pitchFamily="34" charset="0"/>
                <a:cs typeface="Arial" pitchFamily="34" charset="0"/>
              </a:rPr>
              <a:t>staff.</a:t>
            </a:r>
          </a:p>
          <a:p>
            <a:pPr algn="just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dirty="0" smtClean="0">
                <a:latin typeface="Arial" pitchFamily="34" charset="0"/>
                <a:cs typeface="Arial" pitchFamily="34" charset="0"/>
              </a:rPr>
              <a:t>This will boost user satisfaction, engagement, and productivity.</a:t>
            </a:r>
          </a:p>
          <a:p>
            <a:pPr algn="just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Problem Statement :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The current university portal presents challenges in usability and navigation, leading to a frustrating experience for students, faculty, and staff.</a:t>
            </a:r>
          </a:p>
          <a:p>
            <a:pPr algn="just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Objective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The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objective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is to create an intuitive,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mobile-friendly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platform that enhances user experience and reduces time spent on administrative tasks. 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8381-4334-4BCF-A228-57F83149AF8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5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8229600" cy="65563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Objectives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98929" y="1340224"/>
            <a:ext cx="8153400" cy="534987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200" dirty="0">
                <a:latin typeface="Arial" pitchFamily="34" charset="0"/>
                <a:cs typeface="Arial" pitchFamily="34" charset="0"/>
              </a:rPr>
              <a:t>The objective of the redesigning project is to create a modern,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user-centric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university portal that enhances the overall experience for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all.</a:t>
            </a:r>
          </a:p>
          <a:p>
            <a:pPr algn="just"/>
            <a:endParaRPr lang="en-US" sz="22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200" dirty="0" smtClean="0">
                <a:latin typeface="Arial" pitchFamily="34" charset="0"/>
                <a:cs typeface="Arial" pitchFamily="34" charset="0"/>
              </a:rPr>
              <a:t>This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includes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ease of navigation, optimizing for mobile use, integrating key services such as course management, announcements, and student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services</a:t>
            </a:r>
          </a:p>
          <a:p>
            <a:pPr algn="just"/>
            <a:endParaRPr lang="en-US" sz="22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200" b="1" dirty="0">
                <a:latin typeface="Arial" pitchFamily="34" charset="0"/>
                <a:cs typeface="Arial" pitchFamily="34" charset="0"/>
              </a:rPr>
              <a:t>Scope :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The project will involve user research, redesigning the portal interface for improved navigation and mobile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 ensuring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accessibility and security compliance. </a:t>
            </a:r>
          </a:p>
          <a:p>
            <a:pPr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achieve the objective of redesigning the university portal for an improved user experience:</a:t>
            </a:r>
          </a:p>
          <a:p>
            <a:pPr marL="0" indent="0" algn="just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1.User Research</a:t>
            </a:r>
          </a:p>
          <a:p>
            <a:pPr marL="0" indent="0" algn="just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2.Design &amp; Prototyping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3.Accessibility &amp; Security</a:t>
            </a:r>
          </a:p>
          <a:p>
            <a:pPr marL="0" indent="0" algn="just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4.Testing &amp; Feedback</a:t>
            </a:r>
          </a:p>
          <a:p>
            <a:pPr marL="0" indent="0" algn="just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5.Training &amp; Support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2FCA-C2E1-4F18-8725-C39FF27009E9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7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System Architecture / Ideation Map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295400" y="2971800"/>
            <a:ext cx="5410200" cy="761999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endParaRPr lang="en-US" b="1" dirty="0">
              <a:latin typeface="+mj-lt"/>
            </a:endParaRPr>
          </a:p>
          <a:p>
            <a:pPr algn="just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106A-D64C-4B85-9F30-8CF68746E9AD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A9B772-7B7B-4AD5-0E08-52D7C1163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85899"/>
            <a:ext cx="6705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5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65563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Project Implementation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260063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The project implementation for redesigning a university portal with a focus on user experience involves four key phases.</a:t>
            </a:r>
          </a:p>
          <a:p>
            <a:pPr algn="just">
              <a:lnSpc>
                <a:spcPct val="150000"/>
              </a:lnSpc>
            </a:pP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First, </a:t>
            </a: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Research &amp; Discovery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gathers user insights through stakeholder interviews and surveys to identify pain points and needs. </a:t>
            </a:r>
          </a:p>
          <a:p>
            <a:pPr algn="just">
              <a:lnSpc>
                <a:spcPct val="150000"/>
              </a:lnSpc>
            </a:pP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Next, in the </a:t>
            </a: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Architecture &amp; Design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phase, the new portal structure is outlined with wireframes, prototypes, and usability testing to ensure a smooth, intuitive interface.</a:t>
            </a: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follows, where the frontend and backend are built, APIs are integrated, and the system is optimized for performance and security. </a:t>
            </a:r>
          </a:p>
          <a:p>
            <a:pPr algn="just">
              <a:lnSpc>
                <a:spcPct val="150000"/>
              </a:lnSpc>
            </a:pP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Finally, </a:t>
            </a: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Testing &amp; QA</a:t>
            </a:r>
            <a:r>
              <a:rPr lang="en-US" sz="1700" dirty="0" smtClean="0">
                <a:latin typeface="Arial" pitchFamily="34" charset="0"/>
                <a:cs typeface="Arial" pitchFamily="34" charset="0"/>
              </a:rPr>
              <a:t> ensures the portal is fully functional, secure, and meets all user and performance requirements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2916-C0A4-4267-9374-48ED518F9068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4438-7E03-5E1D-2E2B-805EF516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3200" y="228600"/>
            <a:ext cx="11271740" cy="1143000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Design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38B8-30BC-6479-39B7-394BDEF7A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827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b="1" dirty="0" smtClean="0"/>
              <a:t>1.UserCentric </a:t>
            </a:r>
            <a:r>
              <a:rPr lang="en-US" sz="2000" b="1" dirty="0"/>
              <a:t>Design</a:t>
            </a:r>
            <a:r>
              <a:rPr lang="en-US" sz="20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Personalized Dashboards</a:t>
            </a:r>
            <a:r>
              <a:rPr lang="en-US" sz="2000" dirty="0"/>
              <a:t>: Tailored views for students, faculty, and staff, showing relevant information like courses, deadlines, and announcements.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Easy Navigation</a:t>
            </a:r>
            <a:r>
              <a:rPr lang="en-US" sz="2000" dirty="0"/>
              <a:t>: Intuitive menu and search functions for easy access to key resources (courses, grades, payments, etc</a:t>
            </a:r>
            <a:r>
              <a:rPr lang="en-US" sz="2000" dirty="0" smtClean="0"/>
              <a:t>.).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2. Functional Features</a:t>
            </a:r>
            <a:r>
              <a:rPr lang="en-US" sz="20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Notifications System</a:t>
            </a:r>
            <a:r>
              <a:rPr lang="en-US" sz="2000" dirty="0"/>
              <a:t>: Push notifications and email alerts for important updates like grades, deadlines, or class changes.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Integration with Student Information Systems (SIS)</a:t>
            </a:r>
            <a:r>
              <a:rPr lang="en-US" sz="2000" dirty="0"/>
              <a:t>: Seamless communication with backend systems to pull data on course registration, grades, schedules, and financials</a:t>
            </a:r>
            <a:r>
              <a:rPr lang="en-US" sz="12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Single </a:t>
            </a:r>
            <a:r>
              <a:rPr lang="en-US" sz="2000" b="1" dirty="0" err="1" smtClean="0"/>
              <a:t>SignOn</a:t>
            </a:r>
            <a:r>
              <a:rPr lang="en-US" sz="2000" b="1" dirty="0" smtClean="0"/>
              <a:t> </a:t>
            </a:r>
            <a:r>
              <a:rPr lang="en-US" sz="2000" b="1" dirty="0"/>
              <a:t>(SSO)</a:t>
            </a:r>
            <a:r>
              <a:rPr lang="en-US" sz="2000" dirty="0"/>
              <a:t>: Simplified login for all users via existing university credentials.</a:t>
            </a:r>
          </a:p>
          <a:p>
            <a:pPr marL="0" indent="0">
              <a:buNone/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94A38-4FA1-FD8C-036A-6DF6DE6D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4E9F-A237-4082-B37B-D926ADB268EE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1ECFD-A6F2-0A86-6A96-AF669C302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750F-B16D-A600-4499-E88DA114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7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A01E-EDD4-126E-2CD4-D26BB0A26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E9590-1031-5BF5-F0F6-DA2386F1E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dirty="0"/>
              <a:t>SOFTWARE REQUIREMENT TOOLS</a:t>
            </a:r>
            <a:r>
              <a:rPr lang="en-IN" dirty="0" smtClean="0"/>
              <a:t>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b="1" dirty="0" smtClean="0"/>
              <a:t> </a:t>
            </a:r>
            <a:r>
              <a:rPr lang="en-US" sz="2000" b="1" dirty="0"/>
              <a:t>Design Tools</a:t>
            </a:r>
            <a:r>
              <a:rPr lang="en-US" sz="2000" dirty="0"/>
              <a:t>: </a:t>
            </a:r>
            <a:r>
              <a:rPr lang="en-US" sz="2000" dirty="0" smtClean="0"/>
              <a:t>Figma </a:t>
            </a:r>
            <a:r>
              <a:rPr lang="en-US" sz="2000" dirty="0"/>
              <a:t>for </a:t>
            </a:r>
            <a:r>
              <a:rPr lang="en-US" sz="2000" dirty="0" err="1"/>
              <a:t>wireframing</a:t>
            </a:r>
            <a:r>
              <a:rPr lang="en-US" sz="2000" dirty="0"/>
              <a:t>, prototyping, </a:t>
            </a:r>
            <a:r>
              <a:rPr lang="en-US" sz="2000" dirty="0" smtClean="0"/>
              <a:t>and </a:t>
            </a:r>
            <a:r>
              <a:rPr lang="en-US" sz="2000" dirty="0" err="1" smtClean="0"/>
              <a:t>highfidelity</a:t>
            </a:r>
            <a:r>
              <a:rPr lang="en-US" sz="2000" dirty="0" smtClean="0"/>
              <a:t> </a:t>
            </a:r>
            <a:r>
              <a:rPr lang="en-US" sz="2000" dirty="0"/>
              <a:t>UI designs.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/>
              <a:t> </a:t>
            </a:r>
            <a:r>
              <a:rPr lang="en-IN" sz="2000" b="1" dirty="0" smtClean="0"/>
              <a:t>Frontend </a:t>
            </a:r>
            <a:r>
              <a:rPr lang="en-IN" sz="2000" b="1" dirty="0"/>
              <a:t>Development</a:t>
            </a:r>
            <a:r>
              <a:rPr lang="en-IN" sz="2000" dirty="0"/>
              <a:t>: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HTML5</a:t>
            </a:r>
            <a:r>
              <a:rPr lang="en-IN" sz="2000" dirty="0"/>
              <a:t>: Core technologies for structuring the web pages and   ensuring responsiveness.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2000" b="1" dirty="0"/>
              <a:t>     Backend Development</a:t>
            </a:r>
            <a:r>
              <a:rPr lang="en-IN" sz="2000" dirty="0"/>
              <a:t>: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    Node.js</a:t>
            </a:r>
            <a:r>
              <a:rPr lang="en-IN" sz="2000" dirty="0"/>
              <a:t>: For building the backend, handling </a:t>
            </a:r>
            <a:r>
              <a:rPr lang="en-IN" sz="2000" dirty="0" err="1" smtClean="0"/>
              <a:t>serverside</a:t>
            </a:r>
            <a:r>
              <a:rPr lang="en-IN" sz="2000" dirty="0" smtClean="0"/>
              <a:t> </a:t>
            </a:r>
            <a:r>
              <a:rPr lang="en-IN" sz="2000" dirty="0"/>
              <a:t>logic, and integrating APIs.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    </a:t>
            </a:r>
            <a:r>
              <a:rPr lang="en-IN" sz="2000" b="1" dirty="0" smtClean="0"/>
              <a:t>MySQL</a:t>
            </a:r>
            <a:r>
              <a:rPr lang="en-IN" sz="2000" dirty="0" smtClean="0"/>
              <a:t>: </a:t>
            </a:r>
            <a:r>
              <a:rPr lang="en-IN" sz="2000" dirty="0"/>
              <a:t>Databases to store user profiles, course information, grades, and other structured data.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0B062-2064-1F30-0F5A-BB17BA660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4E9F-A237-4082-B37B-D926ADB268EE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7B792-A9FE-C731-5FD6-82B1F460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0FF0-AC4D-793B-9EC6-92179360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3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50323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Methodology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50292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User Research: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Conduct surveys, interviews, and usability testing to understand student and faculty needs.</a:t>
            </a:r>
          </a:p>
          <a:p>
            <a:pPr algn="just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Analyze user behavior and pain points in the current portal.</a:t>
            </a:r>
          </a:p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Wireframing: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low-fidelity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wireframes to map out the portal’s layout and structure.</a:t>
            </a:r>
          </a:p>
          <a:p>
            <a:pPr algn="just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Focus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content hierarchy and navigation flow.</a:t>
            </a:r>
          </a:p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Prototyping: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 high-fidelity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prototypes in Figma with interactive elements for testing key features.</a:t>
            </a:r>
          </a:p>
          <a:p>
            <a:pPr algn="just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mobile responsive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designs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role specific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 interfaces.</a:t>
            </a:r>
          </a:p>
          <a:p>
            <a:pPr algn="just"/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E4403-D133-4E34-8516-5B0E43270005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6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7620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Usability Testing: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Test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prototypes with real users (students, faculty) to gather feedback on navigation, accessibility, and overall usability.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Make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iterative improvements based on testing feedback.</a:t>
            </a:r>
          </a:p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Creation: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consistent design system including reusable components, typography, and color schemes to maintain design cohesion.</a:t>
            </a:r>
          </a:p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Handoff: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Prepare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final Figma files with annotations for developers, ensuring clear communication of UI/UX standards and interaction details.</a:t>
            </a:r>
          </a:p>
        </p:txBody>
      </p:sp>
    </p:spTree>
    <p:extLst>
      <p:ext uri="{BB962C8B-B14F-4D97-AF65-F5344CB8AC3E}">
        <p14:creationId xmlns:p14="http://schemas.microsoft.com/office/powerpoint/2010/main" val="277433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7B09-8F9F-24A7-030A-2C805EF0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B6337E-DBBF-2E6F-A583-8BE26B9F8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623446"/>
              </p:ext>
            </p:extLst>
          </p:nvPr>
        </p:nvGraphicFramePr>
        <p:xfrm>
          <a:off x="609600" y="1905000"/>
          <a:ext cx="77724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117C7-61A1-A532-241A-E073C7DB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4E9F-A237-4082-B37B-D926ADB268EE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328F4-F882-5E98-5F82-14258C18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9CCFD-F9F6-86AD-AB9C-EABCF48C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1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4C12A-240F-F74B-5820-84ECAB99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4E9F-A237-4082-B37B-D926ADB268EE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E93BE-FB69-B575-2BE4-8389AC21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1DC39-BFF0-26B8-AE89-62A0BAF3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112F7C-8F79-0A23-6209-75ED83BD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928" y="1295400"/>
            <a:ext cx="8229600" cy="4678363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2100" dirty="0"/>
              <a:t>Define project goals, create a backlog of user stories, and establish the project roadmap.</a:t>
            </a:r>
          </a:p>
          <a:p>
            <a:pPr algn="just">
              <a:lnSpc>
                <a:spcPct val="160000"/>
              </a:lnSpc>
            </a:pPr>
            <a:r>
              <a:rPr lang="en-US" altLang="en-US" sz="2100" dirty="0">
                <a:latin typeface="Arial" panose="020B0604020202020204" pitchFamily="34" charset="0"/>
              </a:rPr>
              <a:t>Select and prioritize user stories for the sprint.</a:t>
            </a:r>
          </a:p>
          <a:p>
            <a:pPr algn="just">
              <a:lnSpc>
                <a:spcPct val="160000"/>
              </a:lnSpc>
            </a:pPr>
            <a:r>
              <a:rPr lang="en-US" altLang="en-US" sz="2100" dirty="0">
                <a:latin typeface="Arial" panose="020B0604020202020204" pitchFamily="34" charset="0"/>
              </a:rPr>
              <a:t>Define tasks and responsibilities.</a:t>
            </a:r>
          </a:p>
          <a:p>
            <a:pPr algn="just">
              <a:lnSpc>
                <a:spcPct val="160000"/>
              </a:lnSpc>
            </a:pPr>
            <a:r>
              <a:rPr lang="en-US" altLang="en-US" sz="2100" dirty="0">
                <a:latin typeface="Arial" panose="020B0604020202020204" pitchFamily="34" charset="0"/>
              </a:rPr>
              <a:t>Design UI/UX prototypes and develop frontend and backend features.</a:t>
            </a:r>
          </a:p>
          <a:p>
            <a:pPr algn="just">
              <a:lnSpc>
                <a:spcPct val="160000"/>
              </a:lnSpc>
            </a:pPr>
            <a:r>
              <a:rPr lang="en-US" altLang="en-US" sz="2100" dirty="0">
                <a:latin typeface="Arial" panose="020B0604020202020204" pitchFamily="34" charset="0"/>
              </a:rPr>
              <a:t>Integrate APIs and ensure mobile responsiveness. </a:t>
            </a:r>
          </a:p>
          <a:p>
            <a:pPr algn="just">
              <a:lnSpc>
                <a:spcPct val="160000"/>
              </a:lnSpc>
            </a:pPr>
            <a:r>
              <a:rPr lang="en-US" altLang="en-US" sz="2100" dirty="0">
                <a:latin typeface="Arial" panose="020B0604020202020204" pitchFamily="34" charset="0"/>
              </a:rPr>
              <a:t>Perform unit, integration, and user acceptance testing.</a:t>
            </a:r>
          </a:p>
          <a:p>
            <a:pPr algn="just">
              <a:lnSpc>
                <a:spcPct val="160000"/>
              </a:lnSpc>
            </a:pPr>
            <a:r>
              <a:rPr lang="en-US" altLang="en-US" sz="2100" dirty="0">
                <a:latin typeface="Arial" panose="020B0604020202020204" pitchFamily="34" charset="0"/>
              </a:rPr>
              <a:t>Fix bugs and ensure quality.</a:t>
            </a:r>
          </a:p>
          <a:p>
            <a:pPr marL="0" lvl="0" indent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Arial" panose="020B0604020202020204" pitchFamily="34" charset="0"/>
              </a:rPr>
              <a:t>    Automate deployment, integrate code continuously.</a:t>
            </a:r>
          </a:p>
          <a:p>
            <a:pPr marL="0" lvl="0" indent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Arial" panose="020B0604020202020204" pitchFamily="34" charset="0"/>
              </a:rPr>
              <a:t>    </a:t>
            </a:r>
            <a:r>
              <a:rPr lang="en-US" sz="2100" dirty="0"/>
              <a:t>Test in staging before final deployment.</a:t>
            </a:r>
          </a:p>
          <a:p>
            <a:pPr marL="0" lvl="0" indent="0" algn="just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100" dirty="0"/>
              <a:t>   Finalize testing and ensure smooth rollout.</a:t>
            </a:r>
            <a:endParaRPr lang="en-US" altLang="en-US" sz="2100" dirty="0">
              <a:latin typeface="Arial" panose="020B0604020202020204" pitchFamily="34" charset="0"/>
            </a:endParaRPr>
          </a:p>
          <a:p>
            <a:endParaRPr lang="en-US" altLang="en-US" sz="1800" dirty="0">
              <a:latin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BD550FB0-ABF8-21AE-BE6B-B3EC9695E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86640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7651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Results and Discussion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88704"/>
            <a:ext cx="8305800" cy="4572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redesign of the university portal aimed to enhance user experience by addressing key pain points identified through user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Findings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revealed a strong demand for streamlined navigation and easier access to critical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resources.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new design incorporates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user-centered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principles, featuring intuitive layouts and improved accessibility, leading to anticipated increases in user satisfaction and engagement.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feedback will guide future iterations, ensuring the portal evolves to meet user needs effectively.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4DED4-350B-4878-B3BD-885E45171D2E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0044" t="32292" r="27160" b="22916"/>
          <a:stretch/>
        </p:blipFill>
        <p:spPr>
          <a:xfrm>
            <a:off x="1333499" y="1382940"/>
            <a:ext cx="6477001" cy="497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5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1801" t="32293" r="27160" b="19791"/>
          <a:stretch/>
        </p:blipFill>
        <p:spPr>
          <a:xfrm>
            <a:off x="1831258" y="1330025"/>
            <a:ext cx="5791200" cy="502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9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6895" t="27083" r="22110" b="17708"/>
          <a:stretch/>
        </p:blipFill>
        <p:spPr>
          <a:xfrm>
            <a:off x="1905000" y="1371600"/>
            <a:ext cx="5334000" cy="4038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10000" y="5410200"/>
            <a:ext cx="13815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/>
              <a:t> Fig.1.3.Dashboard </a:t>
            </a:r>
          </a:p>
        </p:txBody>
      </p:sp>
    </p:spTree>
    <p:extLst>
      <p:ext uri="{BB962C8B-B14F-4D97-AF65-F5344CB8AC3E}">
        <p14:creationId xmlns:p14="http://schemas.microsoft.com/office/powerpoint/2010/main" val="201956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1215" t="23958" r="26574" b="14583"/>
          <a:stretch/>
        </p:blipFill>
        <p:spPr>
          <a:xfrm>
            <a:off x="2476499" y="1447800"/>
            <a:ext cx="4191001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8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0" y="2982724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sz="800" dirty="0"/>
          </a:p>
          <a:p>
            <a:endParaRPr lang="en-IN" sz="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3558" t="25000" r="27745" b="16666"/>
          <a:stretch/>
        </p:blipFill>
        <p:spPr>
          <a:xfrm>
            <a:off x="2403276" y="1447800"/>
            <a:ext cx="4294982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3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E112-8377-45A9-BD19-18629BBD054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6B1E7-E7F0-7CA3-C4EE-CDEB17410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229" y="1542999"/>
            <a:ext cx="5103542" cy="4038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53273" y="5599642"/>
            <a:ext cx="2637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Fig1.8.course access page </a:t>
            </a:r>
          </a:p>
        </p:txBody>
      </p:sp>
    </p:spTree>
    <p:extLst>
      <p:ext uri="{BB962C8B-B14F-4D97-AF65-F5344CB8AC3E}">
        <p14:creationId xmlns:p14="http://schemas.microsoft.com/office/powerpoint/2010/main" val="367937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Conclusion</a:t>
            </a: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fontScale="40000" lnSpcReduction="20000"/>
          </a:bodyPr>
          <a:lstStyle/>
          <a:p>
            <a:endParaRPr lang="en-US" sz="5000" dirty="0"/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In conclusion, the redesign of the university portal significantly enhances the user experience by addressing previously identified pain points and incorporating </a:t>
            </a:r>
            <a:r>
              <a:rPr lang="en-US" sz="5000" dirty="0" smtClean="0">
                <a:latin typeface="Arial" panose="020B0604020202020204" pitchFamily="34" charset="0"/>
                <a:cs typeface="Arial" panose="020B0604020202020204" pitchFamily="34" charset="0"/>
              </a:rPr>
              <a:t>user--centered </a:t>
            </a: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design principles. </a:t>
            </a:r>
            <a:endParaRPr lang="en-US" sz="5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0" dirty="0" smtClean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streamlining navigation, improving accessibility, and prioritizing key features, the new portal meets the diverse needs of students and faculty alike</a:t>
            </a:r>
            <a:r>
              <a:rPr lang="en-US" sz="5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Preliminary feedback suggests increased user satisfaction and engagement, </a:t>
            </a:r>
            <a:r>
              <a:rPr lang="en-US" sz="5000" dirty="0" smtClean="0">
                <a:latin typeface="Arial" panose="020B0604020202020204" pitchFamily="34" charset="0"/>
                <a:cs typeface="Arial" panose="020B0604020202020204" pitchFamily="34" charset="0"/>
              </a:rPr>
              <a:t>Ongoing </a:t>
            </a:r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user feedback and iterative improvements will ensure the portal remains responsive to user </a:t>
            </a:r>
            <a:r>
              <a:rPr lang="en-US" sz="5000" dirty="0" smtClean="0">
                <a:latin typeface="Arial" panose="020B0604020202020204" pitchFamily="34" charset="0"/>
                <a:cs typeface="Arial" panose="020B0604020202020204" pitchFamily="34" charset="0"/>
              </a:rPr>
              <a:t>needs</a:t>
            </a:r>
            <a:r>
              <a:rPr lang="en-US" altLang="en-US" sz="5000" dirty="0">
                <a:latin typeface="Arial" panose="020B0604020202020204" pitchFamily="34" charset="0"/>
              </a:rPr>
              <a:t/>
            </a:r>
            <a:br>
              <a:rPr lang="en-US" altLang="en-US" sz="5000" dirty="0">
                <a:latin typeface="Arial" panose="020B0604020202020204" pitchFamily="34" charset="0"/>
              </a:rPr>
            </a:br>
            <a:endParaRPr lang="en-US" altLang="en-US" sz="5000" dirty="0"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A2093-AB03-4944-BBF7-9D1F3BE620B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4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692303"/>
              </p:ext>
            </p:extLst>
          </p:nvPr>
        </p:nvGraphicFramePr>
        <p:xfrm>
          <a:off x="457200" y="1524000"/>
          <a:ext cx="8153400" cy="4065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5963">
                <a:tc>
                  <a:txBody>
                    <a:bodyPr/>
                    <a:lstStyle/>
                    <a:p>
                      <a:r>
                        <a:rPr lang="en-US" dirty="0"/>
                        <a:t>[1]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</a:t>
                      </a:r>
                      <a:r>
                        <a:rPr lang="en-US" sz="2000" b="0" dirty="0"/>
                        <a:t>User Experience Design: A Practical Playbook </a:t>
                      </a:r>
                      <a:r>
                        <a:rPr lang="en-US" sz="2000" dirty="0"/>
                        <a:t>by Gavin </a:t>
                      </a:r>
                      <a:r>
                        <a:rPr lang="en-US" sz="2000" dirty="0" err="1"/>
                        <a:t>Doughtie</a:t>
                      </a:r>
                      <a:r>
                        <a:rPr lang="en-US" sz="2000" dirty="0"/>
                        <a:t>: This book offers practical approaches to UX design, focusing on techniques and methodologies for creating </a:t>
                      </a:r>
                      <a:r>
                        <a:rPr lang="en-US" sz="2000" dirty="0" err="1" smtClean="0"/>
                        <a:t>usercentered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/>
                        <a:t>experiences.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308">
                <a:tc>
                  <a:txBody>
                    <a:bodyPr/>
                    <a:lstStyle/>
                    <a:p>
                      <a:r>
                        <a:rPr lang="en-US" dirty="0"/>
                        <a:t>[2]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Krug, S. (2014). </a:t>
                      </a:r>
                      <a:r>
                        <a:rPr lang="en-US" sz="2000" i="1" dirty="0"/>
                        <a:t>Don’t Make Me Think, Revisited: A Common Sense Approach to Web Usability.</a:t>
                      </a:r>
                      <a:r>
                        <a:rPr lang="en-US" sz="2000" dirty="0"/>
                        <a:t> New Riders.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8309">
                <a:tc>
                  <a:txBody>
                    <a:bodyPr/>
                    <a:lstStyle/>
                    <a:p>
                      <a:r>
                        <a:rPr lang="en-US" dirty="0"/>
                        <a:t>[3]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 Comprehensive Guide to User Experience Design </a:t>
                      </a:r>
                      <a:r>
                        <a:rPr lang="en-US" sz="2000" dirty="0"/>
                        <a:t>by Paul Boag: This resource discusses the essential components of UX design, including strategies for improving web usability and accessibility.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2619">
                <a:tc>
                  <a:txBody>
                    <a:bodyPr/>
                    <a:lstStyle/>
                    <a:p>
                      <a:r>
                        <a:rPr lang="en-US" dirty="0"/>
                        <a:t>[4]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UX Research: Practical Techniques for Designing Better Products </a:t>
                      </a:r>
                      <a:r>
                        <a:rPr lang="en-US" sz="2000" dirty="0"/>
                        <a:t>by Brad Nunnally and David Farkas: This book provides a comprehensive guide to UX research methods, helping to inform the redesign process through user insights.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96E4-D5C8-425D-96E7-CA40EBBFE28F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30480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0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4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References</a:t>
            </a:r>
            <a:r>
              <a:rPr lang="en-US" sz="4000" dirty="0">
                <a:latin typeface="Arial" pitchFamily="34" charset="0"/>
                <a:cs typeface="Arial" pitchFamily="34" charset="0"/>
              </a:rPr>
              <a:t/>
            </a:r>
            <a:br>
              <a:rPr lang="en-US" sz="4000" dirty="0">
                <a:latin typeface="Arial" pitchFamily="34" charset="0"/>
                <a:cs typeface="Arial" pitchFamily="34" charset="0"/>
              </a:rPr>
            </a:b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19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33400" y="381000"/>
            <a:ext cx="8229600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Certificate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1788459"/>
            <a:ext cx="8001000" cy="3459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80000"/>
              </a:lnSpc>
              <a:buNone/>
            </a:pPr>
            <a:endParaRPr lang="en-US" sz="2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8381-4334-4BCF-A228-57F83149AF87}" type="datetime3">
              <a:rPr lang="en-US" smtClean="0"/>
              <a:pPr/>
              <a:t>23 October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95094"/>
            <a:ext cx="7010400" cy="496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4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</TotalTime>
  <Words>1262</Words>
  <Application>Microsoft Office PowerPoint</Application>
  <PresentationFormat>On-screen Show (4:3)</PresentationFormat>
  <Paragraphs>205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Custom Design</vt:lpstr>
      <vt:lpstr> </vt:lpstr>
      <vt:lpstr>Presentation Outline</vt:lpstr>
      <vt:lpstr>PowerPoint Presentation</vt:lpstr>
      <vt:lpstr>Objectives</vt:lpstr>
      <vt:lpstr>System Architecture / Ideation Map</vt:lpstr>
      <vt:lpstr>Project Implementation</vt:lpstr>
      <vt:lpstr>Design Requirements</vt:lpstr>
      <vt:lpstr>PowerPoint Presentation</vt:lpstr>
      <vt:lpstr>Methodology</vt:lpstr>
      <vt:lpstr>PowerPoint Presentation</vt:lpstr>
      <vt:lpstr>PowerPoint Presentation</vt:lpstr>
      <vt:lpstr>PowerPoint Presentation</vt:lpstr>
      <vt:lpstr>Results and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Admin</cp:lastModifiedBy>
  <cp:revision>71</cp:revision>
  <dcterms:created xsi:type="dcterms:W3CDTF">2019-11-06T07:48:53Z</dcterms:created>
  <dcterms:modified xsi:type="dcterms:W3CDTF">2024-10-23T06:07:04Z</dcterms:modified>
</cp:coreProperties>
</file>