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66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368" autoAdjust="0"/>
    <p:restoredTop sz="94590" autoAdjust="0"/>
  </p:normalViewPr>
  <p:slideViewPr>
    <p:cSldViewPr>
      <p:cViewPr varScale="1">
        <p:scale>
          <a:sx n="65" d="100"/>
          <a:sy n="65" d="100"/>
        </p:scale>
        <p:origin x="154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tableStyles" Target="tableStyle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61" name=""/>
        <p:cNvGrpSpPr/>
        <p:nvPr/>
      </p:nvGrpSpPr>
      <p:grpSpPr>
        <a:xfrm>
          <a:off x="0" y="0"/>
          <a:ext cx="0" cy="0"/>
          <a:chOff x="0" y="0"/>
          <a:chExt cx="0" cy="0"/>
        </a:xfrm>
      </p:grpSpPr>
      <p:sp>
        <p:nvSpPr>
          <p:cNvPr id="1048725"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726" name="Date Placeholder 2"/>
          <p:cNvSpPr>
            <a:spLocks noGrp="1"/>
          </p:cNvSpPr>
          <p:nvPr>
            <p:ph type="dt" sz="quarter" idx="1"/>
          </p:nvPr>
        </p:nvSpPr>
        <p:spPr>
          <a:xfrm>
            <a:off x="3884613" y="0"/>
            <a:ext cx="2971800" cy="457200"/>
          </a:xfrm>
          <a:prstGeom prst="rect"/>
        </p:spPr>
        <p:txBody>
          <a:bodyPr bIns="45720" lIns="91440" rIns="91440" rtlCol="0" tIns="45720" vert="horz"/>
          <a:lstStyle>
            <a:lvl1pPr algn="r">
              <a:defRPr sz="1200"/>
            </a:lvl1pPr>
          </a:lstStyle>
          <a:p>
            <a:fld id="{43472FC0-3A6E-4FDF-98C7-05D53ADA3185}" type="datetimeFigureOut">
              <a:rPr lang="en-US" smtClean="0"/>
              <a:t>10/31/2023</a:t>
            </a:fld>
            <a:endParaRPr lang="en-US"/>
          </a:p>
        </p:txBody>
      </p:sp>
      <p:sp>
        <p:nvSpPr>
          <p:cNvPr id="1048727" name="Footer Placeholder 3"/>
          <p:cNvSpPr>
            <a:spLocks noGrp="1"/>
          </p:cNvSpPr>
          <p:nvPr>
            <p:ph type="ftr" sz="quarter" idx="2"/>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728" name="Slide Number Placeholder 4"/>
          <p:cNvSpPr>
            <a:spLocks noGrp="1"/>
          </p:cNvSpPr>
          <p:nvPr>
            <p:ph type="sldNum" sz="quarter" idx="3"/>
          </p:nvPr>
        </p:nvSpPr>
        <p:spPr>
          <a:xfrm>
            <a:off x="3884613" y="8685213"/>
            <a:ext cx="2971800" cy="457200"/>
          </a:xfrm>
          <a:prstGeom prst="rect"/>
        </p:spPr>
        <p:txBody>
          <a:bodyPr anchor="b" bIns="45720" lIns="91440" rIns="91440" rtlCol="0" tIns="45720" vert="horz"/>
          <a:lstStyle>
            <a:lvl1pPr algn="r">
              <a:defRPr sz="1200"/>
            </a:lvl1pPr>
          </a:lstStyle>
          <a:p>
            <a:fld id="{47E15A7B-879F-45B5-9291-0F55AE53DB35}" type="slidenum">
              <a:rPr lang="en-US" smtClean="0"/>
              <a:t>‹#›</a:t>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60" name=""/>
        <p:cNvGrpSpPr/>
        <p:nvPr/>
      </p:nvGrpSpPr>
      <p:grpSpPr>
        <a:xfrm>
          <a:off x="0" y="0"/>
          <a:ext cx="0" cy="0"/>
          <a:chOff x="0" y="0"/>
          <a:chExt cx="0" cy="0"/>
        </a:xfrm>
      </p:grpSpPr>
      <p:sp>
        <p:nvSpPr>
          <p:cNvPr id="1048719"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720"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D5F44B48-72A2-4A15-9A9B-0DA2BF7C6B02}" type="datetimeFigureOut">
              <a:rPr lang="en-US" smtClean="0"/>
              <a:t>10/31/2023</a:t>
            </a:fld>
            <a:endParaRPr lang="en-US"/>
          </a:p>
        </p:txBody>
      </p:sp>
      <p:sp>
        <p:nvSpPr>
          <p:cNvPr id="1048721"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en-US"/>
          </a:p>
        </p:txBody>
      </p:sp>
      <p:sp>
        <p:nvSpPr>
          <p:cNvPr id="1048722"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3"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724"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FD238FA3-189B-4AA8-9E46-1FED810FB611}"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lang="en-US"/>
          </a:p>
        </p:txBody>
      </p:sp>
      <p:sp>
        <p:nvSpPr>
          <p:cNvPr id="1048605" name="Slide Number Placeholder 3"/>
          <p:cNvSpPr>
            <a:spLocks noGrp="1"/>
          </p:cNvSpPr>
          <p:nvPr>
            <p:ph type="sldNum" sz="quarter" idx="10"/>
          </p:nvPr>
        </p:nvSpPr>
        <p:spPr/>
        <p:txBody>
          <a:bodyPr/>
          <a:p>
            <a:fld id="{FD238FA3-189B-4AA8-9E46-1FED810FB611}"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51" name=""/>
        <p:cNvGrpSpPr/>
        <p:nvPr/>
      </p:nvGrpSpPr>
      <p:grpSpPr>
        <a:xfrm>
          <a:off x="0" y="0"/>
          <a:ext cx="0" cy="0"/>
          <a:chOff x="0" y="0"/>
          <a:chExt cx="0" cy="0"/>
        </a:xfrm>
      </p:grpSpPr>
      <p:sp>
        <p:nvSpPr>
          <p:cNvPr id="1048670" name="Title 1"/>
          <p:cNvSpPr>
            <a:spLocks noGrp="1"/>
          </p:cNvSpPr>
          <p:nvPr>
            <p:ph type="ctrTitle"/>
          </p:nvPr>
        </p:nvSpPr>
        <p:spPr>
          <a:xfrm>
            <a:off x="685800" y="2130425"/>
            <a:ext cx="7772400" cy="1470025"/>
          </a:xfrm>
        </p:spPr>
        <p:txBody>
          <a:bodyPr/>
          <a:p>
            <a:r>
              <a:rPr lang="en-US"/>
              <a:t>Click to edit Master title style</a:t>
            </a:r>
          </a:p>
        </p:txBody>
      </p:sp>
      <p:sp>
        <p:nvSpPr>
          <p:cNvPr id="1048671"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p>
        </p:txBody>
      </p:sp>
      <p:sp>
        <p:nvSpPr>
          <p:cNvPr id="1048672" name="Date Placeholder 3"/>
          <p:cNvSpPr>
            <a:spLocks noGrp="1"/>
          </p:cNvSpPr>
          <p:nvPr>
            <p:ph type="dt" sz="half" idx="10"/>
          </p:nvPr>
        </p:nvSpPr>
        <p:spPr/>
        <p:txBody>
          <a:bodyPr/>
          <a:p>
            <a:fld id="{D26EC765-4EEE-40D6-8764-C358A9B0EA2D}" type="datetime3">
              <a:rPr lang="en-US" smtClean="0"/>
              <a:t>31 October 2023</a:t>
            </a:fld>
            <a:endParaRPr lang="en-US"/>
          </a:p>
        </p:txBody>
      </p:sp>
      <p:sp>
        <p:nvSpPr>
          <p:cNvPr id="1048673" name="Footer Placeholder 4"/>
          <p:cNvSpPr>
            <a:spLocks noGrp="1"/>
          </p:cNvSpPr>
          <p:nvPr>
            <p:ph type="ftr" sz="quarter" idx="11"/>
          </p:nvPr>
        </p:nvSpPr>
        <p:spPr/>
        <p:txBody>
          <a:bodyPr/>
          <a:p>
            <a:r>
              <a:rPr lang="en-US"/>
              <a:t>Department of CSE</a:t>
            </a:r>
          </a:p>
        </p:txBody>
      </p:sp>
      <p:sp>
        <p:nvSpPr>
          <p:cNvPr id="1048674" name="Slide Number Placeholder 5"/>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5" name=""/>
        <p:cNvGrpSpPr/>
        <p:nvPr/>
      </p:nvGrpSpPr>
      <p:grpSpPr>
        <a:xfrm>
          <a:off x="0" y="0"/>
          <a:ext cx="0" cy="0"/>
          <a:chOff x="0" y="0"/>
          <a:chExt cx="0" cy="0"/>
        </a:xfrm>
      </p:grpSpPr>
      <p:sp>
        <p:nvSpPr>
          <p:cNvPr id="1048582" name="Title 1"/>
          <p:cNvSpPr>
            <a:spLocks noGrp="1"/>
          </p:cNvSpPr>
          <p:nvPr>
            <p:ph type="title"/>
          </p:nvPr>
        </p:nvSpPr>
        <p:spPr/>
        <p:txBody>
          <a:bodyPr/>
          <a:p>
            <a:r>
              <a:rPr lang="en-US"/>
              <a:t>Click to edit Master title style</a:t>
            </a:r>
          </a:p>
        </p:txBody>
      </p:sp>
      <p:sp>
        <p:nvSpPr>
          <p:cNvPr id="1048583"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4"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585" name="Footer Placeholder 4"/>
          <p:cNvSpPr>
            <a:spLocks noGrp="1"/>
          </p:cNvSpPr>
          <p:nvPr>
            <p:ph type="ftr" sz="quarter" idx="11"/>
          </p:nvPr>
        </p:nvSpPr>
        <p:spPr/>
        <p:txBody>
          <a:bodyPr/>
          <a:p>
            <a:r>
              <a:rPr lang="en-US"/>
              <a:t>Department of CSE</a:t>
            </a:r>
          </a:p>
        </p:txBody>
      </p:sp>
      <p:sp>
        <p:nvSpPr>
          <p:cNvPr id="1048586" name="Slide Number Placeholder 5"/>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5" name=""/>
        <p:cNvGrpSpPr/>
        <p:nvPr/>
      </p:nvGrpSpPr>
      <p:grpSpPr>
        <a:xfrm>
          <a:off x="0" y="0"/>
          <a:ext cx="0" cy="0"/>
          <a:chOff x="0" y="0"/>
          <a:chExt cx="0" cy="0"/>
        </a:xfrm>
      </p:grpSpPr>
      <p:sp>
        <p:nvSpPr>
          <p:cNvPr id="1048691" name="Title 1"/>
          <p:cNvSpPr>
            <a:spLocks noGrp="1"/>
          </p:cNvSpPr>
          <p:nvPr>
            <p:ph type="title"/>
          </p:nvPr>
        </p:nvSpPr>
        <p:spPr>
          <a:xfrm>
            <a:off x="722313" y="4406900"/>
            <a:ext cx="7772400" cy="1362075"/>
          </a:xfrm>
        </p:spPr>
        <p:txBody>
          <a:bodyPr anchor="t"/>
          <a:lstStyle>
            <a:lvl1pPr algn="l">
              <a:defRPr b="1" cap="all" sz="4000"/>
            </a:lvl1pPr>
          </a:lstStyle>
          <a:p>
            <a:r>
              <a:rPr lang="en-US"/>
              <a:t>Click to edit Master title style</a:t>
            </a:r>
          </a:p>
        </p:txBody>
      </p:sp>
      <p:sp>
        <p:nvSpPr>
          <p:cNvPr id="1048692"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93" name="Date Placeholder 3"/>
          <p:cNvSpPr>
            <a:spLocks noGrp="1"/>
          </p:cNvSpPr>
          <p:nvPr>
            <p:ph type="dt" sz="half" idx="10"/>
          </p:nvPr>
        </p:nvSpPr>
        <p:spPr/>
        <p:txBody>
          <a:bodyPr/>
          <a:p>
            <a:fld id="{029643EF-B253-4651-964D-5C22C18A1755}" type="datetime3">
              <a:rPr lang="en-US" smtClean="0"/>
              <a:t>31 October 2023</a:t>
            </a:fld>
            <a:endParaRPr lang="en-US"/>
          </a:p>
        </p:txBody>
      </p:sp>
      <p:sp>
        <p:nvSpPr>
          <p:cNvPr id="1048694" name="Footer Placeholder 4"/>
          <p:cNvSpPr>
            <a:spLocks noGrp="1"/>
          </p:cNvSpPr>
          <p:nvPr>
            <p:ph type="ftr" sz="quarter" idx="11"/>
          </p:nvPr>
        </p:nvSpPr>
        <p:spPr/>
        <p:txBody>
          <a:bodyPr/>
          <a:p>
            <a:r>
              <a:rPr lang="en-US"/>
              <a:t>Department of CSE</a:t>
            </a:r>
          </a:p>
        </p:txBody>
      </p:sp>
      <p:sp>
        <p:nvSpPr>
          <p:cNvPr id="1048695" name="Slide Number Placeholder 5"/>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6" name=""/>
        <p:cNvGrpSpPr/>
        <p:nvPr/>
      </p:nvGrpSpPr>
      <p:grpSpPr>
        <a:xfrm>
          <a:off x="0" y="0"/>
          <a:ext cx="0" cy="0"/>
          <a:chOff x="0" y="0"/>
          <a:chExt cx="0" cy="0"/>
        </a:xfrm>
      </p:grpSpPr>
      <p:sp>
        <p:nvSpPr>
          <p:cNvPr id="1048696" name="Title 1"/>
          <p:cNvSpPr>
            <a:spLocks noGrp="1"/>
          </p:cNvSpPr>
          <p:nvPr>
            <p:ph type="title"/>
          </p:nvPr>
        </p:nvSpPr>
        <p:spPr/>
        <p:txBody>
          <a:bodyPr/>
          <a:p>
            <a:r>
              <a:rPr lang="en-US"/>
              <a:t>Click to edit Master title style</a:t>
            </a:r>
          </a:p>
        </p:txBody>
      </p:sp>
      <p:sp>
        <p:nvSpPr>
          <p:cNvPr id="104869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9" name="Date Placeholder 4"/>
          <p:cNvSpPr>
            <a:spLocks noGrp="1"/>
          </p:cNvSpPr>
          <p:nvPr>
            <p:ph type="dt" sz="half" idx="10"/>
          </p:nvPr>
        </p:nvSpPr>
        <p:spPr/>
        <p:txBody>
          <a:bodyPr/>
          <a:p>
            <a:fld id="{39EAEA68-FEEF-400D-AE97-0743E2B01B36}" type="datetime3">
              <a:rPr lang="en-US" smtClean="0"/>
              <a:t>31 October 2023</a:t>
            </a:fld>
            <a:endParaRPr lang="en-US"/>
          </a:p>
        </p:txBody>
      </p:sp>
      <p:sp>
        <p:nvSpPr>
          <p:cNvPr id="1048700" name="Footer Placeholder 5"/>
          <p:cNvSpPr>
            <a:spLocks noGrp="1"/>
          </p:cNvSpPr>
          <p:nvPr>
            <p:ph type="ftr" sz="quarter" idx="11"/>
          </p:nvPr>
        </p:nvSpPr>
        <p:spPr/>
        <p:txBody>
          <a:bodyPr/>
          <a:p>
            <a:r>
              <a:rPr lang="en-US"/>
              <a:t>Department of CSE</a:t>
            </a:r>
          </a:p>
        </p:txBody>
      </p:sp>
      <p:sp>
        <p:nvSpPr>
          <p:cNvPr id="1048701" name="Slide Number Placeholder 6"/>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7" name=""/>
        <p:cNvGrpSpPr/>
        <p:nvPr/>
      </p:nvGrpSpPr>
      <p:grpSpPr>
        <a:xfrm>
          <a:off x="0" y="0"/>
          <a:ext cx="0" cy="0"/>
          <a:chOff x="0" y="0"/>
          <a:chExt cx="0" cy="0"/>
        </a:xfrm>
      </p:grpSpPr>
      <p:sp>
        <p:nvSpPr>
          <p:cNvPr id="1048702" name="Title 1"/>
          <p:cNvSpPr>
            <a:spLocks noGrp="1"/>
          </p:cNvSpPr>
          <p:nvPr>
            <p:ph type="title"/>
          </p:nvPr>
        </p:nvSpPr>
        <p:spPr/>
        <p:txBody>
          <a:bodyPr/>
          <a:p>
            <a:r>
              <a:rPr lang="en-US"/>
              <a:t>Click to edit Master title style</a:t>
            </a:r>
          </a:p>
        </p:txBody>
      </p:sp>
      <p:sp>
        <p:nvSpPr>
          <p:cNvPr id="1048703"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7" name="Date Placeholder 6"/>
          <p:cNvSpPr>
            <a:spLocks noGrp="1"/>
          </p:cNvSpPr>
          <p:nvPr>
            <p:ph type="dt" sz="half" idx="10"/>
          </p:nvPr>
        </p:nvSpPr>
        <p:spPr/>
        <p:txBody>
          <a:bodyPr/>
          <a:p>
            <a:fld id="{E04555E2-DE6E-4EB6-8DFA-DC17E6D6B29D}" type="datetime3">
              <a:rPr lang="en-US" smtClean="0"/>
              <a:t>31 October 2023</a:t>
            </a:fld>
            <a:endParaRPr lang="en-US"/>
          </a:p>
        </p:txBody>
      </p:sp>
      <p:sp>
        <p:nvSpPr>
          <p:cNvPr id="1048708" name="Footer Placeholder 7"/>
          <p:cNvSpPr>
            <a:spLocks noGrp="1"/>
          </p:cNvSpPr>
          <p:nvPr>
            <p:ph type="ftr" sz="quarter" idx="11"/>
          </p:nvPr>
        </p:nvSpPr>
        <p:spPr/>
        <p:txBody>
          <a:bodyPr/>
          <a:p>
            <a:r>
              <a:rPr lang="en-US"/>
              <a:t>Department of CSE</a:t>
            </a:r>
          </a:p>
        </p:txBody>
      </p:sp>
      <p:sp>
        <p:nvSpPr>
          <p:cNvPr id="1048709" name="Slide Number Placeholder 8"/>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9" name=""/>
        <p:cNvGrpSpPr/>
        <p:nvPr/>
      </p:nvGrpSpPr>
      <p:grpSpPr>
        <a:xfrm>
          <a:off x="0" y="0"/>
          <a:ext cx="0" cy="0"/>
          <a:chOff x="0" y="0"/>
          <a:chExt cx="0" cy="0"/>
        </a:xfrm>
      </p:grpSpPr>
      <p:sp>
        <p:nvSpPr>
          <p:cNvPr id="1048662" name="Title 1"/>
          <p:cNvSpPr>
            <a:spLocks noGrp="1"/>
          </p:cNvSpPr>
          <p:nvPr>
            <p:ph type="title"/>
          </p:nvPr>
        </p:nvSpPr>
        <p:spPr/>
        <p:txBody>
          <a:bodyPr/>
          <a:p>
            <a:r>
              <a:rPr lang="en-US"/>
              <a:t>Click to edit Master title style</a:t>
            </a:r>
          </a:p>
        </p:txBody>
      </p:sp>
      <p:sp>
        <p:nvSpPr>
          <p:cNvPr id="1048663" name="Date Placeholder 2"/>
          <p:cNvSpPr>
            <a:spLocks noGrp="1"/>
          </p:cNvSpPr>
          <p:nvPr>
            <p:ph type="dt" sz="half" idx="10"/>
          </p:nvPr>
        </p:nvSpPr>
        <p:spPr/>
        <p:txBody>
          <a:bodyPr/>
          <a:p>
            <a:fld id="{1A9C9DA3-207B-4128-A780-0899C9C276AD}" type="datetime3">
              <a:rPr lang="en-US" smtClean="0"/>
              <a:t>31 October 2023</a:t>
            </a:fld>
            <a:endParaRPr lang="en-US"/>
          </a:p>
        </p:txBody>
      </p:sp>
      <p:sp>
        <p:nvSpPr>
          <p:cNvPr id="1048664" name="Footer Placeholder 3"/>
          <p:cNvSpPr>
            <a:spLocks noGrp="1"/>
          </p:cNvSpPr>
          <p:nvPr>
            <p:ph type="ftr" sz="quarter" idx="11"/>
          </p:nvPr>
        </p:nvSpPr>
        <p:spPr/>
        <p:txBody>
          <a:bodyPr/>
          <a:p>
            <a:r>
              <a:rPr lang="en-US"/>
              <a:t>Department of CSE</a:t>
            </a:r>
          </a:p>
        </p:txBody>
      </p:sp>
      <p:sp>
        <p:nvSpPr>
          <p:cNvPr id="1048665" name="Slide Number Placeholder 4"/>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8" name=""/>
        <p:cNvGrpSpPr/>
        <p:nvPr/>
      </p:nvGrpSpPr>
      <p:grpSpPr>
        <a:xfrm>
          <a:off x="0" y="0"/>
          <a:ext cx="0" cy="0"/>
          <a:chOff x="0" y="0"/>
          <a:chExt cx="0" cy="0"/>
        </a:xfrm>
      </p:grpSpPr>
      <p:sp>
        <p:nvSpPr>
          <p:cNvPr id="1048710" name="Date Placeholder 1"/>
          <p:cNvSpPr>
            <a:spLocks noGrp="1"/>
          </p:cNvSpPr>
          <p:nvPr>
            <p:ph type="dt" sz="half" idx="10"/>
          </p:nvPr>
        </p:nvSpPr>
        <p:spPr/>
        <p:txBody>
          <a:bodyPr/>
          <a:p>
            <a:fld id="{9828E112-8377-45A9-BD19-18629BBD0547}" type="datetime3">
              <a:rPr lang="en-US" smtClean="0"/>
              <a:t>31 October 2023</a:t>
            </a:fld>
            <a:endParaRPr lang="en-US"/>
          </a:p>
        </p:txBody>
      </p:sp>
      <p:sp>
        <p:nvSpPr>
          <p:cNvPr id="1048711" name="Footer Placeholder 2"/>
          <p:cNvSpPr>
            <a:spLocks noGrp="1"/>
          </p:cNvSpPr>
          <p:nvPr>
            <p:ph type="ftr" sz="quarter" idx="11"/>
          </p:nvPr>
        </p:nvSpPr>
        <p:spPr/>
        <p:txBody>
          <a:bodyPr/>
          <a:p>
            <a:r>
              <a:rPr lang="en-US"/>
              <a:t>Department of CSE</a:t>
            </a:r>
          </a:p>
        </p:txBody>
      </p:sp>
      <p:sp>
        <p:nvSpPr>
          <p:cNvPr id="1048712" name="Slide Number Placeholder 3"/>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9" name=""/>
        <p:cNvGrpSpPr/>
        <p:nvPr/>
      </p:nvGrpSpPr>
      <p:grpSpPr>
        <a:xfrm>
          <a:off x="0" y="0"/>
          <a:ext cx="0" cy="0"/>
          <a:chOff x="0" y="0"/>
          <a:chExt cx="0" cy="0"/>
        </a:xfrm>
      </p:grpSpPr>
      <p:sp>
        <p:nvSpPr>
          <p:cNvPr id="1048713" name="Title 1"/>
          <p:cNvSpPr>
            <a:spLocks noGrp="1"/>
          </p:cNvSpPr>
          <p:nvPr>
            <p:ph type="title"/>
          </p:nvPr>
        </p:nvSpPr>
        <p:spPr>
          <a:xfrm>
            <a:off x="457200" y="273050"/>
            <a:ext cx="3008313" cy="1162050"/>
          </a:xfrm>
        </p:spPr>
        <p:txBody>
          <a:bodyPr anchor="b"/>
          <a:lstStyle>
            <a:lvl1pPr algn="l">
              <a:defRPr b="1" sz="2000"/>
            </a:lvl1pPr>
          </a:lstStyle>
          <a:p>
            <a:r>
              <a:rPr lang="en-US"/>
              <a:t>Click to edit Master title style</a:t>
            </a:r>
          </a:p>
        </p:txBody>
      </p:sp>
      <p:sp>
        <p:nvSpPr>
          <p:cNvPr id="104871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5"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16" name="Date Placeholder 4"/>
          <p:cNvSpPr>
            <a:spLocks noGrp="1"/>
          </p:cNvSpPr>
          <p:nvPr>
            <p:ph type="dt" sz="half" idx="10"/>
          </p:nvPr>
        </p:nvSpPr>
        <p:spPr/>
        <p:txBody>
          <a:bodyPr/>
          <a:p>
            <a:fld id="{389DA7BD-A364-4835-B5C3-69F4869872EB}" type="datetime3">
              <a:rPr lang="en-US" smtClean="0"/>
              <a:t>31 October 2023</a:t>
            </a:fld>
            <a:endParaRPr lang="en-US"/>
          </a:p>
        </p:txBody>
      </p:sp>
      <p:sp>
        <p:nvSpPr>
          <p:cNvPr id="1048717" name="Footer Placeholder 5"/>
          <p:cNvSpPr>
            <a:spLocks noGrp="1"/>
          </p:cNvSpPr>
          <p:nvPr>
            <p:ph type="ftr" sz="quarter" idx="11"/>
          </p:nvPr>
        </p:nvSpPr>
        <p:spPr/>
        <p:txBody>
          <a:bodyPr/>
          <a:p>
            <a:r>
              <a:rPr lang="en-US"/>
              <a:t>Department of CSE</a:t>
            </a:r>
          </a:p>
        </p:txBody>
      </p:sp>
      <p:sp>
        <p:nvSpPr>
          <p:cNvPr id="1048718" name="Slide Number Placeholder 6"/>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3" name=""/>
        <p:cNvGrpSpPr/>
        <p:nvPr/>
      </p:nvGrpSpPr>
      <p:grpSpPr>
        <a:xfrm>
          <a:off x="0" y="0"/>
          <a:ext cx="0" cy="0"/>
          <a:chOff x="0" y="0"/>
          <a:chExt cx="0" cy="0"/>
        </a:xfrm>
      </p:grpSpPr>
      <p:sp>
        <p:nvSpPr>
          <p:cNvPr id="1048680" name="Title 1"/>
          <p:cNvSpPr>
            <a:spLocks noGrp="1"/>
          </p:cNvSpPr>
          <p:nvPr>
            <p:ph type="title"/>
          </p:nvPr>
        </p:nvSpPr>
        <p:spPr>
          <a:xfrm>
            <a:off x="1792288" y="4800600"/>
            <a:ext cx="5486400" cy="566738"/>
          </a:xfrm>
        </p:spPr>
        <p:txBody>
          <a:bodyPr anchor="b"/>
          <a:lstStyle>
            <a:lvl1pPr algn="l">
              <a:defRPr b="1" sz="2000"/>
            </a:lvl1pPr>
          </a:lstStyle>
          <a:p>
            <a:r>
              <a:rPr lang="en-US"/>
              <a:t>Click to edit Master title style</a:t>
            </a:r>
          </a:p>
        </p:txBody>
      </p:sp>
      <p:sp>
        <p:nvSpPr>
          <p:cNvPr id="1048681"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82"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83" name="Date Placeholder 4"/>
          <p:cNvSpPr>
            <a:spLocks noGrp="1"/>
          </p:cNvSpPr>
          <p:nvPr>
            <p:ph type="dt" sz="half" idx="10"/>
          </p:nvPr>
        </p:nvSpPr>
        <p:spPr/>
        <p:txBody>
          <a:bodyPr/>
          <a:p>
            <a:fld id="{C3E59191-5CCA-41B9-93A5-50C4E62DD0DE}" type="datetime3">
              <a:rPr lang="en-US" smtClean="0"/>
              <a:t>31 October 2023</a:t>
            </a:fld>
            <a:endParaRPr lang="en-US"/>
          </a:p>
        </p:txBody>
      </p:sp>
      <p:sp>
        <p:nvSpPr>
          <p:cNvPr id="1048684" name="Footer Placeholder 5"/>
          <p:cNvSpPr>
            <a:spLocks noGrp="1"/>
          </p:cNvSpPr>
          <p:nvPr>
            <p:ph type="ftr" sz="quarter" idx="11"/>
          </p:nvPr>
        </p:nvSpPr>
        <p:spPr/>
        <p:txBody>
          <a:bodyPr/>
          <a:p>
            <a:r>
              <a:rPr lang="en-US"/>
              <a:t>Department of CSE</a:t>
            </a:r>
          </a:p>
        </p:txBody>
      </p:sp>
      <p:sp>
        <p:nvSpPr>
          <p:cNvPr id="1048685" name="Slide Number Placeholder 6"/>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4" name=""/>
        <p:cNvGrpSpPr/>
        <p:nvPr/>
      </p:nvGrpSpPr>
      <p:grpSpPr>
        <a:xfrm>
          <a:off x="0" y="0"/>
          <a:ext cx="0" cy="0"/>
          <a:chOff x="0" y="0"/>
          <a:chExt cx="0" cy="0"/>
        </a:xfrm>
      </p:grpSpPr>
      <p:sp>
        <p:nvSpPr>
          <p:cNvPr id="1048686" name="Title 1"/>
          <p:cNvSpPr>
            <a:spLocks noGrp="1"/>
          </p:cNvSpPr>
          <p:nvPr>
            <p:ph type="title"/>
          </p:nvPr>
        </p:nvSpPr>
        <p:spPr/>
        <p:txBody>
          <a:bodyPr/>
          <a:p>
            <a:r>
              <a:rPr lang="en-US"/>
              <a:t>Click to edit Master title style</a:t>
            </a:r>
          </a:p>
        </p:txBody>
      </p:sp>
      <p:sp>
        <p:nvSpPr>
          <p:cNvPr id="1048687"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Date Placeholder 3"/>
          <p:cNvSpPr>
            <a:spLocks noGrp="1"/>
          </p:cNvSpPr>
          <p:nvPr>
            <p:ph type="dt" sz="half" idx="10"/>
          </p:nvPr>
        </p:nvSpPr>
        <p:spPr/>
        <p:txBody>
          <a:bodyPr/>
          <a:p>
            <a:fld id="{35A40CD3-6E5F-40AF-B983-BCBC5BE7EFA8}" type="datetime3">
              <a:rPr lang="en-US" smtClean="0"/>
              <a:t>31 October 2023</a:t>
            </a:fld>
            <a:endParaRPr lang="en-US"/>
          </a:p>
        </p:txBody>
      </p:sp>
      <p:sp>
        <p:nvSpPr>
          <p:cNvPr id="1048689" name="Footer Placeholder 4"/>
          <p:cNvSpPr>
            <a:spLocks noGrp="1"/>
          </p:cNvSpPr>
          <p:nvPr>
            <p:ph type="ftr" sz="quarter" idx="11"/>
          </p:nvPr>
        </p:nvSpPr>
        <p:spPr/>
        <p:txBody>
          <a:bodyPr/>
          <a:p>
            <a:r>
              <a:rPr lang="en-US"/>
              <a:t>Department of CSE</a:t>
            </a:r>
          </a:p>
        </p:txBody>
      </p:sp>
      <p:sp>
        <p:nvSpPr>
          <p:cNvPr id="1048690" name="Slide Number Placeholder 5"/>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2" name=""/>
        <p:cNvGrpSpPr/>
        <p:nvPr/>
      </p:nvGrpSpPr>
      <p:grpSpPr>
        <a:xfrm>
          <a:off x="0" y="0"/>
          <a:ext cx="0" cy="0"/>
          <a:chOff x="0" y="0"/>
          <a:chExt cx="0" cy="0"/>
        </a:xfrm>
      </p:grpSpPr>
      <p:sp>
        <p:nvSpPr>
          <p:cNvPr id="1048675" name="Vertical Title 1"/>
          <p:cNvSpPr>
            <a:spLocks noGrp="1"/>
          </p:cNvSpPr>
          <p:nvPr>
            <p:ph type="title" orient="vert"/>
          </p:nvPr>
        </p:nvSpPr>
        <p:spPr>
          <a:xfrm>
            <a:off x="6629400" y="274638"/>
            <a:ext cx="2057400" cy="5851525"/>
          </a:xfrm>
        </p:spPr>
        <p:txBody>
          <a:bodyPr vert="eaVert"/>
          <a:p>
            <a:r>
              <a:rPr lang="en-US"/>
              <a:t>Click to edit Master title style</a:t>
            </a:r>
          </a:p>
        </p:txBody>
      </p:sp>
      <p:sp>
        <p:nvSpPr>
          <p:cNvPr id="1048676" name="Vertical Text Placeholder 2"/>
          <p:cNvSpPr>
            <a:spLocks noGrp="1"/>
          </p:cNvSpPr>
          <p:nvPr>
            <p:ph type="body" orient="vert" idx="1"/>
          </p:nvPr>
        </p:nvSpPr>
        <p:spPr>
          <a:xfrm>
            <a:off x="457200" y="274638"/>
            <a:ext cx="6019800" cy="5851525"/>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7" name="Date Placeholder 3"/>
          <p:cNvSpPr>
            <a:spLocks noGrp="1"/>
          </p:cNvSpPr>
          <p:nvPr>
            <p:ph type="dt" sz="half" idx="10"/>
          </p:nvPr>
        </p:nvSpPr>
        <p:spPr/>
        <p:txBody>
          <a:bodyPr/>
          <a:p>
            <a:fld id="{5B4D0355-2878-40EF-BB47-0AEFF38312E9}" type="datetime3">
              <a:rPr lang="en-US" smtClean="0"/>
              <a:t>31 October 2023</a:t>
            </a:fld>
            <a:endParaRPr lang="en-US"/>
          </a:p>
        </p:txBody>
      </p:sp>
      <p:sp>
        <p:nvSpPr>
          <p:cNvPr id="1048678" name="Footer Placeholder 4"/>
          <p:cNvSpPr>
            <a:spLocks noGrp="1"/>
          </p:cNvSpPr>
          <p:nvPr>
            <p:ph type="ftr" sz="quarter" idx="11"/>
          </p:nvPr>
        </p:nvSpPr>
        <p:spPr/>
        <p:txBody>
          <a:bodyPr/>
          <a:p>
            <a:r>
              <a:rPr lang="en-US"/>
              <a:t>Department of CSE</a:t>
            </a:r>
          </a:p>
        </p:txBody>
      </p:sp>
      <p:sp>
        <p:nvSpPr>
          <p:cNvPr id="1048679" name="Slide Number Placeholder 5"/>
          <p:cNvSpPr>
            <a:spLocks noGrp="1"/>
          </p:cNvSpPr>
          <p:nvPr>
            <p:ph type="sldNum" sz="quarter" idx="12"/>
          </p:nvPr>
        </p:nvSpPr>
        <p:spPr/>
        <p:txBody>
          <a:bodyPr/>
          <a:p>
            <a:fld id="{7B28076C-CE04-4A00-BFAA-A90EA835585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3" name=""/>
        <p:cNvGrpSpPr/>
        <p:nvPr/>
      </p:nvGrpSpPr>
      <p:grpSpPr>
        <a:xfrm>
          <a:off x="0" y="0"/>
          <a:ext cx="0" cy="0"/>
          <a:chOff x="0" y="0"/>
          <a:chExt cx="0" cy="0"/>
        </a:xfrm>
      </p:grpSpPr>
      <p:sp>
        <p:nvSpPr>
          <p:cNvPr id="1048576" name="Title Placeholder 1"/>
          <p:cNvSpPr>
            <a:spLocks noGrp="1"/>
          </p:cNvSpPr>
          <p:nvPr>
            <p:ph type="title"/>
          </p:nvPr>
        </p:nvSpPr>
        <p:spPr>
          <a:xfrm>
            <a:off x="298940" y="228600"/>
            <a:ext cx="8229600" cy="1143000"/>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FA2E2D50-3CC8-4828-A0F7-4352819C0BDB}" type="datetime3">
              <a:rPr lang="en-US" smtClean="0"/>
              <a:t>31 October 2023</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r>
              <a:rPr lang="en-US"/>
              <a:t>Department of CSE</a:t>
            </a:r>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1048581" name="Rectangle 7"/>
          <p:cNvSpPr/>
          <p:nvPr userDrawn="1"/>
        </p:nvSpPr>
        <p:spPr>
          <a:xfrm>
            <a:off x="298940" y="177143"/>
            <a:ext cx="8610600" cy="6553200"/>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cxnSp>
        <p:nvCxnSpPr>
          <p:cNvPr id="3145728" name="Straight Connector 8"/>
          <p:cNvCxnSpPr>
            <a:cxnSpLocks/>
          </p:cNvCxnSpPr>
          <p:nvPr userDrawn="1"/>
        </p:nvCxnSpPr>
        <p:spPr>
          <a:xfrm>
            <a:off x="298940" y="1219200"/>
            <a:ext cx="8610600" cy="1588"/>
          </a:xfrm>
          <a:prstGeom prst="line"/>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1" ftr="1" hdr="0" sldNum="1"/>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7" name="Title 1"/>
          <p:cNvSpPr>
            <a:spLocks noGrp="1"/>
          </p:cNvSpPr>
          <p:nvPr>
            <p:ph type="title"/>
          </p:nvPr>
        </p:nvSpPr>
        <p:spPr>
          <a:xfrm>
            <a:off x="457200" y="228600"/>
            <a:ext cx="8229600" cy="1143000"/>
          </a:xfrm>
        </p:spPr>
        <p:txBody>
          <a:bodyPr/>
          <a:p>
            <a:pPr algn="l"/>
            <a:r>
              <a:rPr dirty="0" lang="en-US">
                <a:latin typeface="Arial" pitchFamily="34" charset="0"/>
                <a:cs typeface="Arial" pitchFamily="34" charset="0"/>
              </a:rPr>
              <a:t> </a:t>
            </a:r>
          </a:p>
        </p:txBody>
      </p:sp>
      <p:sp>
        <p:nvSpPr>
          <p:cNvPr id="1048588" name="Content Placeholder 2"/>
          <p:cNvSpPr>
            <a:spLocks noGrp="1"/>
          </p:cNvSpPr>
          <p:nvPr>
            <p:ph idx="1"/>
          </p:nvPr>
        </p:nvSpPr>
        <p:spPr>
          <a:xfrm>
            <a:off x="609600" y="1600200"/>
            <a:ext cx="8229600" cy="4525963"/>
          </a:xfrm>
        </p:spPr>
        <p:txBody>
          <a:bodyPr/>
          <a:p>
            <a:pPr>
              <a:buNone/>
            </a:pPr>
            <a:r>
              <a:rPr dirty="0" lang="en-US"/>
              <a:t> </a:t>
            </a:r>
          </a:p>
        </p:txBody>
      </p:sp>
      <p:sp>
        <p:nvSpPr>
          <p:cNvPr id="1048589" name="Date Placeholder 3"/>
          <p:cNvSpPr>
            <a:spLocks noGrp="1"/>
          </p:cNvSpPr>
          <p:nvPr>
            <p:ph type="dt" sz="half" idx="10"/>
          </p:nvPr>
        </p:nvSpPr>
        <p:spPr/>
        <p:txBody>
          <a:bodyPr/>
          <a:p>
            <a:fld id="{00770AC0-521A-4761-B605-21BC84785148}" type="datetime3">
              <a:rPr lang="en-US" smtClean="0"/>
              <a:t>31 October 2023</a:t>
            </a:fld>
            <a:endParaRPr dirty="0" lang="en-US"/>
          </a:p>
        </p:txBody>
      </p:sp>
      <p:sp>
        <p:nvSpPr>
          <p:cNvPr id="1048590" name="Footer Placeholder 4"/>
          <p:cNvSpPr>
            <a:spLocks noGrp="1"/>
          </p:cNvSpPr>
          <p:nvPr>
            <p:ph type="ftr" sz="quarter" idx="11"/>
          </p:nvPr>
        </p:nvSpPr>
        <p:spPr/>
        <p:txBody>
          <a:bodyPr/>
          <a:p>
            <a:r>
              <a:rPr lang="en-US"/>
              <a:t>Department of CSE</a:t>
            </a:r>
            <a:endParaRPr dirty="0" lang="en-US"/>
          </a:p>
        </p:txBody>
      </p:sp>
      <p:sp>
        <p:nvSpPr>
          <p:cNvPr id="1048591" name="Slide Number Placeholder 5"/>
          <p:cNvSpPr>
            <a:spLocks noGrp="1"/>
          </p:cNvSpPr>
          <p:nvPr>
            <p:ph type="sldNum" sz="quarter" idx="12"/>
          </p:nvPr>
        </p:nvSpPr>
        <p:spPr/>
        <p:txBody>
          <a:bodyPr/>
          <a:p>
            <a:fld id="{C0EC1BDC-9B67-430D-970A-E36C75175141}" type="slidenum">
              <a:rPr lang="en-US" smtClean="0"/>
              <a:t>1</a:t>
            </a:fld>
            <a:endParaRPr lang="en-US"/>
          </a:p>
        </p:txBody>
      </p:sp>
      <p:sp>
        <p:nvSpPr>
          <p:cNvPr id="1048592" name="Rectangle 6"/>
          <p:cNvSpPr/>
          <p:nvPr/>
        </p:nvSpPr>
        <p:spPr>
          <a:xfrm>
            <a:off x="762000" y="1905000"/>
            <a:ext cx="7924800" cy="1691640"/>
          </a:xfrm>
          <a:prstGeom prst="rect"/>
        </p:spPr>
        <p:txBody>
          <a:bodyPr wrap="square">
            <a:spAutoFit/>
          </a:bodyPr>
          <a:p>
            <a:pPr algn="ctr"/>
            <a:r>
              <a:rPr dirty="0" sz="3600" lang="en-US"/>
              <a:t>DESIGN THINKING AND INNOVATION</a:t>
            </a:r>
          </a:p>
          <a:p>
            <a:pPr algn="ctr"/>
            <a:r>
              <a:rPr dirty="0" sz="3600" lang="en-US" smtClean="0"/>
              <a:t>CONNEX</a:t>
            </a:r>
            <a:endParaRPr dirty="0" sz="3600" lang="en-US"/>
          </a:p>
        </p:txBody>
      </p:sp>
      <p:sp>
        <p:nvSpPr>
          <p:cNvPr id="1048593" name="Rectangle 7"/>
          <p:cNvSpPr/>
          <p:nvPr/>
        </p:nvSpPr>
        <p:spPr>
          <a:xfrm>
            <a:off x="1219200" y="3817839"/>
            <a:ext cx="6400800" cy="2758440"/>
          </a:xfrm>
          <a:prstGeom prst="rect"/>
        </p:spPr>
        <p:txBody>
          <a:bodyPr wrap="square">
            <a:spAutoFit/>
          </a:bodyPr>
          <a:p>
            <a:pPr algn="ctr"/>
            <a:r>
              <a:rPr dirty="0" lang="en-US" smtClean="0">
                <a:latin typeface="Arial" pitchFamily="34" charset="0"/>
                <a:cs typeface="Arial" pitchFamily="34" charset="0"/>
              </a:rPr>
              <a:t>Design Supervisor </a:t>
            </a:r>
            <a:r>
              <a:rPr dirty="0" lang="en-US" err="1" smtClean="0">
                <a:latin typeface="Arial" pitchFamily="34" charset="0"/>
                <a:cs typeface="Arial" pitchFamily="34" charset="0"/>
              </a:rPr>
              <a:t>Name:Dr.N.Nanthini</a:t>
            </a:r>
            <a:r>
              <a:rPr dirty="0" lang="en-US" smtClean="0">
                <a:latin typeface="Arial" pitchFamily="34" charset="0"/>
                <a:cs typeface="Arial" pitchFamily="34" charset="0"/>
              </a:rPr>
              <a:t> M.E., PhD</a:t>
            </a:r>
          </a:p>
          <a:p>
            <a:pPr algn="ctr"/>
            <a:r>
              <a:rPr dirty="0" lang="en-US" smtClean="0">
                <a:latin typeface="Arial" pitchFamily="34" charset="0"/>
                <a:cs typeface="Arial" pitchFamily="34" charset="0"/>
              </a:rPr>
              <a:t>Name </a:t>
            </a:r>
            <a:r>
              <a:rPr dirty="0" lang="en-US">
                <a:latin typeface="Arial" pitchFamily="34" charset="0"/>
                <a:cs typeface="Arial" pitchFamily="34" charset="0"/>
              </a:rPr>
              <a:t>of the Student  : </a:t>
            </a:r>
            <a:r>
              <a:rPr dirty="0" lang="en-US" err="1" smtClean="0">
                <a:latin typeface="Arial" pitchFamily="34" charset="0"/>
                <a:cs typeface="Arial" pitchFamily="34" charset="0"/>
              </a:rPr>
              <a:t>J.Prerna</a:t>
            </a:r>
            <a:r>
              <a:rPr dirty="0" lang="en-US" smtClean="0">
                <a:latin typeface="Arial" pitchFamily="34" charset="0"/>
                <a:cs typeface="Arial" pitchFamily="34" charset="0"/>
              </a:rPr>
              <a:t>,</a:t>
            </a:r>
          </a:p>
          <a:p>
            <a:pPr algn="ctr" lvl="5"/>
            <a:r>
              <a:rPr dirty="0" lang="en-US" smtClean="0">
                <a:latin typeface="Arial" pitchFamily="34" charset="0"/>
                <a:cs typeface="Arial" pitchFamily="34" charset="0"/>
              </a:rPr>
              <a:t>  </a:t>
            </a:r>
            <a:r>
              <a:rPr dirty="0" lang="en-US" err="1" smtClean="0">
                <a:latin typeface="Arial" pitchFamily="34" charset="0"/>
                <a:cs typeface="Arial" pitchFamily="34" charset="0"/>
              </a:rPr>
              <a:t>P.Bhavya</a:t>
            </a:r>
            <a:r>
              <a:rPr dirty="0" lang="en-US" smtClean="0">
                <a:latin typeface="Arial" pitchFamily="34" charset="0"/>
                <a:cs typeface="Arial" pitchFamily="34" charset="0"/>
              </a:rPr>
              <a:t>,</a:t>
            </a:r>
          </a:p>
          <a:p>
            <a:pPr algn="ctr" lvl="5"/>
            <a:r>
              <a:rPr dirty="0" lang="en-US" smtClean="0">
                <a:latin typeface="Arial" pitchFamily="34" charset="0"/>
                <a:cs typeface="Arial" pitchFamily="34" charset="0"/>
              </a:rPr>
              <a:t>              </a:t>
            </a:r>
            <a:r>
              <a:rPr dirty="0" lang="en-US" err="1" smtClean="0">
                <a:latin typeface="Arial" pitchFamily="34" charset="0"/>
                <a:cs typeface="Arial" pitchFamily="34" charset="0"/>
              </a:rPr>
              <a:t>S.Raja</a:t>
            </a:r>
            <a:r>
              <a:rPr dirty="0" lang="en-US" smtClean="0">
                <a:latin typeface="Arial" pitchFamily="34" charset="0"/>
                <a:cs typeface="Arial" pitchFamily="34" charset="0"/>
              </a:rPr>
              <a:t> </a:t>
            </a:r>
            <a:r>
              <a:rPr dirty="0" lang="en-US" err="1" smtClean="0">
                <a:latin typeface="Arial" pitchFamily="34" charset="0"/>
                <a:cs typeface="Arial" pitchFamily="34" charset="0"/>
              </a:rPr>
              <a:t>Rajeswari</a:t>
            </a:r>
            <a:r>
              <a:rPr dirty="0" lang="en-US" smtClean="0">
                <a:latin typeface="Arial" pitchFamily="34" charset="0"/>
                <a:cs typeface="Arial" pitchFamily="34" charset="0"/>
              </a:rPr>
              <a:t> </a:t>
            </a:r>
            <a:endParaRPr dirty="0" lang="en-US">
              <a:latin typeface="Arial" pitchFamily="34" charset="0"/>
              <a:cs typeface="Arial" pitchFamily="34" charset="0"/>
            </a:endParaRPr>
          </a:p>
          <a:p>
            <a:pPr algn="ctr"/>
            <a:r>
              <a:rPr dirty="0" lang="en-US">
                <a:latin typeface="Arial" pitchFamily="34" charset="0"/>
                <a:cs typeface="Arial" pitchFamily="34" charset="0"/>
              </a:rPr>
              <a:t>Register Number  : </a:t>
            </a:r>
            <a:r>
              <a:rPr dirty="0" lang="en-US" smtClean="0">
                <a:latin typeface="Arial" pitchFamily="34" charset="0"/>
                <a:cs typeface="Arial" pitchFamily="34" charset="0"/>
              </a:rPr>
              <a:t>42614101,</a:t>
            </a:r>
          </a:p>
          <a:p>
            <a:pPr algn="ctr"/>
            <a:r>
              <a:rPr dirty="0" lang="en-US">
                <a:latin typeface="Arial" pitchFamily="34" charset="0"/>
                <a:cs typeface="Arial" pitchFamily="34" charset="0"/>
              </a:rPr>
              <a:t> </a:t>
            </a:r>
            <a:r>
              <a:rPr dirty="0" lang="en-US" smtClean="0">
                <a:latin typeface="Arial" pitchFamily="34" charset="0"/>
                <a:cs typeface="Arial" pitchFamily="34" charset="0"/>
              </a:rPr>
              <a:t>                              42614102,</a:t>
            </a:r>
            <a:endParaRPr dirty="0" lang="en-US">
              <a:latin typeface="Arial" pitchFamily="34" charset="0"/>
              <a:cs typeface="Arial" pitchFamily="34" charset="0"/>
            </a:endParaRPr>
          </a:p>
          <a:p>
            <a:pPr algn="ctr"/>
            <a:r>
              <a:rPr dirty="0" lang="en-US" smtClean="0">
                <a:latin typeface="Arial" pitchFamily="34" charset="0"/>
                <a:cs typeface="Arial" pitchFamily="34" charset="0"/>
              </a:rPr>
              <a:t>                                42614106.</a:t>
            </a:r>
            <a:endParaRPr dirty="0" lang="en-US">
              <a:latin typeface="Arial" pitchFamily="34" charset="0"/>
              <a:cs typeface="Arial" pitchFamily="34" charset="0"/>
            </a:endParaRPr>
          </a:p>
          <a:p>
            <a:pPr algn="ctr"/>
            <a:endParaRPr dirty="0" lang="en-US">
              <a:latin typeface="Arial" pitchFamily="34" charset="0"/>
              <a:cs typeface="Arial" pitchFamily="34" charset="0"/>
            </a:endParaRPr>
          </a:p>
          <a:p>
            <a:pPr algn="ctr"/>
            <a:endParaRPr dirty="0" lang="en-US">
              <a:latin typeface="Arial" pitchFamily="34" charset="0"/>
              <a:cs typeface="Arial" pitchFamily="34" charset="0"/>
            </a:endParaRPr>
          </a:p>
          <a:p>
            <a:pPr algn="ctr"/>
            <a:endParaRPr dirty="0" lang="en-US">
              <a:latin typeface="Arial" pitchFamily="34" charset="0"/>
              <a:cs typeface="Arial" pitchFamily="34" charset="0"/>
            </a:endParaRPr>
          </a:p>
        </p:txBody>
      </p:sp>
      <p:pic>
        <p:nvPicPr>
          <p:cNvPr id="2097152" name="Picture 8" descr="new letter head July30_2020.png"/>
          <p:cNvPicPr>
            <a:picLocks/>
          </p:cNvPicPr>
          <p:nvPr/>
        </p:nvPicPr>
        <p:blipFill>
          <a:blip xmlns:r="http://schemas.openxmlformats.org/officeDocument/2006/relationships" r:embed="rId1" cstate="print"/>
          <a:stretch>
            <a:fillRect/>
          </a:stretch>
        </p:blipFill>
        <p:spPr>
          <a:xfrm>
            <a:off x="228600" y="1"/>
            <a:ext cx="8686800" cy="1752599"/>
          </a:xfrm>
          <a:prstGeom prst="rec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4" name="Title 1"/>
          <p:cNvSpPr>
            <a:spLocks noGrp="1"/>
          </p:cNvSpPr>
          <p:nvPr>
            <p:ph type="title"/>
          </p:nvPr>
        </p:nvSpPr>
        <p:spPr>
          <a:xfrm>
            <a:off x="457200" y="228600"/>
            <a:ext cx="8229600" cy="1143000"/>
          </a:xfrm>
        </p:spPr>
        <p:txBody>
          <a:bodyPr/>
          <a:p>
            <a:pPr algn="l"/>
            <a:r>
              <a:rPr dirty="0" lang="en-US">
                <a:latin typeface="Arial" pitchFamily="34" charset="0"/>
                <a:cs typeface="Arial" pitchFamily="34" charset="0"/>
              </a:rPr>
              <a:t>Presentation Outline</a:t>
            </a:r>
          </a:p>
        </p:txBody>
      </p:sp>
      <p:sp>
        <p:nvSpPr>
          <p:cNvPr id="1048595" name="Content Placeholder 2"/>
          <p:cNvSpPr>
            <a:spLocks noGrp="1"/>
          </p:cNvSpPr>
          <p:nvPr>
            <p:ph idx="1"/>
          </p:nvPr>
        </p:nvSpPr>
        <p:spPr>
          <a:xfrm>
            <a:off x="609600" y="1600200"/>
            <a:ext cx="8229600" cy="4525963"/>
          </a:xfrm>
        </p:spPr>
        <p:txBody>
          <a:bodyPr>
            <a:normAutofit fontScale="84375" lnSpcReduction="20000"/>
          </a:bodyPr>
          <a:p>
            <a:r>
              <a:rPr dirty="0" lang="en-US"/>
              <a:t>Abstract</a:t>
            </a:r>
          </a:p>
          <a:p>
            <a:r>
              <a:rPr dirty="0" lang="en-US"/>
              <a:t>Introduction</a:t>
            </a:r>
          </a:p>
          <a:p>
            <a:r>
              <a:rPr dirty="0" lang="en-US"/>
              <a:t>Existing Availabilities</a:t>
            </a:r>
          </a:p>
          <a:p>
            <a:r>
              <a:rPr dirty="0" lang="en-US"/>
              <a:t>Disadvantage of existing Product</a:t>
            </a:r>
          </a:p>
          <a:p>
            <a:r>
              <a:rPr dirty="0" lang="en-US"/>
              <a:t>Proposed Product</a:t>
            </a:r>
          </a:p>
          <a:p>
            <a:r>
              <a:rPr dirty="0" lang="en-US"/>
              <a:t>Advantage of proposed Product</a:t>
            </a:r>
          </a:p>
          <a:p>
            <a:r>
              <a:rPr dirty="0" lang="en-US"/>
              <a:t>Design requirements</a:t>
            </a:r>
          </a:p>
          <a:p>
            <a:r>
              <a:rPr dirty="0" lang="en-US"/>
              <a:t>Design Diagram</a:t>
            </a:r>
          </a:p>
          <a:p>
            <a:r>
              <a:rPr dirty="0" lang="en-US" smtClean="0"/>
              <a:t>Working </a:t>
            </a:r>
            <a:r>
              <a:rPr dirty="0" lang="en-US"/>
              <a:t>Principle</a:t>
            </a:r>
          </a:p>
          <a:p>
            <a:r>
              <a:rPr dirty="0" lang="en-US" smtClean="0"/>
              <a:t>Output Photograph</a:t>
            </a:r>
            <a:endParaRPr dirty="0" lang="en-US"/>
          </a:p>
          <a:p>
            <a:r>
              <a:rPr dirty="0" lang="en-US"/>
              <a:t>Reference </a:t>
            </a:r>
          </a:p>
          <a:p>
            <a:endParaRPr dirty="0" lang="en-US"/>
          </a:p>
        </p:txBody>
      </p:sp>
      <p:sp>
        <p:nvSpPr>
          <p:cNvPr id="1048596" name="Date Placeholder 3"/>
          <p:cNvSpPr>
            <a:spLocks noGrp="1"/>
          </p:cNvSpPr>
          <p:nvPr>
            <p:ph type="dt" sz="half" idx="10"/>
          </p:nvPr>
        </p:nvSpPr>
        <p:spPr/>
        <p:txBody>
          <a:bodyPr/>
          <a:p>
            <a:fld id="{DBA50EAB-41BE-44C5-8B3C-E8577D7CCC37}" type="datetime3">
              <a:rPr lang="en-US" smtClean="0"/>
              <a:t>31 October 2023</a:t>
            </a:fld>
            <a:endParaRPr dirty="0" lang="en-US"/>
          </a:p>
        </p:txBody>
      </p:sp>
      <p:sp>
        <p:nvSpPr>
          <p:cNvPr id="1048597" name="Footer Placeholder 4"/>
          <p:cNvSpPr>
            <a:spLocks noGrp="1"/>
          </p:cNvSpPr>
          <p:nvPr>
            <p:ph type="ftr" sz="quarter" idx="11"/>
          </p:nvPr>
        </p:nvSpPr>
        <p:spPr/>
        <p:txBody>
          <a:bodyPr/>
          <a:p>
            <a:r>
              <a:rPr lang="en-US"/>
              <a:t>Department of CSE</a:t>
            </a:r>
            <a:endParaRPr dirty="0" lang="en-US"/>
          </a:p>
        </p:txBody>
      </p:sp>
      <p:sp>
        <p:nvSpPr>
          <p:cNvPr id="1048598" name="Slide Number Placeholder 5"/>
          <p:cNvSpPr>
            <a:spLocks noGrp="1"/>
          </p:cNvSpPr>
          <p:nvPr>
            <p:ph type="sldNum" sz="quarter" idx="12"/>
          </p:nvPr>
        </p:nvSpPr>
        <p:spPr/>
        <p:txBody>
          <a:bodyPr/>
          <a:p>
            <a:fld id="{C0EC1BDC-9B67-430D-970A-E36C75175141}"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99" name="Date Placeholder 3"/>
          <p:cNvSpPr>
            <a:spLocks noGrp="1"/>
          </p:cNvSpPr>
          <p:nvPr>
            <p:ph type="dt" sz="half" idx="10"/>
          </p:nvPr>
        </p:nvSpPr>
        <p:spPr/>
        <p:txBody>
          <a:bodyPr/>
          <a:p>
            <a:fld id="{E530106A-D64C-4B85-9F30-8CF68746E9AD}" type="datetime3">
              <a:rPr lang="en-US" smtClean="0"/>
              <a:t>31 October 2023</a:t>
            </a:fld>
            <a:endParaRPr lang="en-US"/>
          </a:p>
        </p:txBody>
      </p:sp>
      <p:sp>
        <p:nvSpPr>
          <p:cNvPr id="1048600" name="Footer Placeholder 4"/>
          <p:cNvSpPr>
            <a:spLocks noGrp="1"/>
          </p:cNvSpPr>
          <p:nvPr>
            <p:ph type="ftr" sz="quarter" idx="11"/>
          </p:nvPr>
        </p:nvSpPr>
        <p:spPr/>
        <p:txBody>
          <a:bodyPr/>
          <a:p>
            <a:r>
              <a:rPr lang="en-US"/>
              <a:t>Department of CSE</a:t>
            </a:r>
          </a:p>
        </p:txBody>
      </p:sp>
      <p:sp>
        <p:nvSpPr>
          <p:cNvPr id="1048601" name="Title 1"/>
          <p:cNvSpPr>
            <a:spLocks noGrp="1"/>
          </p:cNvSpPr>
          <p:nvPr>
            <p:ph type="title"/>
          </p:nvPr>
        </p:nvSpPr>
        <p:spPr>
          <a:xfrm>
            <a:off x="381000" y="381000"/>
            <a:ext cx="8229600" cy="609600"/>
          </a:xfrm>
        </p:spPr>
        <p:txBody>
          <a:bodyPr>
            <a:normAutofit fontScale="90000"/>
          </a:bodyPr>
          <a:p>
            <a:pPr algn="l"/>
            <a:r>
              <a:rPr dirty="0" lang="en-US"/>
              <a:t/>
            </a:r>
            <a:br>
              <a:rPr dirty="0" lang="en-US"/>
            </a:br>
            <a:r>
              <a:rPr dirty="0" lang="en-US"/>
              <a:t>Abstract</a:t>
            </a:r>
            <a:br>
              <a:rPr dirty="0" lang="en-US"/>
            </a:br>
            <a:endParaRPr dirty="0" lang="en-US"/>
          </a:p>
        </p:txBody>
      </p:sp>
      <p:sp>
        <p:nvSpPr>
          <p:cNvPr id="1048602" name="Content Placeholder 1"/>
          <p:cNvSpPr>
            <a:spLocks noGrp="1"/>
          </p:cNvSpPr>
          <p:nvPr>
            <p:ph idx="1"/>
          </p:nvPr>
        </p:nvSpPr>
        <p:spPr/>
        <p:txBody>
          <a:bodyPr>
            <a:normAutofit fontScale="34375" lnSpcReduction="20000"/>
          </a:bodyPr>
          <a:p>
            <a:pPr algn="just"/>
            <a:r>
              <a:rPr dirty="0" sz="5200" lang="en-US">
                <a:latin typeface="Arial" panose="020B0604020202020204" pitchFamily="34" charset="0"/>
                <a:cs typeface="Arial" panose="020B0604020202020204" pitchFamily="34" charset="0"/>
              </a:rPr>
              <a:t>Connex is a dynamic and user-centric mobile application designed to bridge the gap between volunteers, service providers, and those in need. It serves as a comprehensive platform to connect individuals and organizations interested in community service and social impact initiatives. The app facilitates the discovery, coordination, and management of community service opportunities, making it easier for users to engage in meaningful acts of service and contribute to their communities.</a:t>
            </a:r>
            <a:endParaRPr dirty="0" sz="5200" lang="en-IN">
              <a:latin typeface="Arial" panose="020B0604020202020204" pitchFamily="34" charset="0"/>
              <a:cs typeface="Arial" panose="020B0604020202020204" pitchFamily="34" charset="0"/>
            </a:endParaRPr>
          </a:p>
          <a:p>
            <a:pPr algn="just"/>
            <a:r>
              <a:rPr dirty="0" sz="5200" lang="en-IN">
                <a:latin typeface="Arial" panose="020B0604020202020204" pitchFamily="34" charset="0"/>
                <a:cs typeface="Arial" panose="020B0604020202020204" pitchFamily="34" charset="0"/>
              </a:rPr>
              <a:t>In a rapidly evolving digital age, where individuals are increasingly seeking opportunities to make meaningful contributions to society, this app serves as a powerful catalyst for connecting volunteers, service providers, and community members. The app leverages technology to address real-world challenges and facilitate a wide range of service opportunities, enabling users to bridge the gap between those in need and those willing to help</a:t>
            </a:r>
            <a:r>
              <a:rPr dirty="0" sz="5200" lang="en-IN" smtClean="0">
                <a:latin typeface="Arial" panose="020B0604020202020204" pitchFamily="34" charset="0"/>
                <a:cs typeface="Arial" panose="020B0604020202020204" pitchFamily="34" charset="0"/>
              </a:rPr>
              <a:t>.</a:t>
            </a:r>
          </a:p>
          <a:p>
            <a:pPr algn="just"/>
            <a:r>
              <a:rPr dirty="0" sz="5200" lang="en-IN" smtClean="0">
                <a:latin typeface="Arial" panose="020B0604020202020204" pitchFamily="34" charset="0"/>
                <a:cs typeface="Arial" panose="020B0604020202020204" pitchFamily="34" charset="0"/>
              </a:rPr>
              <a:t> </a:t>
            </a:r>
            <a:r>
              <a:rPr dirty="0" sz="5200" lang="en-IN">
                <a:latin typeface="Arial" panose="020B0604020202020204" pitchFamily="34" charset="0"/>
                <a:cs typeface="Arial" panose="020B0604020202020204" pitchFamily="34" charset="0"/>
              </a:rPr>
              <a:t>In an era of increased isolation and disconnectedness, the </a:t>
            </a:r>
            <a:r>
              <a:rPr dirty="0" sz="5200" lang="en-IN" smtClean="0">
                <a:latin typeface="Arial" panose="020B0604020202020204" pitchFamily="34" charset="0"/>
                <a:cs typeface="Arial" panose="020B0604020202020204" pitchFamily="34" charset="0"/>
              </a:rPr>
              <a:t>Connex </a:t>
            </a:r>
            <a:r>
              <a:rPr dirty="0" sz="5200" lang="en-IN">
                <a:latin typeface="Arial" panose="020B0604020202020204" pitchFamily="34" charset="0"/>
                <a:cs typeface="Arial" panose="020B0604020202020204" pitchFamily="34" charset="0"/>
              </a:rPr>
              <a:t>app serves as a bridge that connects individuals with shared values and a passion for giving back. By leveraging technology to facilitate community service, this app not only addresses societal needs but also promotes a sense of belonging, a culture of compassion, and a vision for a brighter and more inclusive future. This app is more than just a digital platform; it's a movement, a hub of hope, and a testament to the power of community.</a:t>
            </a:r>
          </a:p>
          <a:p>
            <a:pPr indent="0" marL="0">
              <a:buNone/>
            </a:pPr>
            <a:endParaRPr dirty="0"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06" name="Title 1"/>
          <p:cNvSpPr txBox="1"/>
          <p:nvPr/>
        </p:nvSpPr>
        <p:spPr>
          <a:xfrm>
            <a:off x="533400" y="381000"/>
            <a:ext cx="8229600" cy="655638"/>
          </a:xfrm>
          <a:prstGeom prst="rect"/>
        </p:spPr>
        <p:txBody>
          <a:bodyPr anchor="ctr" bIns="45720" lIns="91440" rIns="91440" rtlCol="0" tIns="45720" vert="horz">
            <a:normAutofit fontScale="97727" lnSpcReduction="10000"/>
          </a:bodyPr>
          <a:lstStyle>
            <a:lvl1pPr algn="ctr" defTabSz="914400" eaLnBrk="1" hangingPunct="1" latinLnBrk="0" rtl="0">
              <a:spcBef>
                <a:spcPct val="0"/>
              </a:spcBef>
              <a:buNone/>
              <a:defRPr sz="4400" kern="1200">
                <a:solidFill>
                  <a:schemeClr val="tx1"/>
                </a:solidFill>
                <a:latin typeface="+mj-lt"/>
                <a:ea typeface="+mj-ea"/>
                <a:cs typeface="+mj-cs"/>
              </a:defRPr>
            </a:lvl1pPr>
          </a:lstStyle>
          <a:p>
            <a:pPr algn="l"/>
            <a:r>
              <a:rPr dirty="0" lang="en-US">
                <a:latin typeface="Arial" pitchFamily="34" charset="0"/>
                <a:cs typeface="Arial" pitchFamily="34" charset="0"/>
              </a:rPr>
              <a:t>Introduction</a:t>
            </a:r>
          </a:p>
        </p:txBody>
      </p:sp>
      <p:sp>
        <p:nvSpPr>
          <p:cNvPr id="1048607" name="Content Placeholder 2"/>
          <p:cNvSpPr txBox="1"/>
          <p:nvPr/>
        </p:nvSpPr>
        <p:spPr>
          <a:xfrm>
            <a:off x="533400" y="1524000"/>
            <a:ext cx="8001000" cy="4002741"/>
          </a:xfrm>
          <a:prstGeom prst="rect"/>
        </p:spPr>
        <p:txBody>
          <a:bodyPr bIns="45720" lIns="91440" rIns="91440" rtlCol="0" tIns="45720" vert="horz">
            <a:normAutofit/>
          </a:bodyPr>
          <a:lst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a:lstStyle>
          <a:p>
            <a:pPr algn="just"/>
            <a:endParaRPr dirty="0" sz="2800" lang="en-US"/>
          </a:p>
        </p:txBody>
      </p:sp>
      <p:sp>
        <p:nvSpPr>
          <p:cNvPr id="1048608" name="Date Placeholder 6"/>
          <p:cNvSpPr>
            <a:spLocks noGrp="1"/>
          </p:cNvSpPr>
          <p:nvPr>
            <p:ph type="dt" sz="half" idx="10"/>
          </p:nvPr>
        </p:nvSpPr>
        <p:spPr/>
        <p:txBody>
          <a:bodyPr/>
          <a:p>
            <a:fld id="{34BF8381-4334-4BCF-A228-57F83149AF87}" type="datetime3">
              <a:rPr lang="en-US" smtClean="0"/>
              <a:t>31 October 2023</a:t>
            </a:fld>
            <a:endParaRPr lang="en-US"/>
          </a:p>
        </p:txBody>
      </p:sp>
      <p:sp>
        <p:nvSpPr>
          <p:cNvPr id="1048609" name="Footer Placeholder 7"/>
          <p:cNvSpPr>
            <a:spLocks noGrp="1"/>
          </p:cNvSpPr>
          <p:nvPr>
            <p:ph type="ftr" sz="quarter" idx="11"/>
          </p:nvPr>
        </p:nvSpPr>
        <p:spPr/>
        <p:txBody>
          <a:bodyPr/>
          <a:p>
            <a:r>
              <a:rPr lang="en-US"/>
              <a:t>Department of CSE</a:t>
            </a:r>
          </a:p>
        </p:txBody>
      </p:sp>
      <p:sp>
        <p:nvSpPr>
          <p:cNvPr id="1048610" name="Slide Number Placeholder 8"/>
          <p:cNvSpPr>
            <a:spLocks noGrp="1"/>
          </p:cNvSpPr>
          <p:nvPr>
            <p:ph type="sldNum" sz="quarter" idx="12"/>
          </p:nvPr>
        </p:nvSpPr>
        <p:spPr/>
        <p:txBody>
          <a:bodyPr/>
          <a:p>
            <a:fld id="{7B28076C-CE04-4A00-BFAA-A90EA8355859}" type="slidenum">
              <a:rPr lang="en-US" smtClean="0"/>
              <a:t>4</a:t>
            </a:fld>
            <a:endParaRPr lang="en-US"/>
          </a:p>
        </p:txBody>
      </p:sp>
      <p:sp>
        <p:nvSpPr>
          <p:cNvPr id="1048611" name="TextBox 1"/>
          <p:cNvSpPr txBox="1"/>
          <p:nvPr/>
        </p:nvSpPr>
        <p:spPr>
          <a:xfrm>
            <a:off x="594129" y="1524000"/>
            <a:ext cx="7711671" cy="5158740"/>
          </a:xfrm>
          <a:prstGeom prst="rect"/>
          <a:noFill/>
        </p:spPr>
        <p:txBody>
          <a:bodyPr rtlCol="0" wrap="square">
            <a:spAutoFit/>
          </a:bodyPr>
          <a:p>
            <a:pPr algn="just" indent="-285750" marL="285750">
              <a:buFont typeface="Arial" panose="020B0604020202020204" pitchFamily="34" charset="0"/>
              <a:buChar char="•"/>
            </a:pPr>
            <a:r>
              <a:rPr dirty="0" lang="en-IN">
                <a:latin typeface="Arial" panose="020B0604020202020204" pitchFamily="34" charset="0"/>
                <a:cs typeface="Arial" panose="020B0604020202020204" pitchFamily="34" charset="0"/>
              </a:rPr>
              <a:t>An innovative approach to a community service app involves infusing it with elements of gamification, turning the act of volunteering into an engaging and rewarding experience. The gamified version of the community service app reimagines traditional volunteering by incorporating elements such as points, badges, leader-boards, and interactive challenges. </a:t>
            </a:r>
            <a:endParaRPr dirty="0" lang="en-IN" smtClean="0">
              <a:latin typeface="Arial" panose="020B0604020202020204" pitchFamily="34" charset="0"/>
              <a:cs typeface="Arial" panose="020B0604020202020204" pitchFamily="34" charset="0"/>
            </a:endParaRPr>
          </a:p>
          <a:p>
            <a:pPr algn="just" indent="-285750" marL="285750">
              <a:buFont typeface="Arial" panose="020B0604020202020204" pitchFamily="34" charset="0"/>
              <a:buChar char="•"/>
            </a:pPr>
            <a:r>
              <a:rPr dirty="0" lang="en-IN" smtClean="0">
                <a:latin typeface="Arial" panose="020B0604020202020204" pitchFamily="34" charset="0"/>
                <a:cs typeface="Arial" panose="020B0604020202020204" pitchFamily="34" charset="0"/>
              </a:rPr>
              <a:t>Users </a:t>
            </a:r>
            <a:r>
              <a:rPr dirty="0" lang="en-IN">
                <a:latin typeface="Arial" panose="020B0604020202020204" pitchFamily="34" charset="0"/>
                <a:cs typeface="Arial" panose="020B0604020202020204" pitchFamily="34" charset="0"/>
              </a:rPr>
              <a:t>are encouraged to participate in community service activities, complete tasks, and earn rewards, creating a sense of achievement and competition. Gamification not only enhances user engagement but also increases commitment to service projects, motivating users to make a consistent and impactful contribution to their communities</a:t>
            </a:r>
            <a:r>
              <a:rPr dirty="0" lang="en-IN" smtClean="0">
                <a:latin typeface="Arial" panose="020B0604020202020204" pitchFamily="34" charset="0"/>
                <a:cs typeface="Arial" panose="020B0604020202020204" pitchFamily="34" charset="0"/>
              </a:rPr>
              <a:t>.</a:t>
            </a:r>
          </a:p>
          <a:p>
            <a:pPr algn="just" indent="-285750" marL="285750">
              <a:buFont typeface="Arial" panose="020B0604020202020204" pitchFamily="34" charset="0"/>
              <a:buChar char="•"/>
            </a:pPr>
            <a:r>
              <a:rPr dirty="0" lang="en-IN" smtClean="0">
                <a:latin typeface="Arial" panose="020B0604020202020204" pitchFamily="34" charset="0"/>
                <a:cs typeface="Arial" panose="020B0604020202020204" pitchFamily="34" charset="0"/>
              </a:rPr>
              <a:t> </a:t>
            </a:r>
            <a:r>
              <a:rPr dirty="0" lang="en-IN">
                <a:latin typeface="Arial" panose="020B0604020202020204" pitchFamily="34" charset="0"/>
                <a:cs typeface="Arial" panose="020B0604020202020204" pitchFamily="34" charset="0"/>
              </a:rPr>
              <a:t>By turning volunteering into a dynamic and interactive experience, this gamified app not only fosters a sense of community but also drives positive change, making volunteerism more accessible and enjoyable for a wider audience. This innovative approach harnesses the power of gamification to transform the way people engage with community service, making it more fun, competitive, and ultimately, more impactful.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2" name="Date Placeholder 3"/>
          <p:cNvSpPr>
            <a:spLocks noGrp="1"/>
          </p:cNvSpPr>
          <p:nvPr>
            <p:ph type="dt" sz="half" idx="10"/>
          </p:nvPr>
        </p:nvSpPr>
        <p:spPr/>
        <p:txBody>
          <a:bodyPr/>
          <a:p>
            <a:fld id="{C88A2916-C0A4-4267-9374-48ED518F9068}" type="datetime3">
              <a:rPr lang="en-US" smtClean="0"/>
              <a:t>31 October 2023</a:t>
            </a:fld>
            <a:endParaRPr lang="en-US"/>
          </a:p>
        </p:txBody>
      </p:sp>
      <p:sp>
        <p:nvSpPr>
          <p:cNvPr id="1048613" name="Footer Placeholder 4"/>
          <p:cNvSpPr>
            <a:spLocks noGrp="1"/>
          </p:cNvSpPr>
          <p:nvPr>
            <p:ph type="ftr" sz="quarter" idx="11"/>
          </p:nvPr>
        </p:nvSpPr>
        <p:spPr/>
        <p:txBody>
          <a:bodyPr/>
          <a:p>
            <a:r>
              <a:rPr lang="en-US"/>
              <a:t>Department of CSE</a:t>
            </a:r>
          </a:p>
        </p:txBody>
      </p:sp>
      <p:sp>
        <p:nvSpPr>
          <p:cNvPr id="1048614" name="Slide Number Placeholder 5"/>
          <p:cNvSpPr>
            <a:spLocks noGrp="1"/>
          </p:cNvSpPr>
          <p:nvPr>
            <p:ph type="sldNum" sz="quarter" idx="12"/>
          </p:nvPr>
        </p:nvSpPr>
        <p:spPr/>
        <p:txBody>
          <a:bodyPr/>
          <a:p>
            <a:fld id="{7B28076C-CE04-4A00-BFAA-A90EA8355859}" type="slidenum">
              <a:rPr lang="en-US" smtClean="0"/>
              <a:t>5</a:t>
            </a:fld>
            <a:endParaRPr lang="en-US"/>
          </a:p>
        </p:txBody>
      </p:sp>
      <p:sp>
        <p:nvSpPr>
          <p:cNvPr id="1048615" name="Title 1"/>
          <p:cNvSpPr>
            <a:spLocks noGrp="1"/>
          </p:cNvSpPr>
          <p:nvPr>
            <p:ph type="title"/>
          </p:nvPr>
        </p:nvSpPr>
        <p:spPr>
          <a:xfrm>
            <a:off x="381000" y="457200"/>
            <a:ext cx="8229600" cy="655638"/>
          </a:xfrm>
        </p:spPr>
        <p:txBody>
          <a:bodyPr>
            <a:normAutofit fontScale="90000"/>
          </a:bodyPr>
          <a:p>
            <a:pPr algn="l"/>
            <a:r>
              <a:rPr lang="en-US"/>
              <a:t>EXISTING AVAILABILITIES</a:t>
            </a:r>
            <a:endParaRPr dirty="0" lang="en-US"/>
          </a:p>
        </p:txBody>
      </p:sp>
      <p:sp>
        <p:nvSpPr>
          <p:cNvPr id="1048616" name="Content Placeholder 2"/>
          <p:cNvSpPr>
            <a:spLocks noGrp="1"/>
          </p:cNvSpPr>
          <p:nvPr>
            <p:ph idx="1"/>
          </p:nvPr>
        </p:nvSpPr>
        <p:spPr>
          <a:xfrm>
            <a:off x="457200" y="1600200"/>
            <a:ext cx="8229600" cy="5121275"/>
          </a:xfrm>
        </p:spPr>
        <p:txBody>
          <a:bodyPr>
            <a:noAutofit/>
          </a:bodyPr>
          <a:p>
            <a:r>
              <a:rPr dirty="0" sz="1800" lang="en-US">
                <a:latin typeface="Arial" panose="020B0604020202020204" pitchFamily="34" charset="0"/>
                <a:cs typeface="Arial" panose="020B0604020202020204" pitchFamily="34" charset="0"/>
              </a:rPr>
              <a:t>Several community service apps are available to connect users with volunteer opportunities, nonprofit organizations, and causes they are passionate </a:t>
            </a:r>
            <a:r>
              <a:rPr dirty="0" sz="1800" lang="en-US" smtClean="0">
                <a:latin typeface="Arial" panose="020B0604020202020204" pitchFamily="34" charset="0"/>
                <a:cs typeface="Arial" panose="020B0604020202020204" pitchFamily="34" charset="0"/>
              </a:rPr>
              <a:t>about.</a:t>
            </a:r>
          </a:p>
          <a:p>
            <a:r>
              <a:rPr dirty="0" sz="1800" lang="en-US" smtClean="0">
                <a:latin typeface="Arial" panose="020B0604020202020204" pitchFamily="34" charset="0"/>
                <a:cs typeface="Arial" panose="020B0604020202020204" pitchFamily="34" charset="0"/>
              </a:rPr>
              <a:t> Platforms </a:t>
            </a:r>
            <a:r>
              <a:rPr dirty="0" sz="1800" lang="en-US">
                <a:latin typeface="Arial" panose="020B0604020202020204" pitchFamily="34" charset="0"/>
                <a:cs typeface="Arial" panose="020B0604020202020204" pitchFamily="34" charset="0"/>
              </a:rPr>
              <a:t>like VolunteerMatch, GiveGab, and Serve.gov enable users to search for volunteer opportunities in the United States across various sectors, from education to disaster relief. Points of Light offers a database of volunteer opportunities and valuable resources, while Idealist focuses on connecting users with nonprofit jobs and internships. Additionally, apps like All for Good, UN Volunteers, and Cheerful Giving provide diverse platforms for discovering volunteer opportunities, including international roles and donation options. </a:t>
            </a:r>
          </a:p>
          <a:p>
            <a:r>
              <a:rPr dirty="0" sz="1800" lang="en-US" smtClean="0">
                <a:latin typeface="Arial" panose="020B0604020202020204" pitchFamily="34" charset="0"/>
                <a:cs typeface="Arial" panose="020B0604020202020204" pitchFamily="34" charset="0"/>
              </a:rPr>
              <a:t>These </a:t>
            </a:r>
            <a:r>
              <a:rPr dirty="0" sz="1800" lang="en-US">
                <a:latin typeface="Arial" panose="020B0604020202020204" pitchFamily="34" charset="0"/>
                <a:cs typeface="Arial" panose="020B0604020202020204" pitchFamily="34" charset="0"/>
              </a:rPr>
              <a:t>apps facilitate community service, making it more accessible and engaging for users, allowing them to explore opportunities, track their contributions, and connect with like-minded individuals who share a commitment to positive change.</a:t>
            </a:r>
            <a:endParaRPr dirty="0" sz="1800" lang="en-IN">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7" name="Title 1"/>
          <p:cNvSpPr>
            <a:spLocks noGrp="1"/>
          </p:cNvSpPr>
          <p:nvPr>
            <p:ph type="title"/>
          </p:nvPr>
        </p:nvSpPr>
        <p:spPr/>
        <p:txBody>
          <a:bodyPr>
            <a:normAutofit/>
          </a:bodyPr>
          <a:p>
            <a:r>
              <a:rPr dirty="0" sz="3200" lang="en-IN"/>
              <a:t>Disadvantages of the existing Product </a:t>
            </a:r>
          </a:p>
        </p:txBody>
      </p:sp>
      <p:sp>
        <p:nvSpPr>
          <p:cNvPr id="1048618" name="Content Placeholder 2"/>
          <p:cNvSpPr>
            <a:spLocks noGrp="1"/>
          </p:cNvSpPr>
          <p:nvPr>
            <p:ph idx="1"/>
          </p:nvPr>
        </p:nvSpPr>
        <p:spPr>
          <a:xfrm>
            <a:off x="432619" y="1371600"/>
            <a:ext cx="8229600" cy="4984750"/>
          </a:xfrm>
        </p:spPr>
        <p:txBody>
          <a:bodyPr>
            <a:noAutofit/>
          </a:bodyPr>
          <a:p>
            <a:pPr algn="just"/>
            <a:r>
              <a:rPr dirty="0" sz="2000" lang="en-US">
                <a:latin typeface="Arial" panose="020B0604020202020204" pitchFamily="34" charset="0"/>
                <a:cs typeface="Arial" panose="020B0604020202020204" pitchFamily="34" charset="0"/>
              </a:rPr>
              <a:t>VolunteerMatch is a great tool for finding volunteer opportunities, but it has some limitations to keep in mind. It mostly concentrates on the United States, so if you're outside the U.S. or in an area with fewer volunteer options, it might not be as useful</a:t>
            </a:r>
            <a:r>
              <a:rPr dirty="0" sz="2000" lang="en-US" smtClean="0">
                <a:latin typeface="Arial" panose="020B0604020202020204" pitchFamily="34" charset="0"/>
                <a:cs typeface="Arial" panose="020B0604020202020204" pitchFamily="34" charset="0"/>
              </a:rPr>
              <a:t>.</a:t>
            </a:r>
          </a:p>
          <a:p>
            <a:pPr algn="just"/>
            <a:r>
              <a:rPr dirty="0" sz="2000" lang="en-US" smtClean="0">
                <a:latin typeface="Arial" panose="020B0604020202020204" pitchFamily="34" charset="0"/>
                <a:cs typeface="Arial" panose="020B0604020202020204" pitchFamily="34" charset="0"/>
              </a:rPr>
              <a:t> </a:t>
            </a:r>
            <a:r>
              <a:rPr dirty="0" sz="2000" lang="en-US">
                <a:latin typeface="Arial" panose="020B0604020202020204" pitchFamily="34" charset="0"/>
                <a:cs typeface="Arial" panose="020B0604020202020204" pitchFamily="34" charset="0"/>
              </a:rPr>
              <a:t>Popular roles can be competitive, making it harder to get those positions. Users may find it challenging to secure these positions, especially when they are in high demand.</a:t>
            </a:r>
            <a:endParaRPr dirty="0" sz="2000" lang="en-US" smtClean="0">
              <a:latin typeface="Arial" panose="020B0604020202020204" pitchFamily="34" charset="0"/>
              <a:cs typeface="Arial" panose="020B0604020202020204" pitchFamily="34" charset="0"/>
            </a:endParaRPr>
          </a:p>
          <a:p>
            <a:pPr algn="just"/>
            <a:r>
              <a:rPr dirty="0" sz="2000" lang="en-US">
                <a:latin typeface="Arial" panose="020B0604020202020204" pitchFamily="34" charset="0"/>
                <a:cs typeface="Arial" panose="020B0604020202020204" pitchFamily="34" charset="0"/>
              </a:rPr>
              <a:t>VolunteerMatch's skill-based matching may not cover highly specialized skills, which could be a drawback for individuals with unique expertise</a:t>
            </a:r>
            <a:r>
              <a:rPr dirty="0" sz="2000" lang="en-US" smtClean="0">
                <a:latin typeface="Arial" panose="020B0604020202020204" pitchFamily="34" charset="0"/>
                <a:cs typeface="Arial" panose="020B0604020202020204" pitchFamily="34" charset="0"/>
              </a:rPr>
              <a:t>.</a:t>
            </a:r>
          </a:p>
          <a:p>
            <a:pPr algn="just"/>
            <a:r>
              <a:rPr dirty="0" sz="2000" lang="en-US" smtClean="0">
                <a:latin typeface="Arial" panose="020B0604020202020204" pitchFamily="34" charset="0"/>
                <a:cs typeface="Arial" panose="020B0604020202020204" pitchFamily="34" charset="0"/>
              </a:rPr>
              <a:t>Some </a:t>
            </a:r>
            <a:r>
              <a:rPr dirty="0" sz="2000" lang="en-US">
                <a:latin typeface="Arial" panose="020B0604020202020204" pitchFamily="34" charset="0"/>
                <a:cs typeface="Arial" panose="020B0604020202020204" pitchFamily="34" charset="0"/>
              </a:rPr>
              <a:t>opportunities listed might not be active, and there could be privacy concerns for some users. F</a:t>
            </a:r>
            <a:r>
              <a:rPr dirty="0" sz="2000" lang="en-US" smtClean="0">
                <a:latin typeface="Arial" panose="020B0604020202020204" pitchFamily="34" charset="0"/>
                <a:cs typeface="Arial" panose="020B0604020202020204" pitchFamily="34" charset="0"/>
              </a:rPr>
              <a:t>or </a:t>
            </a:r>
            <a:r>
              <a:rPr dirty="0" sz="2000" lang="en-US">
                <a:latin typeface="Arial" panose="020B0604020202020204" pitchFamily="34" charset="0"/>
                <a:cs typeface="Arial" panose="020B0604020202020204" pitchFamily="34" charset="0"/>
              </a:rPr>
              <a:t>those seeking international opportunities, specialized roles, or alternatives that address these limitations, exploring other community service apps might be beneficial.</a:t>
            </a:r>
            <a:endParaRPr dirty="0" sz="2000" lang="en-IN">
              <a:latin typeface="Arial" panose="020B0604020202020204" pitchFamily="34" charset="0"/>
              <a:cs typeface="Arial" panose="020B0604020202020204" pitchFamily="34" charset="0"/>
            </a:endParaRPr>
          </a:p>
        </p:txBody>
      </p:sp>
      <p:sp>
        <p:nvSpPr>
          <p:cNvPr id="1048619"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20" name="Footer Placeholder 4"/>
          <p:cNvSpPr>
            <a:spLocks noGrp="1"/>
          </p:cNvSpPr>
          <p:nvPr>
            <p:ph type="ftr" sz="quarter" idx="11"/>
          </p:nvPr>
        </p:nvSpPr>
        <p:spPr/>
        <p:txBody>
          <a:bodyPr/>
          <a:p>
            <a:r>
              <a:rPr lang="en-US"/>
              <a:t>Department of CSE</a:t>
            </a:r>
          </a:p>
        </p:txBody>
      </p:sp>
      <p:sp>
        <p:nvSpPr>
          <p:cNvPr id="1048621" name="Slide Number Placeholder 5"/>
          <p:cNvSpPr>
            <a:spLocks noGrp="1"/>
          </p:cNvSpPr>
          <p:nvPr>
            <p:ph type="sldNum" sz="quarter" idx="12"/>
          </p:nvPr>
        </p:nvSpPr>
        <p:spPr/>
        <p:txBody>
          <a:bodyPr/>
          <a:p>
            <a:fld id="{7B28076C-CE04-4A00-BFAA-A90EA8355859}"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22" name="Title 1"/>
          <p:cNvSpPr>
            <a:spLocks noGrp="1"/>
          </p:cNvSpPr>
          <p:nvPr>
            <p:ph type="title"/>
          </p:nvPr>
        </p:nvSpPr>
        <p:spPr/>
        <p:txBody>
          <a:bodyPr/>
          <a:p>
            <a:pPr algn="l"/>
            <a:r>
              <a:rPr dirty="0" sz="4000" lang="en-US"/>
              <a:t>Proposed Product</a:t>
            </a:r>
            <a:endParaRPr dirty="0" lang="en-IN"/>
          </a:p>
        </p:txBody>
      </p:sp>
      <p:sp>
        <p:nvSpPr>
          <p:cNvPr id="1048623" name="Content Placeholder 2"/>
          <p:cNvSpPr>
            <a:spLocks noGrp="1"/>
          </p:cNvSpPr>
          <p:nvPr>
            <p:ph idx="1"/>
          </p:nvPr>
        </p:nvSpPr>
        <p:spPr/>
        <p:txBody>
          <a:bodyPr>
            <a:normAutofit fontScale="65625" lnSpcReduction="20000"/>
          </a:bodyPr>
          <a:p>
            <a:r>
              <a:rPr dirty="0" lang="en-US" smtClean="0"/>
              <a:t>The ‘Connex’ </a:t>
            </a:r>
            <a:r>
              <a:rPr dirty="0" lang="en-US"/>
              <a:t>app is all about simplifying volunteering and giving back. Users can easily discover volunteer opportunities that match their interests, from environmental causes to education. The app helps them sign up for these events, track their service hours, and even create reports for school or personal use. It also has a donation feature, making it effortless for users to support causes they care about. To make the volunteering experience even more exciting, users earn points for their activities and donations, which can be redeemed for rewards. </a:t>
            </a:r>
            <a:endParaRPr dirty="0" lang="en-US" smtClean="0"/>
          </a:p>
          <a:p>
            <a:r>
              <a:rPr dirty="0" lang="en-US" smtClean="0"/>
              <a:t>The </a:t>
            </a:r>
            <a:r>
              <a:rPr dirty="0" lang="en-US"/>
              <a:t>app is not just about doing good but also learning and connecting. Users can access educational content on social issues and personal development, and they can join forums and groups to connect with others who share their passion for making a positive impact. With features like event management, notifications, and feedback options, this app is designed to be an all-in-one platform for accessible, engaging, and rewarding volunteering.</a:t>
            </a:r>
            <a:endParaRPr dirty="0" lang="en-IN"/>
          </a:p>
        </p:txBody>
      </p:sp>
      <p:sp>
        <p:nvSpPr>
          <p:cNvPr id="1048624"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25" name="Footer Placeholder 4"/>
          <p:cNvSpPr>
            <a:spLocks noGrp="1"/>
          </p:cNvSpPr>
          <p:nvPr>
            <p:ph type="ftr" sz="quarter" idx="11"/>
          </p:nvPr>
        </p:nvSpPr>
        <p:spPr/>
        <p:txBody>
          <a:bodyPr/>
          <a:p>
            <a:r>
              <a:rPr lang="en-US"/>
              <a:t>Department of CSE</a:t>
            </a:r>
          </a:p>
        </p:txBody>
      </p:sp>
      <p:sp>
        <p:nvSpPr>
          <p:cNvPr id="1048626" name="Slide Number Placeholder 5"/>
          <p:cNvSpPr>
            <a:spLocks noGrp="1"/>
          </p:cNvSpPr>
          <p:nvPr>
            <p:ph type="sldNum" sz="quarter" idx="12"/>
          </p:nvPr>
        </p:nvSpPr>
        <p:spPr/>
        <p:txBody>
          <a:bodyPr/>
          <a:p>
            <a:fld id="{7B28076C-CE04-4A00-BFAA-A90EA835585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27" name="Title 1"/>
          <p:cNvSpPr>
            <a:spLocks noGrp="1"/>
          </p:cNvSpPr>
          <p:nvPr>
            <p:ph type="title"/>
          </p:nvPr>
        </p:nvSpPr>
        <p:spPr>
          <a:xfrm>
            <a:off x="381000" y="-76200"/>
            <a:ext cx="8229600" cy="1143000"/>
          </a:xfrm>
        </p:spPr>
        <p:txBody>
          <a:bodyPr>
            <a:normAutofit fontScale="97297"/>
          </a:bodyPr>
          <a:p>
            <a:r>
              <a:rPr dirty="0" sz="3700" lang="en-IN">
                <a:latin typeface="Arial" panose="020B0604020202020204" pitchFamily="34" charset="0"/>
                <a:cs typeface="Arial" panose="020B0604020202020204" pitchFamily="34" charset="0"/>
              </a:rPr>
              <a:t>Advantages of the proposed product </a:t>
            </a:r>
          </a:p>
        </p:txBody>
      </p:sp>
      <p:sp>
        <p:nvSpPr>
          <p:cNvPr id="1048628" name="Content Placeholder 2"/>
          <p:cNvSpPr>
            <a:spLocks noGrp="1"/>
          </p:cNvSpPr>
          <p:nvPr>
            <p:ph idx="1"/>
          </p:nvPr>
        </p:nvSpPr>
        <p:spPr/>
        <p:txBody>
          <a:bodyPr>
            <a:normAutofit fontScale="75000" lnSpcReduction="20000"/>
          </a:bodyPr>
          <a:p>
            <a:r>
              <a:rPr dirty="0" lang="en-US"/>
              <a:t> With gamification elements like points, badges, and leaderboards, users can earn rewards and compete with others, making volunteering feel like a game. They can share their volunteer activities on social media, inspiring their friends to get involved too. </a:t>
            </a:r>
            <a:endParaRPr dirty="0" lang="en-US" smtClean="0"/>
          </a:p>
          <a:p>
            <a:r>
              <a:rPr dirty="0" lang="en-US" smtClean="0"/>
              <a:t>The </a:t>
            </a:r>
            <a:r>
              <a:rPr dirty="0" lang="en-US"/>
              <a:t>app can also recommend personalized volunteer opportunities based on users' interests and skills. Users can track their service hours and generate reports, which is great for students and building a volunteer portfolio</a:t>
            </a:r>
            <a:r>
              <a:rPr dirty="0" lang="en-US" smtClean="0"/>
              <a:t>.</a:t>
            </a:r>
          </a:p>
          <a:p>
            <a:r>
              <a:rPr dirty="0" lang="en-US" smtClean="0"/>
              <a:t> </a:t>
            </a:r>
            <a:r>
              <a:rPr dirty="0" lang="en-US"/>
              <a:t>Plus, they can see the impact they're making, which motivates them to keep giving back. And </a:t>
            </a:r>
            <a:r>
              <a:rPr dirty="0" lang="en-US" smtClean="0"/>
              <a:t>features </a:t>
            </a:r>
            <a:r>
              <a:rPr dirty="0" lang="en-US"/>
              <a:t>like event management, community forums, notifications, donation integration, and feedback options to make the app even more </a:t>
            </a:r>
            <a:r>
              <a:rPr dirty="0" lang="en-US" smtClean="0"/>
              <a:t>awesome.</a:t>
            </a:r>
            <a:endParaRPr dirty="0" lang="en-IN"/>
          </a:p>
        </p:txBody>
      </p:sp>
      <p:sp>
        <p:nvSpPr>
          <p:cNvPr id="1048629"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30" name="Footer Placeholder 4"/>
          <p:cNvSpPr>
            <a:spLocks noGrp="1"/>
          </p:cNvSpPr>
          <p:nvPr>
            <p:ph type="ftr" sz="quarter" idx="11"/>
          </p:nvPr>
        </p:nvSpPr>
        <p:spPr/>
        <p:txBody>
          <a:bodyPr/>
          <a:p>
            <a:r>
              <a:rPr lang="en-US"/>
              <a:t>Department of CSE</a:t>
            </a:r>
          </a:p>
        </p:txBody>
      </p:sp>
      <p:sp>
        <p:nvSpPr>
          <p:cNvPr id="1048631" name="Slide Number Placeholder 5"/>
          <p:cNvSpPr>
            <a:spLocks noGrp="1"/>
          </p:cNvSpPr>
          <p:nvPr>
            <p:ph type="sldNum" sz="quarter" idx="12"/>
          </p:nvPr>
        </p:nvSpPr>
        <p:spPr/>
        <p:txBody>
          <a:bodyPr/>
          <a:p>
            <a:fld id="{7B28076C-CE04-4A00-BFAA-A90EA8355859}"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32" name="Title 1"/>
          <p:cNvSpPr>
            <a:spLocks noGrp="1"/>
          </p:cNvSpPr>
          <p:nvPr>
            <p:ph type="title"/>
          </p:nvPr>
        </p:nvSpPr>
        <p:spPr>
          <a:xfrm>
            <a:off x="298940" y="184355"/>
            <a:ext cx="8229600" cy="1143000"/>
          </a:xfrm>
        </p:spPr>
        <p:txBody>
          <a:bodyPr>
            <a:normAutofit/>
          </a:bodyPr>
          <a:p>
            <a:r>
              <a:rPr dirty="0" lang="en-IN"/>
              <a:t>Design Requirements</a:t>
            </a:r>
          </a:p>
        </p:txBody>
      </p:sp>
      <p:sp>
        <p:nvSpPr>
          <p:cNvPr id="1048633" name="Content Placeholder 2"/>
          <p:cNvSpPr>
            <a:spLocks noGrp="1"/>
          </p:cNvSpPr>
          <p:nvPr>
            <p:ph idx="1"/>
          </p:nvPr>
        </p:nvSpPr>
        <p:spPr>
          <a:xfrm>
            <a:off x="457200" y="1327355"/>
            <a:ext cx="8229600" cy="5197475"/>
          </a:xfrm>
        </p:spPr>
        <p:txBody>
          <a:bodyPr>
            <a:normAutofit fontScale="25000" lnSpcReduction="20000"/>
          </a:bodyPr>
          <a:p>
            <a:pPr indent="0" marL="0">
              <a:buNone/>
            </a:pPr>
            <a:r>
              <a:rPr b="1" dirty="0" sz="6400" lang="en-US" smtClean="0">
                <a:latin typeface="Arial" panose="020B0604020202020204" pitchFamily="34" charset="0"/>
                <a:cs typeface="Arial" panose="020B0604020202020204" pitchFamily="34" charset="0"/>
              </a:rPr>
              <a:t>HARDWARE REQUIREMENTS:</a:t>
            </a:r>
            <a:endParaRPr b="1" dirty="0" sz="6400" lang="en-IN">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1.Computer: </a:t>
            </a:r>
            <a:r>
              <a:rPr dirty="0" sz="6400" lang="en-US">
                <a:latin typeface="Arial" panose="020B0604020202020204" pitchFamily="34" charset="0"/>
                <a:cs typeface="Arial" panose="020B0604020202020204" pitchFamily="34" charset="0"/>
              </a:rPr>
              <a:t>A capable PC or Mac is essential, ensuring smooth app development by running necessary software effectively.</a:t>
            </a:r>
          </a:p>
          <a:p>
            <a:pPr indent="0" marL="0">
              <a:buNone/>
            </a:pPr>
            <a:endParaRPr dirty="0" sz="6400" lang="en-US">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2.Smartphone </a:t>
            </a:r>
            <a:r>
              <a:rPr dirty="0" sz="6400" lang="en-US">
                <a:latin typeface="Arial" panose="020B0604020202020204" pitchFamily="34" charset="0"/>
                <a:cs typeface="Arial" panose="020B0604020202020204" pitchFamily="34" charset="0"/>
              </a:rPr>
              <a:t>or Tablet</a:t>
            </a:r>
            <a:r>
              <a:rPr dirty="0" sz="6400" lang="en-US" smtClean="0">
                <a:latin typeface="Arial" panose="020B0604020202020204" pitchFamily="34" charset="0"/>
                <a:cs typeface="Arial" panose="020B0604020202020204" pitchFamily="34" charset="0"/>
              </a:rPr>
              <a:t>: </a:t>
            </a:r>
            <a:r>
              <a:rPr dirty="0" sz="6400" lang="en-US">
                <a:latin typeface="Arial" panose="020B0604020202020204" pitchFamily="34" charset="0"/>
                <a:cs typeface="Arial" panose="020B0604020202020204" pitchFamily="34" charset="0"/>
              </a:rPr>
              <a:t>Testing on your device is crucial to assess app performance and ensure compatibility with various screens and OS versions.</a:t>
            </a:r>
          </a:p>
          <a:p>
            <a:pPr indent="0" marL="0">
              <a:buNone/>
            </a:pPr>
            <a:endParaRPr dirty="0" sz="6400" lang="en-US">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3.Reliable </a:t>
            </a:r>
            <a:r>
              <a:rPr dirty="0" sz="6400" lang="en-US">
                <a:latin typeface="Arial" panose="020B0604020202020204" pitchFamily="34" charset="0"/>
                <a:cs typeface="Arial" panose="020B0604020202020204" pitchFamily="34" charset="0"/>
              </a:rPr>
              <a:t>Internet Connection</a:t>
            </a:r>
            <a:r>
              <a:rPr dirty="0" sz="6400" lang="en-US" smtClean="0">
                <a:latin typeface="Arial" panose="020B0604020202020204" pitchFamily="34" charset="0"/>
                <a:cs typeface="Arial" panose="020B0604020202020204" pitchFamily="34" charset="0"/>
              </a:rPr>
              <a:t>: </a:t>
            </a:r>
            <a:r>
              <a:rPr dirty="0" sz="6400" lang="en-US">
                <a:latin typeface="Arial" panose="020B0604020202020204" pitchFamily="34" charset="0"/>
                <a:cs typeface="Arial" panose="020B0604020202020204" pitchFamily="34" charset="0"/>
              </a:rPr>
              <a:t>A dependable internet connection is vital for downloading SDKs, libraries, and accessing online development resources.</a:t>
            </a:r>
          </a:p>
          <a:p>
            <a:pPr indent="0" marL="0">
              <a:buNone/>
            </a:pPr>
            <a:endParaRPr dirty="0" sz="6400" lang="en-US">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4.SDKs </a:t>
            </a:r>
            <a:r>
              <a:rPr dirty="0" sz="6400" lang="en-US">
                <a:latin typeface="Arial" panose="020B0604020202020204" pitchFamily="34" charset="0"/>
                <a:cs typeface="Arial" panose="020B0604020202020204" pitchFamily="34" charset="0"/>
              </a:rPr>
              <a:t>and Tools</a:t>
            </a:r>
            <a:r>
              <a:rPr dirty="0" sz="6400" lang="en-US" smtClean="0">
                <a:latin typeface="Arial" panose="020B0604020202020204" pitchFamily="34" charset="0"/>
                <a:cs typeface="Arial" panose="020B0604020202020204" pitchFamily="34" charset="0"/>
              </a:rPr>
              <a:t>: </a:t>
            </a:r>
            <a:r>
              <a:rPr dirty="0" sz="6400" lang="en-US">
                <a:latin typeface="Arial" panose="020B0604020202020204" pitchFamily="34" charset="0"/>
                <a:cs typeface="Arial" panose="020B0604020202020204" pitchFamily="34" charset="0"/>
              </a:rPr>
              <a:t>Choose the appropriate SDKs and tools for your platform (iOS, Android, etc.) to provide essential frameworks and APIs for app creation.</a:t>
            </a:r>
          </a:p>
          <a:p>
            <a:pPr indent="0" marL="0">
              <a:buNone/>
            </a:pPr>
            <a:endParaRPr dirty="0" sz="6400" lang="en-US">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5.Storage </a:t>
            </a:r>
            <a:r>
              <a:rPr dirty="0" sz="6400" lang="en-US">
                <a:latin typeface="Arial" panose="020B0604020202020204" pitchFamily="34" charset="0"/>
                <a:cs typeface="Arial" panose="020B0604020202020204" pitchFamily="34" charset="0"/>
              </a:rPr>
              <a:t>Space</a:t>
            </a:r>
            <a:r>
              <a:rPr dirty="0" sz="6400" lang="en-US" smtClean="0">
                <a:latin typeface="Arial" panose="020B0604020202020204" pitchFamily="34" charset="0"/>
                <a:cs typeface="Arial" panose="020B0604020202020204" pitchFamily="34" charset="0"/>
              </a:rPr>
              <a:t>: </a:t>
            </a:r>
            <a:r>
              <a:rPr dirty="0" sz="6400" lang="en-US">
                <a:latin typeface="Arial" panose="020B0604020202020204" pitchFamily="34" charset="0"/>
                <a:cs typeface="Arial" panose="020B0604020202020204" pitchFamily="34" charset="0"/>
              </a:rPr>
              <a:t>Sufficient storage on your computer is needed to store project files, libraries, and resources during app development.</a:t>
            </a:r>
          </a:p>
          <a:p>
            <a:pPr indent="0" marL="0">
              <a:buNone/>
            </a:pPr>
            <a:endParaRPr dirty="0" sz="6400" lang="en-US">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6.Compatible </a:t>
            </a:r>
            <a:r>
              <a:rPr dirty="0" sz="6400" lang="en-US">
                <a:latin typeface="Arial" panose="020B0604020202020204" pitchFamily="34" charset="0"/>
                <a:cs typeface="Arial" panose="020B0604020202020204" pitchFamily="34" charset="0"/>
              </a:rPr>
              <a:t>OS</a:t>
            </a:r>
            <a:r>
              <a:rPr dirty="0" sz="6400" lang="en-US" smtClean="0">
                <a:latin typeface="Arial" panose="020B0604020202020204" pitchFamily="34" charset="0"/>
                <a:cs typeface="Arial" panose="020B0604020202020204" pitchFamily="34" charset="0"/>
              </a:rPr>
              <a:t>: </a:t>
            </a:r>
            <a:r>
              <a:rPr dirty="0" sz="6400" lang="en-US">
                <a:latin typeface="Arial" panose="020B0604020202020204" pitchFamily="34" charset="0"/>
                <a:cs typeface="Arial" panose="020B0604020202020204" pitchFamily="34" charset="0"/>
              </a:rPr>
              <a:t>Ensure your computer runs a compatible operating system (Windows, macOS, Linux) meeting the requirements of your target platform.</a:t>
            </a:r>
          </a:p>
          <a:p>
            <a:pPr indent="0" marL="0">
              <a:buNone/>
            </a:pPr>
            <a:endParaRPr dirty="0" sz="6400" lang="en-US">
              <a:latin typeface="Arial" panose="020B0604020202020204" pitchFamily="34" charset="0"/>
              <a:cs typeface="Arial" panose="020B0604020202020204" pitchFamily="34" charset="0"/>
            </a:endParaRPr>
          </a:p>
          <a:p>
            <a:pPr indent="0" marL="0">
              <a:buNone/>
            </a:pPr>
            <a:r>
              <a:rPr dirty="0" sz="6400" lang="en-US" smtClean="0">
                <a:latin typeface="Arial" panose="020B0604020202020204" pitchFamily="34" charset="0"/>
                <a:cs typeface="Arial" panose="020B0604020202020204" pitchFamily="34" charset="0"/>
              </a:rPr>
              <a:t>7.Additional </a:t>
            </a:r>
            <a:r>
              <a:rPr dirty="0" sz="6400" lang="en-US">
                <a:latin typeface="Arial" panose="020B0604020202020204" pitchFamily="34" charset="0"/>
                <a:cs typeface="Arial" panose="020B0604020202020204" pitchFamily="34" charset="0"/>
              </a:rPr>
              <a:t>Peripherals</a:t>
            </a:r>
            <a:r>
              <a:rPr dirty="0" sz="6400" lang="en-US" smtClean="0">
                <a:latin typeface="Arial" panose="020B0604020202020204" pitchFamily="34" charset="0"/>
                <a:cs typeface="Arial" panose="020B0604020202020204" pitchFamily="34" charset="0"/>
              </a:rPr>
              <a:t>: </a:t>
            </a:r>
            <a:r>
              <a:rPr dirty="0" sz="6400" lang="en-US">
                <a:latin typeface="Arial" panose="020B0604020202020204" pitchFamily="34" charset="0"/>
                <a:cs typeface="Arial" panose="020B0604020202020204" pitchFamily="34" charset="0"/>
              </a:rPr>
              <a:t>While optional, peripherals like a keyboard, mouse, and external monitor can enhance productivity and comfort </a:t>
            </a:r>
            <a:r>
              <a:rPr dirty="0" sz="6400" lang="en-US" smtClean="0">
                <a:latin typeface="Arial" panose="020B0604020202020204" pitchFamily="34" charset="0"/>
                <a:cs typeface="Arial" panose="020B0604020202020204" pitchFamily="34" charset="0"/>
              </a:rPr>
              <a:t>during </a:t>
            </a:r>
            <a:r>
              <a:rPr dirty="0" sz="6400" lang="en-US">
                <a:latin typeface="Arial" panose="020B0604020202020204" pitchFamily="34" charset="0"/>
                <a:cs typeface="Arial" panose="020B0604020202020204" pitchFamily="34" charset="0"/>
              </a:rPr>
              <a:t>coding</a:t>
            </a:r>
            <a:r>
              <a:rPr dirty="0" sz="6400" lang="en-US" smtClean="0">
                <a:latin typeface="Arial" panose="020B0604020202020204" pitchFamily="34" charset="0"/>
                <a:cs typeface="Arial" panose="020B0604020202020204" pitchFamily="34" charset="0"/>
              </a:rPr>
              <a:t>.</a:t>
            </a:r>
          </a:p>
          <a:p>
            <a:pPr indent="0" marL="0">
              <a:buNone/>
            </a:pPr>
            <a:endParaRPr dirty="0" sz="5600" lang="en-US">
              <a:latin typeface="Arial" panose="020B0604020202020204" pitchFamily="34" charset="0"/>
              <a:cs typeface="Arial" panose="020B0604020202020204" pitchFamily="34" charset="0"/>
            </a:endParaRPr>
          </a:p>
          <a:p>
            <a:pPr indent="0" marL="0">
              <a:buNone/>
            </a:pPr>
            <a:endParaRPr dirty="0" sz="3700" lang="en-US" smtClean="0">
              <a:latin typeface="Arial" panose="020B0604020202020204" pitchFamily="34" charset="0"/>
              <a:cs typeface="Arial" panose="020B0604020202020204" pitchFamily="34" charset="0"/>
            </a:endParaRPr>
          </a:p>
          <a:p>
            <a:pPr indent="0" marL="0">
              <a:buNone/>
            </a:pPr>
            <a:endParaRPr dirty="0" sz="3700" lang="en-US">
              <a:latin typeface="Arial" panose="020B0604020202020204" pitchFamily="34" charset="0"/>
              <a:cs typeface="Arial" panose="020B0604020202020204" pitchFamily="34" charset="0"/>
            </a:endParaRPr>
          </a:p>
          <a:p>
            <a:endParaRPr dirty="0" lang="en-US">
              <a:latin typeface="Arial" panose="020B0604020202020204" pitchFamily="34" charset="0"/>
              <a:cs typeface="Arial" panose="020B0604020202020204" pitchFamily="34" charset="0"/>
            </a:endParaRPr>
          </a:p>
          <a:p>
            <a:pPr indent="0" marL="0">
              <a:buNone/>
            </a:pPr>
            <a:endParaRPr b="1" dirty="0" lang="en-IN">
              <a:latin typeface="Arial" panose="020B0604020202020204" pitchFamily="34" charset="0"/>
              <a:cs typeface="Arial" panose="020B0604020202020204" pitchFamily="34" charset="0"/>
            </a:endParaRPr>
          </a:p>
        </p:txBody>
      </p:sp>
      <p:sp>
        <p:nvSpPr>
          <p:cNvPr id="1048634" name="Footer Placeholder 4"/>
          <p:cNvSpPr>
            <a:spLocks noGrp="1"/>
          </p:cNvSpPr>
          <p:nvPr>
            <p:ph type="ftr" sz="quarter" idx="11"/>
          </p:nvPr>
        </p:nvSpPr>
        <p:spPr/>
        <p:txBody>
          <a:bodyPr/>
          <a:p>
            <a:r>
              <a:rPr lang="en-US"/>
              <a:t>Department of CSE</a:t>
            </a:r>
          </a:p>
        </p:txBody>
      </p:sp>
      <p:sp>
        <p:nvSpPr>
          <p:cNvPr id="1048635" name="Slide Number Placeholder 5"/>
          <p:cNvSpPr>
            <a:spLocks noGrp="1"/>
          </p:cNvSpPr>
          <p:nvPr>
            <p:ph type="sldNum" sz="quarter" idx="12"/>
          </p:nvPr>
        </p:nvSpPr>
        <p:spPr/>
        <p:txBody>
          <a:bodyPr/>
          <a:p>
            <a:fld id="{7B28076C-CE04-4A00-BFAA-A90EA8355859}"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36" name="Content Placeholder 2"/>
          <p:cNvSpPr>
            <a:spLocks noGrp="1"/>
          </p:cNvSpPr>
          <p:nvPr>
            <p:ph idx="1"/>
          </p:nvPr>
        </p:nvSpPr>
        <p:spPr>
          <a:xfrm>
            <a:off x="467032" y="1371600"/>
            <a:ext cx="8229600" cy="5105400"/>
          </a:xfrm>
        </p:spPr>
        <p:txBody>
          <a:bodyPr>
            <a:normAutofit fontScale="37500" lnSpcReduction="20000"/>
          </a:bodyPr>
          <a:p>
            <a:pPr indent="0" marL="0">
              <a:buNone/>
            </a:pPr>
            <a:r>
              <a:rPr b="1" dirty="0" sz="3800" lang="en-US" smtClean="0">
                <a:latin typeface="Arial" panose="020B0604020202020204" pitchFamily="34" charset="0"/>
                <a:cs typeface="Arial" panose="020B0604020202020204" pitchFamily="34" charset="0"/>
              </a:rPr>
              <a:t>SOFTWARE REQUIREMENTS</a:t>
            </a:r>
            <a:r>
              <a:rPr b="1" dirty="0" sz="3800" lang="en-US" smtClean="0">
                <a:latin typeface="Arial" panose="020B0604020202020204" pitchFamily="34" charset="0"/>
                <a:cs typeface="Arial" panose="020B0604020202020204" pitchFamily="34" charset="0"/>
              </a:rPr>
              <a:t>:</a:t>
            </a:r>
          </a:p>
          <a:p>
            <a:pPr indent="0" marL="0">
              <a:buNone/>
            </a:pPr>
            <a:endParaRPr b="1" dirty="0" sz="3800" lang="en-US" smtClean="0">
              <a:latin typeface="Arial" panose="020B0604020202020204" pitchFamily="34" charset="0"/>
              <a:cs typeface="Arial" panose="020B0604020202020204" pitchFamily="34" charset="0"/>
            </a:endParaRPr>
          </a:p>
          <a:p>
            <a:pPr lvl="0"/>
            <a:r>
              <a:rPr dirty="0" sz="3500" i="1" lang="en-IN">
                <a:latin typeface="Arial" panose="020B0604020202020204" pitchFamily="34" charset="0"/>
                <a:cs typeface="Arial" panose="020B0604020202020204" pitchFamily="34" charset="0"/>
              </a:rPr>
              <a:t>Operating Systems:</a:t>
            </a:r>
            <a:endParaRPr dirty="0" sz="3500" lang="en-IN">
              <a:latin typeface="Arial" panose="020B0604020202020204" pitchFamily="34" charset="0"/>
              <a:cs typeface="Arial" panose="020B0604020202020204" pitchFamily="34" charset="0"/>
            </a:endParaRPr>
          </a:p>
          <a:p>
            <a:pPr lvl="1"/>
            <a:r>
              <a:rPr dirty="0" sz="3500" lang="en-IN">
                <a:latin typeface="Arial" panose="020B0604020202020204" pitchFamily="34" charset="0"/>
                <a:cs typeface="Arial" panose="020B0604020202020204" pitchFamily="34" charset="0"/>
              </a:rPr>
              <a:t>Windows, </a:t>
            </a:r>
            <a:r>
              <a:rPr dirty="0" sz="3500" lang="en-IN" err="1">
                <a:latin typeface="Arial" panose="020B0604020202020204" pitchFamily="34" charset="0"/>
                <a:cs typeface="Arial" panose="020B0604020202020204" pitchFamily="34" charset="0"/>
              </a:rPr>
              <a:t>macOS</a:t>
            </a:r>
            <a:r>
              <a:rPr dirty="0" sz="3500" lang="en-IN">
                <a:latin typeface="Arial" panose="020B0604020202020204" pitchFamily="34" charset="0"/>
                <a:cs typeface="Arial" panose="020B0604020202020204" pitchFamily="34" charset="0"/>
              </a:rPr>
              <a:t>, Linux for development and testing.</a:t>
            </a:r>
          </a:p>
          <a:p>
            <a:pPr lvl="1"/>
            <a:r>
              <a:rPr dirty="0" sz="3500" lang="en-IN">
                <a:latin typeface="Arial" panose="020B0604020202020204" pitchFamily="34" charset="0"/>
                <a:cs typeface="Arial" panose="020B0604020202020204" pitchFamily="34" charset="0"/>
              </a:rPr>
              <a:t>iOS and Android for mobile app development.</a:t>
            </a:r>
          </a:p>
          <a:p>
            <a:pPr lvl="0"/>
            <a:r>
              <a:rPr dirty="0" sz="3500" i="1" lang="en-IN">
                <a:latin typeface="Arial" panose="020B0604020202020204" pitchFamily="34" charset="0"/>
                <a:cs typeface="Arial" panose="020B0604020202020204" pitchFamily="34" charset="0"/>
              </a:rPr>
              <a:t>User Interface (UI) Design:</a:t>
            </a:r>
            <a:endParaRPr dirty="0" sz="3500" lang="en-IN">
              <a:latin typeface="Arial" panose="020B0604020202020204" pitchFamily="34" charset="0"/>
              <a:cs typeface="Arial" panose="020B0604020202020204" pitchFamily="34" charset="0"/>
            </a:endParaRPr>
          </a:p>
          <a:p>
            <a:pPr lvl="1"/>
            <a:r>
              <a:rPr dirty="0" sz="3500" lang="en-IN">
                <a:latin typeface="Arial" panose="020B0604020202020204" pitchFamily="34" charset="0"/>
                <a:cs typeface="Arial" panose="020B0604020202020204" pitchFamily="34" charset="0"/>
              </a:rPr>
              <a:t>Design software like Adobe XD, Sketch, or </a:t>
            </a:r>
            <a:r>
              <a:rPr dirty="0" sz="3500" lang="en-IN" err="1">
                <a:latin typeface="Arial" panose="020B0604020202020204" pitchFamily="34" charset="0"/>
                <a:cs typeface="Arial" panose="020B0604020202020204" pitchFamily="34" charset="0"/>
              </a:rPr>
              <a:t>InVision</a:t>
            </a:r>
            <a:r>
              <a:rPr dirty="0" sz="3500" lang="en-IN">
                <a:latin typeface="Arial" panose="020B0604020202020204" pitchFamily="34" charset="0"/>
                <a:cs typeface="Arial" panose="020B0604020202020204" pitchFamily="34" charset="0"/>
              </a:rPr>
              <a:t> for creating </a:t>
            </a:r>
            <a:r>
              <a:rPr dirty="0" sz="3500" lang="en-IN" err="1">
                <a:latin typeface="Arial" panose="020B0604020202020204" pitchFamily="34" charset="0"/>
                <a:cs typeface="Arial" panose="020B0604020202020204" pitchFamily="34" charset="0"/>
              </a:rPr>
              <a:t>mockups</a:t>
            </a:r>
            <a:r>
              <a:rPr dirty="0" sz="3500" lang="en-IN">
                <a:latin typeface="Arial" panose="020B0604020202020204" pitchFamily="34" charset="0"/>
                <a:cs typeface="Arial" panose="020B0604020202020204" pitchFamily="34" charset="0"/>
              </a:rPr>
              <a:t> and user interfaces.</a:t>
            </a:r>
          </a:p>
          <a:p>
            <a:pPr lvl="1"/>
            <a:r>
              <a:rPr dirty="0" sz="3500" lang="en-IN">
                <a:latin typeface="Arial" panose="020B0604020202020204" pitchFamily="34" charset="0"/>
                <a:cs typeface="Arial" panose="020B0604020202020204" pitchFamily="34" charset="0"/>
              </a:rPr>
              <a:t>Bootstrap or other CSS frameworks for creating responsive web layouts.</a:t>
            </a:r>
          </a:p>
          <a:p>
            <a:pPr lvl="0"/>
            <a:r>
              <a:rPr dirty="0" sz="3500" i="1" lang="en-IN">
                <a:latin typeface="Arial" panose="020B0604020202020204" pitchFamily="34" charset="0"/>
                <a:cs typeface="Arial" panose="020B0604020202020204" pitchFamily="34" charset="0"/>
              </a:rPr>
              <a:t>Mobile Development Tools:</a:t>
            </a:r>
            <a:endParaRPr dirty="0" sz="3500" lang="en-IN">
              <a:latin typeface="Arial" panose="020B0604020202020204" pitchFamily="34" charset="0"/>
              <a:cs typeface="Arial" panose="020B0604020202020204" pitchFamily="34" charset="0"/>
            </a:endParaRPr>
          </a:p>
          <a:p>
            <a:pPr lvl="1"/>
            <a:r>
              <a:rPr dirty="0" sz="3500" lang="en-IN">
                <a:latin typeface="Arial" panose="020B0604020202020204" pitchFamily="34" charset="0"/>
                <a:cs typeface="Arial" panose="020B0604020202020204" pitchFamily="34" charset="0"/>
              </a:rPr>
              <a:t>Android Studio and </a:t>
            </a:r>
            <a:r>
              <a:rPr dirty="0" sz="3500" lang="en-IN" err="1">
                <a:latin typeface="Arial" panose="020B0604020202020204" pitchFamily="34" charset="0"/>
                <a:cs typeface="Arial" panose="020B0604020202020204" pitchFamily="34" charset="0"/>
              </a:rPr>
              <a:t>Xcode</a:t>
            </a:r>
            <a:r>
              <a:rPr dirty="0" sz="3500" lang="en-IN">
                <a:latin typeface="Arial" panose="020B0604020202020204" pitchFamily="34" charset="0"/>
                <a:cs typeface="Arial" panose="020B0604020202020204" pitchFamily="34" charset="0"/>
              </a:rPr>
              <a:t> for app development.</a:t>
            </a:r>
          </a:p>
          <a:p>
            <a:pPr lvl="1"/>
            <a:r>
              <a:rPr dirty="0" sz="3500" lang="en-IN">
                <a:latin typeface="Arial" panose="020B0604020202020204" pitchFamily="34" charset="0"/>
                <a:cs typeface="Arial" panose="020B0604020202020204" pitchFamily="34" charset="0"/>
              </a:rPr>
              <a:t>MySQL or MongoDB for data storage.</a:t>
            </a:r>
          </a:p>
          <a:p>
            <a:pPr lvl="1"/>
            <a:r>
              <a:rPr dirty="0" sz="3500" lang="en-IN">
                <a:latin typeface="Arial" panose="020B0604020202020204" pitchFamily="34" charset="0"/>
                <a:cs typeface="Arial" panose="020B0604020202020204" pitchFamily="34" charset="0"/>
              </a:rPr>
              <a:t>Python, HTML (Hypertext </a:t>
            </a:r>
            <a:r>
              <a:rPr dirty="0" sz="3500" lang="en-IN" err="1">
                <a:latin typeface="Arial" panose="020B0604020202020204" pitchFamily="34" charset="0"/>
                <a:cs typeface="Arial" panose="020B0604020202020204" pitchFamily="34" charset="0"/>
              </a:rPr>
              <a:t>Markup</a:t>
            </a:r>
            <a:r>
              <a:rPr dirty="0" sz="3500" lang="en-IN">
                <a:latin typeface="Arial" panose="020B0604020202020204" pitchFamily="34" charset="0"/>
                <a:cs typeface="Arial" panose="020B0604020202020204" pitchFamily="34" charset="0"/>
              </a:rPr>
              <a:t> Language), PHP for building the server-side logic.</a:t>
            </a:r>
          </a:p>
          <a:p>
            <a:pPr lvl="1"/>
            <a:r>
              <a:rPr dirty="0" sz="3500" lang="en-IN">
                <a:latin typeface="Arial" panose="020B0604020202020204" pitchFamily="34" charset="0"/>
                <a:cs typeface="Arial" panose="020B0604020202020204" pitchFamily="34" charset="0"/>
              </a:rPr>
              <a:t>For web development: Visual Studio Code, Sublime Text, or any preferred code editor.</a:t>
            </a:r>
          </a:p>
          <a:p>
            <a:pPr lvl="0"/>
            <a:r>
              <a:rPr dirty="0" sz="3500" i="1" lang="en-IN">
                <a:latin typeface="Arial" panose="020B0604020202020204" pitchFamily="34" charset="0"/>
                <a:cs typeface="Arial" panose="020B0604020202020204" pitchFamily="34" charset="0"/>
              </a:rPr>
              <a:t>Security Tools and Libraries:</a:t>
            </a:r>
            <a:endParaRPr dirty="0" sz="3500" lang="en-IN">
              <a:latin typeface="Arial" panose="020B0604020202020204" pitchFamily="34" charset="0"/>
              <a:cs typeface="Arial" panose="020B0604020202020204" pitchFamily="34" charset="0"/>
            </a:endParaRPr>
          </a:p>
          <a:p>
            <a:pPr lvl="1"/>
            <a:r>
              <a:rPr dirty="0" sz="3500" lang="en-IN">
                <a:latin typeface="Arial" panose="020B0604020202020204" pitchFamily="34" charset="0"/>
                <a:cs typeface="Arial" panose="020B0604020202020204" pitchFamily="34" charset="0"/>
              </a:rPr>
              <a:t>Use security libraries and tools for encryption, secure coding practices, and protecting user data.</a:t>
            </a:r>
          </a:p>
          <a:p>
            <a:pPr lvl="0"/>
            <a:r>
              <a:rPr dirty="0" sz="3500" i="1" lang="en-IN">
                <a:latin typeface="Arial" panose="020B0604020202020204" pitchFamily="34" charset="0"/>
                <a:cs typeface="Arial" panose="020B0604020202020204" pitchFamily="34" charset="0"/>
              </a:rPr>
              <a:t>Notification Services:</a:t>
            </a:r>
            <a:endParaRPr dirty="0" sz="3500" lang="en-IN">
              <a:latin typeface="Arial" panose="020B0604020202020204" pitchFamily="34" charset="0"/>
              <a:cs typeface="Arial" panose="020B0604020202020204" pitchFamily="34" charset="0"/>
            </a:endParaRPr>
          </a:p>
          <a:p>
            <a:pPr lvl="1"/>
            <a:r>
              <a:rPr dirty="0" sz="3500" lang="en-IN">
                <a:latin typeface="Arial" panose="020B0604020202020204" pitchFamily="34" charset="0"/>
                <a:cs typeface="Arial" panose="020B0604020202020204" pitchFamily="34" charset="0"/>
              </a:rPr>
              <a:t>Use push notification services (e.g., Firebase Cloud Messaging, Apple Push Notification Service) for sending alerts and reminders.</a:t>
            </a:r>
          </a:p>
          <a:p>
            <a:pPr lvl="0"/>
            <a:r>
              <a:rPr dirty="0" sz="3500" i="1" lang="en-IN">
                <a:latin typeface="Arial" panose="020B0604020202020204" pitchFamily="34" charset="0"/>
                <a:cs typeface="Arial" panose="020B0604020202020204" pitchFamily="34" charset="0"/>
              </a:rPr>
              <a:t>Payment Gateway Integration:</a:t>
            </a:r>
            <a:endParaRPr dirty="0" sz="3500" lang="en-IN">
              <a:latin typeface="Arial" panose="020B0604020202020204" pitchFamily="34" charset="0"/>
              <a:cs typeface="Arial" panose="020B0604020202020204" pitchFamily="34" charset="0"/>
            </a:endParaRPr>
          </a:p>
          <a:p>
            <a:pPr lvl="1"/>
            <a:r>
              <a:rPr dirty="0" sz="3500" lang="en-IN">
                <a:latin typeface="Arial" panose="020B0604020202020204" pitchFamily="34" charset="0"/>
                <a:cs typeface="Arial" panose="020B0604020202020204" pitchFamily="34" charset="0"/>
              </a:rPr>
              <a:t>Integrate payment gateways like Stripe or PayPal for transactions and donations</a:t>
            </a:r>
            <a:r>
              <a:rPr dirty="0" sz="2900" lang="en-IN">
                <a:latin typeface="Arial" panose="020B0604020202020204" pitchFamily="34" charset="0"/>
                <a:cs typeface="Arial" panose="020B0604020202020204" pitchFamily="34" charset="0"/>
              </a:rPr>
              <a:t>.</a:t>
            </a:r>
          </a:p>
          <a:p>
            <a:endParaRPr dirty="0" sz="2400" lang="en-IN"/>
          </a:p>
        </p:txBody>
      </p:sp>
      <p:sp>
        <p:nvSpPr>
          <p:cNvPr id="1048637"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38" name="Footer Placeholder 4"/>
          <p:cNvSpPr>
            <a:spLocks noGrp="1"/>
          </p:cNvSpPr>
          <p:nvPr>
            <p:ph type="ftr" sz="quarter" idx="11"/>
          </p:nvPr>
        </p:nvSpPr>
        <p:spPr/>
        <p:txBody>
          <a:bodyPr/>
          <a:p>
            <a:r>
              <a:rPr lang="en-US" smtClean="0"/>
              <a:t>Department of CSE</a:t>
            </a:r>
            <a:endParaRPr lang="en-US"/>
          </a:p>
        </p:txBody>
      </p:sp>
      <p:sp>
        <p:nvSpPr>
          <p:cNvPr id="1048639" name="Slide Number Placeholder 5"/>
          <p:cNvSpPr>
            <a:spLocks noGrp="1"/>
          </p:cNvSpPr>
          <p:nvPr>
            <p:ph type="sldNum" sz="quarter" idx="12"/>
          </p:nvPr>
        </p:nvSpPr>
        <p:spPr/>
        <p:txBody>
          <a:bodyPr/>
          <a:p>
            <a:fld id="{7B28076C-CE04-4A00-BFAA-A90EA8355859}"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40" name="Title 1"/>
          <p:cNvSpPr>
            <a:spLocks noGrp="1"/>
          </p:cNvSpPr>
          <p:nvPr>
            <p:ph type="title"/>
          </p:nvPr>
        </p:nvSpPr>
        <p:spPr/>
        <p:txBody>
          <a:bodyPr>
            <a:normAutofit/>
          </a:bodyPr>
          <a:p>
            <a:pPr algn="l"/>
            <a:r>
              <a:rPr dirty="0" lang="en-US"/>
              <a:t>Design  diagram</a:t>
            </a:r>
            <a:endParaRPr dirty="0" lang="en-IN"/>
          </a:p>
        </p:txBody>
      </p:sp>
      <p:sp>
        <p:nvSpPr>
          <p:cNvPr id="1048641"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42" name="Footer Placeholder 4"/>
          <p:cNvSpPr>
            <a:spLocks noGrp="1"/>
          </p:cNvSpPr>
          <p:nvPr>
            <p:ph type="ftr" sz="quarter" idx="11"/>
          </p:nvPr>
        </p:nvSpPr>
        <p:spPr/>
        <p:txBody>
          <a:bodyPr/>
          <a:p>
            <a:r>
              <a:rPr lang="en-US"/>
              <a:t>Department of CSE</a:t>
            </a:r>
          </a:p>
        </p:txBody>
      </p:sp>
      <p:sp>
        <p:nvSpPr>
          <p:cNvPr id="1048643" name="Slide Number Placeholder 5"/>
          <p:cNvSpPr>
            <a:spLocks noGrp="1"/>
          </p:cNvSpPr>
          <p:nvPr>
            <p:ph type="sldNum" sz="quarter" idx="12"/>
          </p:nvPr>
        </p:nvSpPr>
        <p:spPr/>
        <p:txBody>
          <a:bodyPr/>
          <a:p>
            <a:fld id="{7B28076C-CE04-4A00-BFAA-A90EA8355859}" type="slidenum">
              <a:rPr lang="en-US" smtClean="0"/>
              <a:t>11</a:t>
            </a:fld>
            <a:endParaRPr lang="en-US"/>
          </a:p>
        </p:txBody>
      </p:sp>
      <p:pic>
        <p:nvPicPr>
          <p:cNvPr id="2097153" name="Picture 6"/>
          <p:cNvPicPr>
            <a:picLocks/>
          </p:cNvPicPr>
          <p:nvPr/>
        </p:nvPicPr>
        <p:blipFill>
          <a:blip xmlns:r="http://schemas.openxmlformats.org/officeDocument/2006/relationships" r:embed="rId1" cstate="print"/>
          <a:stretch>
            <a:fillRect/>
          </a:stretch>
        </p:blipFill>
        <p:spPr>
          <a:xfrm>
            <a:off x="457200" y="1524000"/>
            <a:ext cx="8229599" cy="4648200"/>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44" name="Title 1"/>
          <p:cNvSpPr>
            <a:spLocks noGrp="1"/>
          </p:cNvSpPr>
          <p:nvPr>
            <p:ph type="title"/>
          </p:nvPr>
        </p:nvSpPr>
        <p:spPr/>
        <p:txBody>
          <a:bodyPr/>
          <a:p>
            <a:r>
              <a:rPr dirty="0" lang="en-IN"/>
              <a:t>W</a:t>
            </a:r>
            <a:r>
              <a:rPr dirty="0" lang="en-IN" smtClean="0"/>
              <a:t>orking </a:t>
            </a:r>
            <a:r>
              <a:rPr dirty="0" lang="en-IN"/>
              <a:t>principle </a:t>
            </a:r>
          </a:p>
        </p:txBody>
      </p:sp>
      <p:sp>
        <p:nvSpPr>
          <p:cNvPr id="1048645" name="Content Placeholder 2"/>
          <p:cNvSpPr>
            <a:spLocks noGrp="1"/>
          </p:cNvSpPr>
          <p:nvPr>
            <p:ph idx="1"/>
          </p:nvPr>
        </p:nvSpPr>
        <p:spPr>
          <a:xfrm>
            <a:off x="457200" y="1219200"/>
            <a:ext cx="8229600" cy="5137150"/>
          </a:xfrm>
        </p:spPr>
        <p:txBody>
          <a:bodyPr>
            <a:noAutofit/>
          </a:bodyPr>
          <a:p>
            <a:pPr algn="just"/>
            <a:r>
              <a:rPr b="1" dirty="0" sz="1600" lang="en-US">
                <a:latin typeface="Arial" panose="020B0604020202020204" pitchFamily="34" charset="0"/>
                <a:cs typeface="Arial" panose="020B0604020202020204" pitchFamily="34" charset="0"/>
              </a:rPr>
              <a:t>User Registration and </a:t>
            </a:r>
            <a:r>
              <a:rPr b="1" dirty="0" sz="1600" lang="en-US" smtClean="0">
                <a:latin typeface="Arial" panose="020B0604020202020204" pitchFamily="34" charset="0"/>
                <a:cs typeface="Arial" panose="020B0604020202020204" pitchFamily="34" charset="0"/>
              </a:rPr>
              <a:t>Profiles</a:t>
            </a:r>
            <a:r>
              <a:rPr b="1" dirty="0" sz="1600" lang="en-US"/>
              <a:t> </a:t>
            </a:r>
            <a:r>
              <a:rPr b="1" dirty="0" sz="1600" lang="en-US" smtClean="0"/>
              <a:t>: </a:t>
            </a:r>
            <a:r>
              <a:rPr dirty="0" sz="1600" lang="en-US" smtClean="0"/>
              <a:t>Users </a:t>
            </a:r>
            <a:r>
              <a:rPr dirty="0" sz="1600" lang="en-US"/>
              <a:t>sign up, create profiles with personal info, interests, skills, and past volunteer experience for improved opportunity matching.</a:t>
            </a:r>
            <a:r>
              <a:rPr dirty="0" sz="1600" lang="en-US" smtClean="0">
                <a:latin typeface="Arial" panose="020B0604020202020204" pitchFamily="34" charset="0"/>
                <a:cs typeface="Arial" panose="020B0604020202020204" pitchFamily="34" charset="0"/>
              </a:rPr>
              <a:t>.</a:t>
            </a:r>
            <a:endParaRPr dirty="0" sz="1600" lang="en-US">
              <a:latin typeface="Arial" panose="020B0604020202020204" pitchFamily="34" charset="0"/>
              <a:cs typeface="Arial" panose="020B0604020202020204" pitchFamily="34" charset="0"/>
            </a:endParaRPr>
          </a:p>
          <a:p>
            <a:pPr algn="just"/>
            <a:r>
              <a:rPr b="1" dirty="0" sz="1600" lang="en-US">
                <a:latin typeface="Arial" panose="020B0604020202020204" pitchFamily="34" charset="0"/>
                <a:cs typeface="Arial" panose="020B0604020202020204" pitchFamily="34" charset="0"/>
              </a:rPr>
              <a:t>Volunteer Opportunity Listings:</a:t>
            </a:r>
            <a:r>
              <a:rPr dirty="0" sz="1600" lang="en-US">
                <a:latin typeface="Arial" panose="020B0604020202020204" pitchFamily="34" charset="0"/>
                <a:cs typeface="Arial" panose="020B0604020202020204" pitchFamily="34" charset="0"/>
              </a:rPr>
              <a:t> </a:t>
            </a:r>
            <a:r>
              <a:rPr dirty="0" sz="1600" lang="en-US"/>
              <a:t>The app features a vast volunteer opportunity database where organizations submit events with key details. Users can efficiently browse and filter opportunities based on their preferences for a tailored experience</a:t>
            </a:r>
            <a:r>
              <a:rPr dirty="0" sz="1600" lang="en-US" smtClean="0"/>
              <a:t>.</a:t>
            </a:r>
          </a:p>
          <a:p>
            <a:pPr algn="just"/>
            <a:r>
              <a:rPr b="1" dirty="0" sz="1600" lang="en-US" smtClean="0">
                <a:latin typeface="Arial" panose="020B0604020202020204" pitchFamily="34" charset="0"/>
                <a:cs typeface="Arial" panose="020B0604020202020204" pitchFamily="34" charset="0"/>
              </a:rPr>
              <a:t>Donation </a:t>
            </a:r>
            <a:r>
              <a:rPr b="1" dirty="0" sz="1600" lang="en-US">
                <a:latin typeface="Arial" panose="020B0604020202020204" pitchFamily="34" charset="0"/>
                <a:cs typeface="Arial" panose="020B0604020202020204" pitchFamily="34" charset="0"/>
              </a:rPr>
              <a:t>Platform:</a:t>
            </a:r>
            <a:r>
              <a:rPr dirty="0" sz="1600" lang="en-US">
                <a:latin typeface="Arial" panose="020B0604020202020204" pitchFamily="34" charset="0"/>
                <a:cs typeface="Arial" panose="020B0604020202020204" pitchFamily="34" charset="0"/>
              </a:rPr>
              <a:t> The app streamlines donations through a secure gateway, allowing users to choose causes, specify amounts, and select preferred payment methods. Stringent data privacy measures are in place to safeguard financial transactions</a:t>
            </a:r>
            <a:r>
              <a:rPr dirty="0" sz="1600" lang="en-US" smtClean="0">
                <a:latin typeface="Arial" panose="020B0604020202020204" pitchFamily="34" charset="0"/>
                <a:cs typeface="Arial" panose="020B0604020202020204" pitchFamily="34" charset="0"/>
              </a:rPr>
              <a:t>.</a:t>
            </a:r>
          </a:p>
          <a:p>
            <a:pPr algn="just"/>
            <a:r>
              <a:rPr b="1" dirty="0" sz="1600" lang="en-US" smtClean="0">
                <a:latin typeface="Arial" panose="020B0604020202020204" pitchFamily="34" charset="0"/>
                <a:cs typeface="Arial" panose="020B0604020202020204" pitchFamily="34" charset="0"/>
              </a:rPr>
              <a:t>Event </a:t>
            </a:r>
            <a:r>
              <a:rPr b="1" dirty="0" sz="1600" lang="en-US">
                <a:latin typeface="Arial" panose="020B0604020202020204" pitchFamily="34" charset="0"/>
                <a:cs typeface="Arial" panose="020B0604020202020204" pitchFamily="34" charset="0"/>
              </a:rPr>
              <a:t>Management and </a:t>
            </a:r>
            <a:r>
              <a:rPr b="1" dirty="0" sz="1600" lang="en-US" smtClean="0">
                <a:latin typeface="Arial" panose="020B0604020202020204" pitchFamily="34" charset="0"/>
                <a:cs typeface="Arial" panose="020B0604020202020204" pitchFamily="34" charset="0"/>
              </a:rPr>
              <a:t>RSVPs:</a:t>
            </a:r>
            <a:r>
              <a:rPr dirty="0" sz="1600" lang="en-US">
                <a:latin typeface="Arial" panose="020B0604020202020204" pitchFamily="34" charset="0"/>
                <a:cs typeface="Arial" panose="020B0604020202020204" pitchFamily="34" charset="0"/>
              </a:rPr>
              <a:t> </a:t>
            </a:r>
            <a:r>
              <a:rPr dirty="0" sz="1600" lang="en-US" smtClean="0">
                <a:latin typeface="Arial" panose="020B0604020202020204" pitchFamily="34" charset="0"/>
                <a:cs typeface="Arial" panose="020B0604020202020204" pitchFamily="34" charset="0"/>
              </a:rPr>
              <a:t>The </a:t>
            </a:r>
            <a:r>
              <a:rPr dirty="0" sz="1600" lang="en-US">
                <a:latin typeface="Arial" panose="020B0604020202020204" pitchFamily="34" charset="0"/>
                <a:cs typeface="Arial" panose="020B0604020202020204" pitchFamily="34" charset="0"/>
              </a:rPr>
              <a:t>app facilitates event management, enabling RSVPs for users and providing organizers with estimated attendance data, while also sending timely reminders. Organizers can efficiently oversee attendance and manage event logistics. </a:t>
            </a:r>
            <a:endParaRPr dirty="0" sz="1600" lang="en-US" smtClean="0">
              <a:latin typeface="Arial" panose="020B0604020202020204" pitchFamily="34" charset="0"/>
              <a:cs typeface="Arial" panose="020B0604020202020204" pitchFamily="34" charset="0"/>
            </a:endParaRPr>
          </a:p>
          <a:p>
            <a:pPr algn="just"/>
            <a:r>
              <a:rPr b="1" dirty="0" sz="1600" lang="en-US" smtClean="0">
                <a:latin typeface="Arial" panose="020B0604020202020204" pitchFamily="34" charset="0"/>
                <a:cs typeface="Arial" panose="020B0604020202020204" pitchFamily="34" charset="0"/>
              </a:rPr>
              <a:t>Community Engagement:</a:t>
            </a:r>
            <a:r>
              <a:rPr dirty="0" sz="1600" lang="en-US"/>
              <a:t> The app encourages a vibrant community by facilitating user connections, experience sharing, and feedback on events through discussion forums, chat tools, and a social media-like feed for updates and </a:t>
            </a:r>
            <a:r>
              <a:rPr dirty="0" sz="1600" lang="en-US" smtClean="0"/>
              <a:t>stories.</a:t>
            </a:r>
            <a:endParaRPr dirty="0" sz="1600" lang="en-US">
              <a:latin typeface="Arial" panose="020B0604020202020204" pitchFamily="34" charset="0"/>
              <a:cs typeface="Arial" panose="020B0604020202020204" pitchFamily="34" charset="0"/>
            </a:endParaRPr>
          </a:p>
          <a:p>
            <a:pPr algn="just"/>
            <a:r>
              <a:rPr b="1" dirty="0" sz="1600" lang="en-US" smtClean="0">
                <a:latin typeface="Arial" panose="020B0604020202020204" pitchFamily="34" charset="0"/>
                <a:cs typeface="Arial" panose="020B0604020202020204" pitchFamily="34" charset="0"/>
              </a:rPr>
              <a:t>Analytics </a:t>
            </a:r>
            <a:r>
              <a:rPr b="1" dirty="0" sz="1600" lang="en-US">
                <a:latin typeface="Arial" panose="020B0604020202020204" pitchFamily="34" charset="0"/>
                <a:cs typeface="Arial" panose="020B0604020202020204" pitchFamily="34" charset="0"/>
              </a:rPr>
              <a:t>and Reporting:</a:t>
            </a:r>
            <a:r>
              <a:rPr dirty="0" sz="1600" lang="en-US">
                <a:latin typeface="Arial" panose="020B0604020202020204" pitchFamily="34" charset="0"/>
                <a:cs typeface="Arial" panose="020B0604020202020204" pitchFamily="34" charset="0"/>
              </a:rPr>
              <a:t> </a:t>
            </a:r>
            <a:r>
              <a:rPr dirty="0" sz="1600" lang="en-US" smtClean="0">
                <a:latin typeface="Arial" panose="020B0604020202020204" pitchFamily="34" charset="0"/>
                <a:cs typeface="Arial" panose="020B0604020202020204" pitchFamily="34" charset="0"/>
              </a:rPr>
              <a:t>The </a:t>
            </a:r>
            <a:r>
              <a:rPr dirty="0" sz="1600" lang="en-US">
                <a:latin typeface="Arial" panose="020B0604020202020204" pitchFamily="34" charset="0"/>
                <a:cs typeface="Arial" panose="020B0604020202020204" pitchFamily="34" charset="0"/>
              </a:rPr>
              <a:t>app gathers user engagement data and donation trends, helping to understand user behavior, enhance effectiveness, and generate detailed impact reports for organizations.</a:t>
            </a:r>
          </a:p>
        </p:txBody>
      </p:sp>
      <p:sp>
        <p:nvSpPr>
          <p:cNvPr id="1048646"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47" name="Footer Placeholder 4"/>
          <p:cNvSpPr>
            <a:spLocks noGrp="1"/>
          </p:cNvSpPr>
          <p:nvPr>
            <p:ph type="ftr" sz="quarter" idx="11"/>
          </p:nvPr>
        </p:nvSpPr>
        <p:spPr/>
        <p:txBody>
          <a:bodyPr/>
          <a:p>
            <a:r>
              <a:rPr lang="en-US"/>
              <a:t>Department of CSE</a:t>
            </a:r>
          </a:p>
        </p:txBody>
      </p:sp>
      <p:sp>
        <p:nvSpPr>
          <p:cNvPr id="1048648" name="Slide Number Placeholder 5"/>
          <p:cNvSpPr>
            <a:spLocks noGrp="1"/>
          </p:cNvSpPr>
          <p:nvPr>
            <p:ph type="sldNum" sz="quarter" idx="12"/>
          </p:nvPr>
        </p:nvSpPr>
        <p:spPr/>
        <p:txBody>
          <a:bodyPr/>
          <a:p>
            <a:fld id="{7B28076C-CE04-4A00-BFAA-A90EA8355859}"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49" name="Title 1"/>
          <p:cNvSpPr>
            <a:spLocks noGrp="1"/>
          </p:cNvSpPr>
          <p:nvPr>
            <p:ph type="title"/>
          </p:nvPr>
        </p:nvSpPr>
        <p:spPr/>
        <p:txBody>
          <a:bodyPr/>
          <a:p>
            <a:r>
              <a:rPr dirty="0" lang="en-US" smtClean="0"/>
              <a:t>Output photograph(3D</a:t>
            </a:r>
            <a:r>
              <a:rPr dirty="0" lang="en-US"/>
              <a:t>)</a:t>
            </a:r>
          </a:p>
        </p:txBody>
      </p:sp>
      <p:sp>
        <p:nvSpPr>
          <p:cNvPr id="1048650"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51" name="Footer Placeholder 4"/>
          <p:cNvSpPr>
            <a:spLocks noGrp="1"/>
          </p:cNvSpPr>
          <p:nvPr>
            <p:ph type="ftr" sz="quarter" idx="11"/>
          </p:nvPr>
        </p:nvSpPr>
        <p:spPr/>
        <p:txBody>
          <a:bodyPr/>
          <a:p>
            <a:r>
              <a:rPr lang="en-US"/>
              <a:t>Department of CSE</a:t>
            </a:r>
          </a:p>
        </p:txBody>
      </p:sp>
      <p:sp>
        <p:nvSpPr>
          <p:cNvPr id="1048652" name="Slide Number Placeholder 5"/>
          <p:cNvSpPr>
            <a:spLocks noGrp="1"/>
          </p:cNvSpPr>
          <p:nvPr>
            <p:ph type="sldNum" sz="quarter" idx="12"/>
          </p:nvPr>
        </p:nvSpPr>
        <p:spPr/>
        <p:txBody>
          <a:bodyPr/>
          <a:p>
            <a:fld id="{7B28076C-CE04-4A00-BFAA-A90EA8355859}" type="slidenum">
              <a:rPr lang="en-US" smtClean="0"/>
              <a:t>13</a:t>
            </a:fld>
            <a:endParaRPr lang="en-US"/>
          </a:p>
        </p:txBody>
      </p:sp>
      <p:pic>
        <p:nvPicPr>
          <p:cNvPr id="2097154" name="Content Placeholder 6" descr="D:\Downloads\IMG-3230.jpg"/>
          <p:cNvPicPr>
            <a:picLocks noGrp="1"/>
          </p:cNvPicPr>
          <p:nvPr>
            <p:ph idx="1"/>
          </p:nvPr>
        </p:nvPicPr>
        <p:blipFill>
          <a:blip xmlns:r="http://schemas.openxmlformats.org/officeDocument/2006/relationships" r:embed="rId1"/>
          <a:srcRect/>
          <a:stretch>
            <a:fillRect/>
          </a:stretch>
        </p:blipFill>
        <p:spPr bwMode="auto">
          <a:xfrm>
            <a:off x="740203" y="1600200"/>
            <a:ext cx="7663593" cy="4525963"/>
          </a:xfrm>
          <a:prstGeom prst="rect"/>
          <a:solidFill>
            <a:srgbClr val="FFFFFF">
              <a:shade val="85000"/>
            </a:srgbClr>
          </a:solidFill>
          <a:ln w="88900" cap="sq">
            <a:noFill/>
            <a:miter lim="800000"/>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53" name="Title 1"/>
          <p:cNvSpPr>
            <a:spLocks noGrp="1"/>
          </p:cNvSpPr>
          <p:nvPr>
            <p:ph type="title"/>
          </p:nvPr>
        </p:nvSpPr>
        <p:spPr/>
        <p:txBody>
          <a:bodyPr/>
          <a:p>
            <a:endParaRPr dirty="0" lang="en-IN"/>
          </a:p>
        </p:txBody>
      </p:sp>
      <p:sp>
        <p:nvSpPr>
          <p:cNvPr id="1048654" name="Date Placeholder 3"/>
          <p:cNvSpPr>
            <a:spLocks noGrp="1"/>
          </p:cNvSpPr>
          <p:nvPr>
            <p:ph type="dt" sz="half" idx="10"/>
          </p:nvPr>
        </p:nvSpPr>
        <p:spPr/>
        <p:txBody>
          <a:bodyPr/>
          <a:p>
            <a:fld id="{A2414E9F-A237-4082-B37B-D926ADB268EE}" type="datetime3">
              <a:rPr lang="en-US" smtClean="0"/>
              <a:t>31 October 2023</a:t>
            </a:fld>
            <a:endParaRPr lang="en-US"/>
          </a:p>
        </p:txBody>
      </p:sp>
      <p:sp>
        <p:nvSpPr>
          <p:cNvPr id="1048655" name="Footer Placeholder 4"/>
          <p:cNvSpPr>
            <a:spLocks noGrp="1"/>
          </p:cNvSpPr>
          <p:nvPr>
            <p:ph type="ftr" sz="quarter" idx="11"/>
          </p:nvPr>
        </p:nvSpPr>
        <p:spPr/>
        <p:txBody>
          <a:bodyPr/>
          <a:p>
            <a:r>
              <a:rPr lang="en-US" smtClean="0"/>
              <a:t>Department of CSE</a:t>
            </a:r>
            <a:endParaRPr lang="en-US"/>
          </a:p>
        </p:txBody>
      </p:sp>
      <p:sp>
        <p:nvSpPr>
          <p:cNvPr id="1048656" name="Slide Number Placeholder 5"/>
          <p:cNvSpPr>
            <a:spLocks noGrp="1"/>
          </p:cNvSpPr>
          <p:nvPr>
            <p:ph type="sldNum" sz="quarter" idx="12"/>
          </p:nvPr>
        </p:nvSpPr>
        <p:spPr/>
        <p:txBody>
          <a:bodyPr/>
          <a:p>
            <a:fld id="{7B28076C-CE04-4A00-BFAA-A90EA8355859}" type="slidenum">
              <a:rPr lang="en-US" smtClean="0"/>
              <a:t>14</a:t>
            </a:fld>
            <a:endParaRPr lang="en-US"/>
          </a:p>
        </p:txBody>
      </p:sp>
      <p:pic>
        <p:nvPicPr>
          <p:cNvPr id="2097155" name="Content Placeholder 6" descr="D:\Downloads\IMG-3232.jpg"/>
          <p:cNvPicPr>
            <a:picLocks noGrp="1"/>
          </p:cNvPicPr>
          <p:nvPr>
            <p:ph idx="1"/>
          </p:nvPr>
        </p:nvPicPr>
        <p:blipFill>
          <a:blip xmlns:r="http://schemas.openxmlformats.org/officeDocument/2006/relationships" r:embed="rId1"/>
          <a:srcRect/>
          <a:stretch>
            <a:fillRect/>
          </a:stretch>
        </p:blipFill>
        <p:spPr bwMode="auto">
          <a:xfrm>
            <a:off x="635757" y="3917315"/>
            <a:ext cx="5629787" cy="2190750"/>
          </a:xfrm>
          <a:prstGeom prst="rect"/>
          <a:solidFill>
            <a:srgbClr val="FFFFFF">
              <a:shade val="85000"/>
            </a:srgbClr>
          </a:solidFill>
          <a:ln w="88900" cap="sq">
            <a:solidFill>
              <a:schemeClr val="bg1">
                <a:lumMod val="95000"/>
              </a:schemeClr>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2097156" name="Picture 7" descr="D:\Downloads\IMG-3231.jpg"/>
          <p:cNvPicPr>
            <a:picLocks/>
          </p:cNvPicPr>
          <p:nvPr/>
        </p:nvPicPr>
        <p:blipFill>
          <a:blip xmlns:r="http://schemas.openxmlformats.org/officeDocument/2006/relationships" r:embed="rId2"/>
          <a:srcRect/>
          <a:stretch>
            <a:fillRect/>
          </a:stretch>
        </p:blipFill>
        <p:spPr bwMode="auto">
          <a:xfrm>
            <a:off x="609600" y="1574800"/>
            <a:ext cx="5655945" cy="2094230"/>
          </a:xfrm>
          <a:prstGeom prst="rect"/>
          <a:solidFill>
            <a:srgbClr val="FFFFFF">
              <a:shade val="85000"/>
            </a:srgbClr>
          </a:solidFill>
          <a:ln w="88900" cap="sq">
            <a:solidFill>
              <a:schemeClr val="bg1">
                <a:lumMod val="95000"/>
              </a:schemeClr>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57" name="Title 1"/>
          <p:cNvSpPr>
            <a:spLocks noGrp="1"/>
          </p:cNvSpPr>
          <p:nvPr>
            <p:ph type="title"/>
          </p:nvPr>
        </p:nvSpPr>
        <p:spPr/>
        <p:txBody>
          <a:bodyPr>
            <a:normAutofit/>
          </a:bodyPr>
          <a:p>
            <a:r>
              <a:rPr dirty="0" lang="en-IN"/>
              <a:t>Reference</a:t>
            </a:r>
          </a:p>
        </p:txBody>
      </p:sp>
      <p:sp>
        <p:nvSpPr>
          <p:cNvPr id="1048658" name="Date Placeholder 3"/>
          <p:cNvSpPr>
            <a:spLocks noGrp="1"/>
          </p:cNvSpPr>
          <p:nvPr>
            <p:ph type="dt" sz="half" idx="10"/>
          </p:nvPr>
        </p:nvSpPr>
        <p:spPr>
          <a:xfrm>
            <a:off x="457200" y="6455205"/>
            <a:ext cx="2133600" cy="365125"/>
          </a:xfrm>
        </p:spPr>
        <p:txBody>
          <a:bodyPr/>
          <a:p>
            <a:fld id="{A2414E9F-A237-4082-B37B-D926ADB268EE}" type="datetime3">
              <a:rPr lang="en-US" smtClean="0"/>
              <a:t>31 October 2023</a:t>
            </a:fld>
            <a:endParaRPr lang="en-US"/>
          </a:p>
        </p:txBody>
      </p:sp>
      <p:sp>
        <p:nvSpPr>
          <p:cNvPr id="1048659" name="Footer Placeholder 4"/>
          <p:cNvSpPr>
            <a:spLocks noGrp="1"/>
          </p:cNvSpPr>
          <p:nvPr>
            <p:ph type="ftr" sz="quarter" idx="11"/>
          </p:nvPr>
        </p:nvSpPr>
        <p:spPr/>
        <p:txBody>
          <a:bodyPr/>
          <a:p>
            <a:r>
              <a:rPr lang="en-US"/>
              <a:t>Department of CSE</a:t>
            </a:r>
          </a:p>
        </p:txBody>
      </p:sp>
      <p:sp>
        <p:nvSpPr>
          <p:cNvPr id="1048660" name="Slide Number Placeholder 5"/>
          <p:cNvSpPr>
            <a:spLocks noGrp="1"/>
          </p:cNvSpPr>
          <p:nvPr>
            <p:ph type="sldNum" sz="quarter" idx="12"/>
          </p:nvPr>
        </p:nvSpPr>
        <p:spPr/>
        <p:txBody>
          <a:bodyPr/>
          <a:p>
            <a:fld id="{7B28076C-CE04-4A00-BFAA-A90EA8355859}" type="slidenum">
              <a:rPr lang="en-US" smtClean="0"/>
              <a:t>15</a:t>
            </a:fld>
            <a:endParaRPr lang="en-US"/>
          </a:p>
        </p:txBody>
      </p:sp>
      <p:sp>
        <p:nvSpPr>
          <p:cNvPr id="1048661" name="Rectangle 7"/>
          <p:cNvSpPr/>
          <p:nvPr/>
        </p:nvSpPr>
        <p:spPr>
          <a:xfrm>
            <a:off x="914400" y="1752600"/>
            <a:ext cx="7086600" cy="4091940"/>
          </a:xfrm>
          <a:prstGeom prst="rect"/>
        </p:spPr>
        <p:txBody>
          <a:bodyPr wrap="square">
            <a:spAutoFit/>
          </a:bodyPr>
          <a:p>
            <a:pPr lvl="0"/>
            <a:r>
              <a:rPr dirty="0" lang="en-IN" smtClean="0"/>
              <a:t>https</a:t>
            </a:r>
            <a:r>
              <a:rPr dirty="0" lang="en-IN"/>
              <a:t>://www.researchgate.net/publication/342749037_The_Impact_of_Community Service Learning on the Social Skills of Students.</a:t>
            </a:r>
          </a:p>
          <a:p>
            <a:r>
              <a:rPr dirty="0" lang="en-IN"/>
              <a:t> </a:t>
            </a:r>
          </a:p>
          <a:p>
            <a:pPr lvl="0"/>
            <a:r>
              <a:rPr dirty="0" lang="en-IN"/>
              <a:t>An Example for Industry 4.0: Design and Implementation of a Mobile App for Industrial Surveillance Based on Cloud | IEEE Conference Publication | IEEE Xplore.</a:t>
            </a:r>
          </a:p>
          <a:p>
            <a:r>
              <a:rPr dirty="0" lang="en-IN"/>
              <a:t> </a:t>
            </a:r>
          </a:p>
          <a:p>
            <a:pPr lvl="0"/>
            <a:r>
              <a:rPr dirty="0" lang="en-IN"/>
              <a:t>https://nextdoor.com/.</a:t>
            </a:r>
          </a:p>
          <a:p>
            <a:r>
              <a:rPr dirty="0" lang="en-IN"/>
              <a:t> </a:t>
            </a:r>
          </a:p>
          <a:p>
            <a:pPr lvl="0"/>
            <a:r>
              <a:rPr dirty="0" lang="en-IN"/>
              <a:t>http://mecs-press.org/ijitcs/ijitcs-v7-n10/IJITCS-V7-N10-5. </a:t>
            </a:r>
          </a:p>
          <a:p>
            <a:r>
              <a:rPr dirty="0" lang="en-IN"/>
              <a:t> </a:t>
            </a:r>
          </a:p>
          <a:p>
            <a:pPr lvl="0"/>
            <a:r>
              <a:rPr dirty="0" lang="en-IN"/>
              <a:t>VolunteerMatch - Where Volunteering Begins</a:t>
            </a:r>
          </a:p>
          <a:p>
            <a:r>
              <a:rPr dirty="0" lang="en-IN"/>
              <a:t>https://www.volunteermatch.org</a:t>
            </a:r>
            <a:r>
              <a:rPr dirty="0" lang="en-IN" smtClean="0"/>
              <a:t>/</a:t>
            </a:r>
            <a:endParaRPr dirty="0"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66" name="Title 1"/>
          <p:cNvSpPr>
            <a:spLocks noGrp="1"/>
          </p:cNvSpPr>
          <p:nvPr>
            <p:ph type="title"/>
          </p:nvPr>
        </p:nvSpPr>
        <p:spPr/>
        <p:txBody>
          <a:bodyPr/>
          <a:p>
            <a:r>
              <a:rPr dirty="0" lang="en-IN"/>
              <a:t>THANK YOU</a:t>
            </a:r>
          </a:p>
        </p:txBody>
      </p:sp>
      <p:sp>
        <p:nvSpPr>
          <p:cNvPr id="1048667" name="Date Placeholder 2"/>
          <p:cNvSpPr>
            <a:spLocks noGrp="1"/>
          </p:cNvSpPr>
          <p:nvPr>
            <p:ph type="dt" sz="half" idx="10"/>
          </p:nvPr>
        </p:nvSpPr>
        <p:spPr/>
        <p:txBody>
          <a:bodyPr/>
          <a:p>
            <a:fld id="{90D305F7-9DF8-482F-A92F-377DE8B06454}" type="datetime3">
              <a:rPr lang="en-US" smtClean="0"/>
              <a:t>31 October 2023</a:t>
            </a:fld>
            <a:endParaRPr lang="en-US"/>
          </a:p>
        </p:txBody>
      </p:sp>
      <p:sp>
        <p:nvSpPr>
          <p:cNvPr id="1048668" name="Footer Placeholder 3"/>
          <p:cNvSpPr>
            <a:spLocks noGrp="1"/>
          </p:cNvSpPr>
          <p:nvPr>
            <p:ph type="ftr" sz="quarter" idx="11"/>
          </p:nvPr>
        </p:nvSpPr>
        <p:spPr/>
        <p:txBody>
          <a:bodyPr/>
          <a:p>
            <a:r>
              <a:rPr lang="en-US"/>
              <a:t>School of Computing</a:t>
            </a:r>
          </a:p>
        </p:txBody>
      </p:sp>
      <p:sp>
        <p:nvSpPr>
          <p:cNvPr id="1048669" name="Slide Number Placeholder 4"/>
          <p:cNvSpPr>
            <a:spLocks noGrp="1"/>
          </p:cNvSpPr>
          <p:nvPr>
            <p:ph type="sldNum" sz="quarter" idx="12"/>
          </p:nvPr>
        </p:nvSpPr>
        <p:spPr/>
        <p:txBody>
          <a:bodyPr/>
          <a:p>
            <a:fld id="{7B28076C-CE04-4A00-BFAA-A90EA8355859}" type="slidenum">
              <a:rPr lang="en-US" smtClean="0"/>
              <a:t>16</a:t>
            </a:fld>
            <a:endParaRPr lang="en-US"/>
          </a:p>
        </p:txBody>
      </p:sp>
      <p:pic>
        <p:nvPicPr>
          <p:cNvPr id="2097157" name="Picture 6"/>
          <p:cNvPicPr>
            <a:picLocks noChangeAspect="1" noChangeArrowheads="1"/>
          </p:cNvPicPr>
          <p:nvPr/>
        </p:nvPicPr>
        <p:blipFill>
          <a:blip xmlns:r="http://schemas.openxmlformats.org/officeDocument/2006/relationships" r:embed="rId1"/>
          <a:srcRect/>
          <a:stretch>
            <a:fillRect/>
          </a:stretch>
        </p:blipFill>
        <p:spPr bwMode="auto">
          <a:xfrm>
            <a:off x="2209800" y="1676400"/>
            <a:ext cx="4514850" cy="3771900"/>
          </a:xfrm>
          <a:prstGeom prst="rect"/>
          <a:noFill/>
        </p:spPr>
      </p:pic>
    </p:spTree>
  </p:cSld>
  <p:clrMapOvr>
    <a:masterClrMapping/>
  </p:clrMapOvr>
</p:sld>
</file>

<file path=ppt/theme/theme1.xml><?xml version="1.0" encoding="utf-8"?>
<a:theme xmlns:a="http://schemas.openxmlformats.org/drawingml/2006/main" name="Custom Design">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Slide 1</dc:title>
  <dc:creator>R.Sathya Bama</dc:creator>
  <cp:lastModifiedBy>Admin</cp:lastModifiedBy>
  <dcterms:created xsi:type="dcterms:W3CDTF">2019-11-05T20:48:53Z</dcterms:created>
  <dcterms:modified xsi:type="dcterms:W3CDTF">2023-10-31T08:05:50Z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ef1f49af4afc49268ad370cd23f2ad6e</vt:lpwstr>
  </property>
</Properties>
</file>