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261" r:id="rId2"/>
    <p:sldId id="290" r:id="rId3"/>
    <p:sldId id="291" r:id="rId4"/>
    <p:sldId id="279" r:id="rId5"/>
    <p:sldId id="281" r:id="rId6"/>
    <p:sldId id="282" r:id="rId7"/>
    <p:sldId id="295" r:id="rId8"/>
    <p:sldId id="296" r:id="rId9"/>
    <p:sldId id="297" r:id="rId10"/>
    <p:sldId id="306" r:id="rId11"/>
    <p:sldId id="312" r:id="rId12"/>
    <p:sldId id="313" r:id="rId13"/>
    <p:sldId id="298" r:id="rId14"/>
    <p:sldId id="299" r:id="rId15"/>
    <p:sldId id="300" r:id="rId16"/>
    <p:sldId id="301" r:id="rId17"/>
    <p:sldId id="302" r:id="rId18"/>
    <p:sldId id="303" r:id="rId19"/>
    <p:sldId id="309" r:id="rId20"/>
    <p:sldId id="307" r:id="rId21"/>
    <p:sldId id="310" r:id="rId22"/>
    <p:sldId id="311" r:id="rId23"/>
    <p:sldId id="283" r:id="rId24"/>
    <p:sldId id="284" r:id="rId25"/>
    <p:sldId id="285" r:id="rId26"/>
    <p:sldId id="288" r:id="rId27"/>
    <p:sldId id="304" r:id="rId28"/>
    <p:sldId id="31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9" autoAdjust="0"/>
    <p:restoredTop sz="94590" autoAdjust="0"/>
  </p:normalViewPr>
  <p:slideViewPr>
    <p:cSldViewPr>
      <p:cViewPr>
        <p:scale>
          <a:sx n="78" d="100"/>
          <a:sy n="78" d="100"/>
        </p:scale>
        <p:origin x="1136" y="-4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4/23/2025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4/23/2025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1410254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238FA3-189B-4AA8-9E46-1FED810FB611}" type="slidenum">
              <a:rPr lang="en-US" smtClean="0"/>
              <a:pPr/>
              <a:t>5</a:t>
            </a:fld>
            <a:endParaRPr lang="en-US"/>
          </a:p>
        </p:txBody>
      </p:sp>
    </p:spTree>
    <p:extLst>
      <p:ext uri="{BB962C8B-B14F-4D97-AF65-F5344CB8AC3E}">
        <p14:creationId xmlns:p14="http://schemas.microsoft.com/office/powerpoint/2010/main" val="2157429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26EC765-4EEE-40D6-8764-C358A9B0EA2D}"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643EF-B253-4651-964D-5C22C18A1755}"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EAEA68-FEEF-400D-AE97-0743E2B01B36}" type="datetime3">
              <a:rPr lang="en-US" smtClean="0"/>
              <a:pPr/>
              <a:t>23 April 2025</a:t>
            </a:fld>
            <a:endParaRPr lang="en-US"/>
          </a:p>
        </p:txBody>
      </p:sp>
      <p:sp>
        <p:nvSpPr>
          <p:cNvPr id="6" name="Footer Placeholder 5"/>
          <p:cNvSpPr>
            <a:spLocks noGrp="1"/>
          </p:cNvSpPr>
          <p:nvPr>
            <p:ph type="ftr" sz="quarter" idx="11"/>
          </p:nvPr>
        </p:nvSpPr>
        <p:spPr/>
        <p:txBody>
          <a:bodyPr/>
          <a:lstStyle/>
          <a:p>
            <a:r>
              <a:rPr lang="en-US"/>
              <a:t>Department of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4555E2-DE6E-4EB6-8DFA-DC17E6D6B29D}" type="datetime3">
              <a:rPr lang="en-US" smtClean="0"/>
              <a:pPr/>
              <a:t>23 April 2025</a:t>
            </a:fld>
            <a:endParaRPr lang="en-US"/>
          </a:p>
        </p:txBody>
      </p:sp>
      <p:sp>
        <p:nvSpPr>
          <p:cNvPr id="8" name="Footer Placeholder 7"/>
          <p:cNvSpPr>
            <a:spLocks noGrp="1"/>
          </p:cNvSpPr>
          <p:nvPr>
            <p:ph type="ftr" sz="quarter" idx="11"/>
          </p:nvPr>
        </p:nvSpPr>
        <p:spPr/>
        <p:txBody>
          <a:bodyPr/>
          <a:lstStyle/>
          <a:p>
            <a:r>
              <a:rPr lang="en-US"/>
              <a:t>Department of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9C9DA3-207B-4128-A780-0899C9C276AD}" type="datetime3">
              <a:rPr lang="en-US" smtClean="0"/>
              <a:pPr/>
              <a:t>23 April 2025</a:t>
            </a:fld>
            <a:endParaRPr lang="en-US"/>
          </a:p>
        </p:txBody>
      </p:sp>
      <p:sp>
        <p:nvSpPr>
          <p:cNvPr id="4" name="Footer Placeholder 3"/>
          <p:cNvSpPr>
            <a:spLocks noGrp="1"/>
          </p:cNvSpPr>
          <p:nvPr>
            <p:ph type="ftr" sz="quarter" idx="11"/>
          </p:nvPr>
        </p:nvSpPr>
        <p:spPr/>
        <p:txBody>
          <a:bodyPr/>
          <a:lstStyle/>
          <a:p>
            <a:r>
              <a:rPr lang="en-US"/>
              <a:t>Department of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28E112-8377-45A9-BD19-18629BBD0547}" type="datetime3">
              <a:rPr lang="en-US" smtClean="0"/>
              <a:pPr/>
              <a:t>23 April 2025</a:t>
            </a:fld>
            <a:endParaRPr lang="en-US"/>
          </a:p>
        </p:txBody>
      </p:sp>
      <p:sp>
        <p:nvSpPr>
          <p:cNvPr id="3" name="Footer Placeholder 2"/>
          <p:cNvSpPr>
            <a:spLocks noGrp="1"/>
          </p:cNvSpPr>
          <p:nvPr>
            <p:ph type="ftr" sz="quarter" idx="11"/>
          </p:nvPr>
        </p:nvSpPr>
        <p:spPr/>
        <p:txBody>
          <a:bodyPr/>
          <a:lstStyle/>
          <a:p>
            <a:r>
              <a:rPr lang="en-US"/>
              <a:t>Department of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9DA7BD-A364-4835-B5C3-69F4869872EB}" type="datetime3">
              <a:rPr lang="en-US" smtClean="0"/>
              <a:pPr/>
              <a:t>23 April 2025</a:t>
            </a:fld>
            <a:endParaRPr lang="en-US"/>
          </a:p>
        </p:txBody>
      </p:sp>
      <p:sp>
        <p:nvSpPr>
          <p:cNvPr id="6" name="Footer Placeholder 5"/>
          <p:cNvSpPr>
            <a:spLocks noGrp="1"/>
          </p:cNvSpPr>
          <p:nvPr>
            <p:ph type="ftr" sz="quarter" idx="11"/>
          </p:nvPr>
        </p:nvSpPr>
        <p:spPr/>
        <p:txBody>
          <a:bodyPr/>
          <a:lstStyle/>
          <a:p>
            <a:r>
              <a:rPr lang="en-US"/>
              <a:t>Department of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E59191-5CCA-41B9-93A5-50C4E62DD0DE}" type="datetime3">
              <a:rPr lang="en-US" smtClean="0"/>
              <a:pPr/>
              <a:t>23 April 2025</a:t>
            </a:fld>
            <a:endParaRPr lang="en-US"/>
          </a:p>
        </p:txBody>
      </p:sp>
      <p:sp>
        <p:nvSpPr>
          <p:cNvPr id="6" name="Footer Placeholder 5"/>
          <p:cNvSpPr>
            <a:spLocks noGrp="1"/>
          </p:cNvSpPr>
          <p:nvPr>
            <p:ph type="ftr" sz="quarter" idx="11"/>
          </p:nvPr>
        </p:nvSpPr>
        <p:spPr/>
        <p:txBody>
          <a:bodyPr/>
          <a:lstStyle/>
          <a:p>
            <a:r>
              <a:rPr lang="en-US"/>
              <a:t>Department of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A40CD3-6E5F-40AF-B983-BCBC5BE7EFA8}"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4D0355-2878-40EF-BB47-0AEFF38312E9}"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2E2D50-3CC8-4828-A0F7-4352819C0BDB}" type="datetime3">
              <a:rPr lang="en-US" smtClean="0"/>
              <a:pPr/>
              <a:t>23 April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endParaRPr lang="en-US" dirty="0"/>
          </a:p>
        </p:txBody>
      </p:sp>
      <p:sp>
        <p:nvSpPr>
          <p:cNvPr id="3" name="Content Placeholder 2"/>
          <p:cNvSpPr>
            <a:spLocks noGrp="1"/>
          </p:cNvSpPr>
          <p:nvPr>
            <p:ph idx="1"/>
          </p:nvPr>
        </p:nvSpPr>
        <p:spPr/>
        <p:txBody>
          <a:bodyPr/>
          <a:lstStyle/>
          <a:p>
            <a:pPr marL="0" indent="0">
              <a:buNone/>
            </a:pPr>
            <a:r>
              <a:rPr lang="en-US" dirty="0"/>
              <a:t>                </a:t>
            </a:r>
          </a:p>
        </p:txBody>
      </p:sp>
      <p:sp>
        <p:nvSpPr>
          <p:cNvPr id="4" name="Date Placeholder 3"/>
          <p:cNvSpPr>
            <a:spLocks noGrp="1"/>
          </p:cNvSpPr>
          <p:nvPr>
            <p:ph type="dt" sz="half" idx="10"/>
          </p:nvPr>
        </p:nvSpPr>
        <p:spPr/>
        <p:txBody>
          <a:bodyPr/>
          <a:lstStyle/>
          <a:p>
            <a:fld id="{00770AC0-521A-4761-B605-21BC84785148}" type="datetime3">
              <a:rPr lang="en-US" smtClean="0"/>
              <a:pPr/>
              <a:t>23 April 2025</a:t>
            </a:fld>
            <a:endParaRPr lang="en-US" dirty="0"/>
          </a:p>
        </p:txBody>
      </p:sp>
      <p:sp>
        <p:nvSpPr>
          <p:cNvPr id="5" name="Footer Placeholder 4"/>
          <p:cNvSpPr>
            <a:spLocks noGrp="1"/>
          </p:cNvSpPr>
          <p:nvPr>
            <p:ph type="ftr" sz="quarter" idx="11"/>
          </p:nvPr>
        </p:nvSpPr>
        <p:spPr/>
        <p:txBody>
          <a:bodyPr/>
          <a:lstStyle/>
          <a:p>
            <a:r>
              <a:rPr lang="en-US"/>
              <a:t>Department of CSE</a:t>
            </a:r>
            <a:endParaRPr lang="en-US" dirty="0"/>
          </a:p>
        </p:txBody>
      </p:sp>
      <p:sp>
        <p:nvSpPr>
          <p:cNvPr id="6" name="Slide Number Placeholder 5"/>
          <p:cNvSpPr>
            <a:spLocks noGrp="1"/>
          </p:cNvSpPr>
          <p:nvPr>
            <p:ph type="sldNum" sz="quarter" idx="12"/>
          </p:nvPr>
        </p:nvSpPr>
        <p:spPr/>
        <p:txBody>
          <a:bodyPr/>
          <a:lstStyle/>
          <a:p>
            <a:fld id="{C0EC1BDC-9B67-430D-970A-E36C75175141}" type="slidenum">
              <a:rPr lang="en-US" smtClean="0"/>
              <a:pPr/>
              <a:t>1</a:t>
            </a:fld>
            <a:endParaRPr lang="en-US" dirty="0"/>
          </a:p>
        </p:txBody>
      </p:sp>
      <p:sp>
        <p:nvSpPr>
          <p:cNvPr id="7" name="Rectangle 6"/>
          <p:cNvSpPr/>
          <p:nvPr/>
        </p:nvSpPr>
        <p:spPr>
          <a:xfrm>
            <a:off x="1295400" y="1905000"/>
            <a:ext cx="6518845" cy="1569660"/>
          </a:xfrm>
          <a:prstGeom prst="rect">
            <a:avLst/>
          </a:prstGeom>
        </p:spPr>
        <p:txBody>
          <a:bodyPr wrap="square">
            <a:spAutoFit/>
          </a:bodyPr>
          <a:lstStyle/>
          <a:p>
            <a:pPr algn="ctr"/>
            <a:r>
              <a:rPr lang="en-GB" sz="3200" dirty="0">
                <a:latin typeface="Times New Roman" panose="02020603050405020304" pitchFamily="18" charset="0"/>
                <a:cs typeface="Times New Roman" panose="02020603050405020304" pitchFamily="18" charset="0"/>
              </a:rPr>
              <a:t>WEB MEDICAL MANAGEMENT SYSTEM</a:t>
            </a:r>
            <a:endParaRPr lang="en-IN" sz="3200" dirty="0">
              <a:latin typeface="Times New Roman" panose="02020603050405020304" pitchFamily="18" charset="0"/>
              <a:cs typeface="Times New Roman" panose="02020603050405020304" pitchFamily="18" charset="0"/>
            </a:endParaRPr>
          </a:p>
          <a:p>
            <a:pPr algn="ctr"/>
            <a:endParaRPr lang="en-IN" sz="3200" dirty="0">
              <a:latin typeface="Times New Roman" panose="02020603050405020304" pitchFamily="18" charset="0"/>
              <a:cs typeface="Times New Roman" panose="02020603050405020304" pitchFamily="18" charset="0"/>
            </a:endParaRPr>
          </a:p>
        </p:txBody>
      </p:sp>
      <p:sp>
        <p:nvSpPr>
          <p:cNvPr id="8" name="Rectangle 7"/>
          <p:cNvSpPr/>
          <p:nvPr/>
        </p:nvSpPr>
        <p:spPr>
          <a:xfrm>
            <a:off x="762000" y="3048000"/>
            <a:ext cx="8077200" cy="4385816"/>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Team ID: PT2-394</a:t>
            </a:r>
          </a:p>
          <a:p>
            <a:r>
              <a:rPr lang="en-US" b="1" dirty="0">
                <a:latin typeface="Times New Roman" panose="02020603050405020304" pitchFamily="18" charset="0"/>
                <a:cs typeface="Times New Roman" panose="02020603050405020304" pitchFamily="18" charset="0"/>
              </a:rPr>
              <a:t>Name:</a:t>
            </a:r>
            <a:r>
              <a:rPr lang="en-US" dirty="0">
                <a:latin typeface="Times New Roman" panose="02020603050405020304" pitchFamily="18" charset="0"/>
                <a:cs typeface="Times New Roman" panose="02020603050405020304" pitchFamily="18" charset="0"/>
              </a:rPr>
              <a:t> Ms. </a:t>
            </a:r>
            <a:r>
              <a:rPr lang="en-IN" dirty="0">
                <a:latin typeface="Times New Roman" panose="02020603050405020304" pitchFamily="18" charset="0"/>
                <a:ea typeface="Calibri" panose="020F0502020204030204" pitchFamily="34" charset="0"/>
                <a:cs typeface="Times New Roman" panose="02020603050405020304" pitchFamily="18" charset="0"/>
              </a:rPr>
              <a:t>Puchha Bhavya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(4</a:t>
            </a:r>
            <a:r>
              <a:rPr lang="en-IN" dirty="0">
                <a:latin typeface="Times New Roman" panose="02020603050405020304" pitchFamily="18" charset="0"/>
                <a:ea typeface="Calibri" panose="020F0502020204030204" pitchFamily="34" charset="0"/>
                <a:cs typeface="Times New Roman" panose="02020603050405020304" pitchFamily="18" charset="0"/>
              </a:rPr>
              <a:t>2614102</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p>
          <a:p>
            <a:r>
              <a:rPr lang="en-IN" dirty="0">
                <a:latin typeface="Times New Roman" panose="02020603050405020304" pitchFamily="18" charset="0"/>
                <a:ea typeface="Calibri" panose="020F0502020204030204" pitchFamily="34" charset="0"/>
                <a:cs typeface="Times New Roman" panose="02020603050405020304" pitchFamily="18" charset="0"/>
              </a:rPr>
              <a:t>             Ms. J . Prerna (42614101)</a:t>
            </a:r>
          </a:p>
          <a:p>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Dept: </a:t>
            </a:r>
            <a:r>
              <a:rPr lang="en-IN" dirty="0">
                <a:latin typeface="Times New Roman" panose="02020603050405020304" pitchFamily="18" charset="0"/>
                <a:ea typeface="Calibri" panose="020F0502020204030204" pitchFamily="34" charset="0"/>
                <a:cs typeface="Times New Roman" panose="02020603050405020304" pitchFamily="18" charset="0"/>
              </a:rPr>
              <a:t>CSE in specialisation with Cyber Security</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sz="1800" dirty="0">
              <a:effectLst/>
              <a:latin typeface="Times New Roman" panose="02020603050405020304" pitchFamily="18" charset="0"/>
              <a:ea typeface="Calibri" panose="020F0502020204030204" pitchFamily="34" charset="0"/>
            </a:endParaRPr>
          </a:p>
          <a:p>
            <a:pPr>
              <a:lnSpc>
                <a:spcPct val="150000"/>
              </a:lnSpc>
            </a:pPr>
            <a:r>
              <a:rPr lang="en-IN" dirty="0">
                <a:latin typeface="Times New Roman" panose="02020603050405020304" pitchFamily="18" charset="0"/>
                <a:ea typeface="Calibri" panose="020F0502020204030204" pitchFamily="34" charset="0"/>
              </a:rPr>
              <a:t>	</a:t>
            </a:r>
            <a:endParaRPr lang="en-IN" sz="1800" dirty="0">
              <a:effectLst/>
              <a:latin typeface="Times New Roman" panose="02020603050405020304" pitchFamily="18" charset="0"/>
              <a:ea typeface="Calibri" panose="020F0502020204030204" pitchFamily="34" charset="0"/>
            </a:endParaRPr>
          </a:p>
          <a:p>
            <a:r>
              <a:rPr lang="en-IN" dirty="0">
                <a:latin typeface="Times New Roman" panose="02020603050405020304" pitchFamily="18" charset="0"/>
                <a:ea typeface="Calibri" panose="020F0502020204030204" pitchFamily="34" charset="0"/>
              </a:rPr>
              <a:t>					      </a:t>
            </a:r>
            <a:r>
              <a:rPr lang="en-US" b="1" dirty="0">
                <a:latin typeface="Times New Roman" panose="02020603050405020304" pitchFamily="18" charset="0"/>
                <a:cs typeface="Times New Roman" panose="02020603050405020304" pitchFamily="18" charset="0"/>
              </a:rPr>
              <a:t>Project Supervisor</a:t>
            </a:r>
          </a:p>
          <a:p>
            <a:r>
              <a:rPr lang="en-US" dirty="0">
                <a:latin typeface="Times New Roman" panose="02020603050405020304" pitchFamily="18" charset="0"/>
                <a:cs typeface="Times New Roman" panose="02020603050405020304" pitchFamily="18" charset="0"/>
              </a:rPr>
              <a:t>					      Dr. Mary Posonia,M.E.,Ph.D.,</a:t>
            </a:r>
          </a:p>
          <a:p>
            <a:r>
              <a:rPr lang="en-US" dirty="0">
                <a:latin typeface="Times New Roman" panose="02020603050405020304" pitchFamily="18" charset="0"/>
                <a:cs typeface="Times New Roman" panose="02020603050405020304" pitchFamily="18" charset="0"/>
              </a:rPr>
              <a:t>					      Head of the department</a:t>
            </a:r>
          </a:p>
          <a:p>
            <a:r>
              <a:rPr lang="en-US" dirty="0">
                <a:latin typeface="Times New Roman" panose="02020603050405020304" pitchFamily="18" charset="0"/>
                <a:cs typeface="Times New Roman" panose="02020603050405020304" pitchFamily="18" charset="0"/>
              </a:rPr>
              <a:t>					      Department of CSE</a:t>
            </a:r>
          </a:p>
          <a:p>
            <a:pPr>
              <a:lnSpc>
                <a:spcPct val="150000"/>
              </a:lnSpc>
            </a:pPr>
            <a:endParaRPr lang="en-IN" dirty="0">
              <a:latin typeface="Times New Roman" panose="02020603050405020304" pitchFamily="18" charset="0"/>
              <a:ea typeface="Calibri" panose="020F0502020204030204" pitchFamily="34" charset="0"/>
            </a:endParaRPr>
          </a:p>
          <a:p>
            <a:pPr>
              <a:lnSpc>
                <a:spcPct val="150000"/>
              </a:lnSpc>
            </a:pPr>
            <a:r>
              <a:rPr lang="en-US" sz="1800" dirty="0">
                <a:effectLst/>
                <a:latin typeface="Calibri" panose="020F0502020204030204" pitchFamily="34" charset="0"/>
                <a:ea typeface="Calibri" panose="020F0502020204030204" pitchFamily="34" charset="0"/>
              </a:rPr>
              <a:t>						</a:t>
            </a:r>
          </a:p>
          <a:p>
            <a:pPr>
              <a:lnSpc>
                <a:spcPct val="150000"/>
              </a:lnSpc>
            </a:pPr>
            <a:endParaRPr lang="en-US" dirty="0">
              <a:latin typeface="Arial" pitchFamily="34" charset="0"/>
              <a:cs typeface="Arial" pitchFamily="34" charset="0"/>
            </a:endParaRPr>
          </a:p>
        </p:txBody>
      </p:sp>
      <p:pic>
        <p:nvPicPr>
          <p:cNvPr id="9" name="Picture 8" descr="new letter head July30_2020.png"/>
          <p:cNvPicPr/>
          <p:nvPr/>
        </p:nvPicPr>
        <p:blipFill>
          <a:blip r:embed="rId3" cstate="print"/>
          <a:stretch>
            <a:fillRect/>
          </a:stretch>
        </p:blipFill>
        <p:spPr>
          <a:xfrm>
            <a:off x="228600" y="1"/>
            <a:ext cx="8686800" cy="1752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pPr algn="l"/>
            <a:r>
              <a:rPr lang="en-US" dirty="0">
                <a:solidFill>
                  <a:srgbClr val="C00000"/>
                </a:solidFill>
                <a:latin typeface="Arial" pitchFamily="34" charset="0"/>
                <a:cs typeface="Arial" pitchFamily="34" charset="0"/>
              </a:rPr>
              <a:t>Presentation Outline</a:t>
            </a:r>
          </a:p>
        </p:txBody>
      </p:sp>
      <p:sp>
        <p:nvSpPr>
          <p:cNvPr id="3" name="Content Placeholder 2"/>
          <p:cNvSpPr>
            <a:spLocks noGrp="1"/>
          </p:cNvSpPr>
          <p:nvPr>
            <p:ph idx="1"/>
          </p:nvPr>
        </p:nvSpPr>
        <p:spPr>
          <a:xfrm>
            <a:off x="609600" y="1143000"/>
            <a:ext cx="8229600" cy="4983163"/>
          </a:xfrm>
        </p:spPr>
        <p:txBody>
          <a:bodyPr/>
          <a:lstStyle/>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Introduction</a:t>
            </a:r>
          </a:p>
          <a:p>
            <a:r>
              <a:rPr lang="en-US" sz="2000"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System Architecture / Ideation Map</a:t>
            </a:r>
          </a:p>
          <a:p>
            <a:r>
              <a:rPr lang="en-US" sz="2000" dirty="0">
                <a:latin typeface="Times New Roman" panose="02020603050405020304" pitchFamily="18" charset="0"/>
                <a:cs typeface="Times New Roman" panose="02020603050405020304" pitchFamily="18" charset="0"/>
              </a:rPr>
              <a:t>Module Implementation</a:t>
            </a:r>
          </a:p>
          <a:p>
            <a:r>
              <a:rPr lang="en-US" sz="2000" dirty="0">
                <a:latin typeface="Times New Roman" panose="02020603050405020304" pitchFamily="18" charset="0"/>
                <a:cs typeface="Times New Roman" panose="02020603050405020304" pitchFamily="18" charset="0"/>
              </a:rPr>
              <a:t>Application Snapshots</a:t>
            </a:r>
          </a:p>
          <a:p>
            <a:r>
              <a:rPr lang="en-US" sz="2000" dirty="0">
                <a:latin typeface="Times New Roman" panose="02020603050405020304" pitchFamily="18" charset="0"/>
                <a:cs typeface="Times New Roman" panose="02020603050405020304" pitchFamily="18" charset="0"/>
              </a:rPr>
              <a:t>Results and Discussions</a:t>
            </a:r>
          </a:p>
          <a:p>
            <a:r>
              <a:rPr lang="en-US" sz="2000" dirty="0">
                <a:latin typeface="Times New Roman" panose="02020603050405020304" pitchFamily="18" charset="0"/>
                <a:cs typeface="Times New Roman" panose="02020603050405020304" pitchFamily="18" charset="0"/>
              </a:rPr>
              <a:t>Conclusion &amp; Future work</a:t>
            </a:r>
          </a:p>
          <a:p>
            <a:r>
              <a:rPr lang="en-US" sz="2000" dirty="0">
                <a:latin typeface="Times New Roman" panose="02020603050405020304" pitchFamily="18" charset="0"/>
                <a:cs typeface="Times New Roman" panose="02020603050405020304" pitchFamily="18" charset="0"/>
              </a:rPr>
              <a:t>References</a:t>
            </a:r>
          </a:p>
          <a:p>
            <a:r>
              <a:rPr lang="en-US" sz="2000" dirty="0">
                <a:latin typeface="Times New Roman" panose="02020603050405020304" pitchFamily="18" charset="0"/>
                <a:cs typeface="Times New Roman" panose="02020603050405020304" pitchFamily="18" charset="0"/>
              </a:rPr>
              <a:t>Course Certificate</a:t>
            </a:r>
          </a:p>
          <a:p>
            <a:endParaRPr lang="en-US" sz="2000" dirty="0">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DBA50EAB-41BE-44C5-8B3C-E8577D7CCC37}" type="datetime3">
              <a:rPr lang="en-US" smtClean="0"/>
              <a:pPr/>
              <a:t>23 April 2025</a:t>
            </a:fld>
            <a:endParaRPr lang="en-US" dirty="0"/>
          </a:p>
        </p:txBody>
      </p:sp>
      <p:sp>
        <p:nvSpPr>
          <p:cNvPr id="5" name="Footer Placeholder 4"/>
          <p:cNvSpPr>
            <a:spLocks noGrp="1"/>
          </p:cNvSpPr>
          <p:nvPr>
            <p:ph type="ftr" sz="quarter" idx="11"/>
          </p:nvPr>
        </p:nvSpPr>
        <p:spPr/>
        <p:txBody>
          <a:bodyPr/>
          <a:lstStyle/>
          <a:p>
            <a:r>
              <a:rPr lang="en-US"/>
              <a:t>Department of CSE</a:t>
            </a:r>
            <a:endParaRPr lang="en-US" dirty="0"/>
          </a:p>
        </p:txBody>
      </p:sp>
      <p:sp>
        <p:nvSpPr>
          <p:cNvPr id="6" name="Slide Number Placeholder 5"/>
          <p:cNvSpPr>
            <a:spLocks noGrp="1"/>
          </p:cNvSpPr>
          <p:nvPr>
            <p:ph type="sldNum" sz="quarter" idx="12"/>
          </p:nvPr>
        </p:nvSpPr>
        <p:spPr/>
        <p:txBody>
          <a:bodyPr/>
          <a:lstStyle/>
          <a:p>
            <a:fld id="{C0EC1BDC-9B67-430D-970A-E36C7517514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33400" y="381000"/>
            <a:ext cx="8229600" cy="655638"/>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solidFill>
                  <a:srgbClr val="FF0000"/>
                </a:solidFill>
                <a:latin typeface="Arial" pitchFamily="34" charset="0"/>
                <a:cs typeface="Arial" pitchFamily="34" charset="0"/>
              </a:rPr>
              <a:t>Introduction</a:t>
            </a:r>
          </a:p>
        </p:txBody>
      </p:sp>
      <p:sp>
        <p:nvSpPr>
          <p:cNvPr id="6" name="Content Placeholder 2"/>
          <p:cNvSpPr txBox="1">
            <a:spLocks/>
          </p:cNvSpPr>
          <p:nvPr/>
        </p:nvSpPr>
        <p:spPr>
          <a:xfrm>
            <a:off x="457200" y="1447801"/>
            <a:ext cx="8305800" cy="48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80000"/>
              </a:lnSpc>
            </a:pPr>
            <a:r>
              <a:rPr lang="en-US" sz="2000" dirty="0">
                <a:latin typeface="Times New Roman" panose="02020603050405020304" pitchFamily="18" charset="0"/>
                <a:cs typeface="Times New Roman" panose="02020603050405020304" pitchFamily="18" charset="0"/>
              </a:rPr>
              <a:t>The Web Medical Management System is a console-based platform to streamline the daily operations of hospitals and clinics. It offers a centralized platform to manage patient details, doctor schedules, medical histories, billing, and inventory with ease. The system supports multiple user roles, including admin, doctor, receptionist, and patient, each with role-specific functionalities.</a:t>
            </a:r>
          </a:p>
          <a:p>
            <a:pPr algn="just">
              <a:lnSpc>
                <a:spcPct val="80000"/>
              </a:lnSpc>
            </a:pPr>
            <a:r>
              <a:rPr lang="en-US" sz="2000" dirty="0">
                <a:latin typeface="Times New Roman" panose="02020603050405020304" pitchFamily="18" charset="0"/>
                <a:cs typeface="Times New Roman" panose="02020603050405020304" pitchFamily="18" charset="0"/>
              </a:rPr>
              <a:t>This system provides an all-in-one platform for doctors, patients, and administrative staff to interact, manage, and retrieve medical information efficiently. Its primary goal is to offer a scalable and secure environment to handle various medical and administrative processes with ease.</a:t>
            </a:r>
          </a:p>
          <a:p>
            <a:pPr algn="just">
              <a:lnSpc>
                <a:spcPct val="80000"/>
              </a:lnSpc>
            </a:pPr>
            <a:r>
              <a:rPr lang="en-US" sz="2000" dirty="0">
                <a:latin typeface="Times New Roman" panose="02020603050405020304" pitchFamily="18" charset="0"/>
                <a:cs typeface="Times New Roman" panose="02020603050405020304" pitchFamily="18" charset="0"/>
              </a:rPr>
              <a:t>By digitizing medical records and automating tasks like appointment booking, billing, and reporting, the system reduces paperwork, minimizes errors, and saves time for both staff and patients. </a:t>
            </a:r>
          </a:p>
          <a:p>
            <a:pPr algn="just">
              <a:lnSpc>
                <a:spcPct val="80000"/>
              </a:lnSpc>
            </a:pPr>
            <a:r>
              <a:rPr lang="en-US" sz="2000" dirty="0">
                <a:latin typeface="Times New Roman" panose="02020603050405020304" pitchFamily="18" charset="0"/>
                <a:cs typeface="Times New Roman" panose="02020603050405020304" pitchFamily="18" charset="0"/>
              </a:rPr>
              <a:t>It is accessible via any device with an internet connection, ensuring flexibility and real-time access to data. This project aims to improve the overall efficiency, accuracy, and reliability of healthcare management.</a:t>
            </a:r>
          </a:p>
          <a:p>
            <a:pPr algn="just">
              <a:lnSpc>
                <a:spcPct val="80000"/>
              </a:lnSpc>
            </a:pPr>
            <a:endParaRPr lang="en-GB" sz="2000" dirty="0">
              <a:latin typeface="Times New Roman" panose="02020603050405020304" pitchFamily="18" charset="0"/>
              <a:cs typeface="Times New Roman" panose="02020603050405020304" pitchFamily="18" charset="0"/>
            </a:endParaRPr>
          </a:p>
          <a:p>
            <a:pPr marL="0" indent="0" algn="just">
              <a:lnSpc>
                <a:spcPct val="80000"/>
              </a:lnSpc>
              <a:buNone/>
            </a:pPr>
            <a:endParaRPr lang="en-GB" sz="2000" dirty="0">
              <a:latin typeface="Times New Roman" panose="02020603050405020304" pitchFamily="18" charset="0"/>
              <a:cs typeface="Times New Roman" panose="02020603050405020304" pitchFamily="18" charset="0"/>
            </a:endParaRPr>
          </a:p>
          <a:p>
            <a:pPr algn="just">
              <a:lnSpc>
                <a:spcPct val="80000"/>
              </a:lnSpc>
            </a:pPr>
            <a:endParaRPr lang="en-US" sz="1800" dirty="0">
              <a:latin typeface="Times New Roman" panose="02020603050405020304" pitchFamily="18" charset="0"/>
              <a:cs typeface="Times New Roman" panose="02020603050405020304" pitchFamily="18" charset="0"/>
            </a:endParaRPr>
          </a:p>
          <a:p>
            <a:pPr algn="ctr">
              <a:lnSpc>
                <a:spcPct val="80000"/>
              </a:lnSpc>
            </a:pPr>
            <a:endParaRPr lang="en-US" sz="1800" dirty="0">
              <a:latin typeface="Times New Roman" panose="02020603050405020304" pitchFamily="18" charset="0"/>
              <a:cs typeface="Times New Roman" panose="02020603050405020304" pitchFamily="18" charset="0"/>
            </a:endParaRPr>
          </a:p>
          <a:p>
            <a:pPr algn="ctr">
              <a:lnSpc>
                <a:spcPct val="80000"/>
              </a:lnSpc>
            </a:pPr>
            <a:endParaRPr lang="en-US" sz="1800" dirty="0">
              <a:latin typeface="Times New Roman" panose="02020603050405020304" pitchFamily="18" charset="0"/>
              <a:cs typeface="Times New Roman" panose="02020603050405020304" pitchFamily="18" charset="0"/>
            </a:endParaRPr>
          </a:p>
          <a:p>
            <a:pPr algn="just"/>
            <a:endParaRPr lang="en-US" sz="2800" dirty="0">
              <a:latin typeface="Arial" pitchFamily="34" charset="0"/>
              <a:cs typeface="Arial" pitchFamily="34" charset="0"/>
            </a:endParaRPr>
          </a:p>
          <a:p>
            <a:pPr algn="just"/>
            <a:endParaRPr lang="en-US" sz="2800" dirty="0"/>
          </a:p>
        </p:txBody>
      </p:sp>
      <p:sp>
        <p:nvSpPr>
          <p:cNvPr id="7" name="Date Placeholder 6"/>
          <p:cNvSpPr>
            <a:spLocks noGrp="1"/>
          </p:cNvSpPr>
          <p:nvPr>
            <p:ph type="dt" sz="half" idx="10"/>
          </p:nvPr>
        </p:nvSpPr>
        <p:spPr/>
        <p:txBody>
          <a:bodyPr/>
          <a:lstStyle/>
          <a:p>
            <a:fld id="{34BF8381-4334-4BCF-A228-57F83149AF87}" type="datetime3">
              <a:rPr lang="en-US" smtClean="0"/>
              <a:pPr/>
              <a:t>23 April 2025</a:t>
            </a:fld>
            <a:endParaRPr lang="en-US"/>
          </a:p>
        </p:txBody>
      </p:sp>
      <p:sp>
        <p:nvSpPr>
          <p:cNvPr id="8" name="Footer Placeholder 7"/>
          <p:cNvSpPr>
            <a:spLocks noGrp="1"/>
          </p:cNvSpPr>
          <p:nvPr>
            <p:ph type="ftr" sz="quarter" idx="11"/>
          </p:nvPr>
        </p:nvSpPr>
        <p:spPr/>
        <p:txBody>
          <a:bodyPr/>
          <a:lstStyle/>
          <a:p>
            <a:r>
              <a:rPr lang="en-US"/>
              <a:t>Department of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3</a:t>
            </a:fld>
            <a:endParaRPr lang="en-US" dirty="0"/>
          </a:p>
        </p:txBody>
      </p:sp>
    </p:spTree>
    <p:extLst>
      <p:ext uri="{BB962C8B-B14F-4D97-AF65-F5344CB8AC3E}">
        <p14:creationId xmlns:p14="http://schemas.microsoft.com/office/powerpoint/2010/main" val="390525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334000" y="228600"/>
            <a:ext cx="13862050" cy="1143000"/>
          </a:xfrm>
        </p:spPr>
        <p:txBody>
          <a:bodyPr>
            <a:normAutofit/>
          </a:bodyPr>
          <a:lstStyle/>
          <a:p>
            <a:r>
              <a:rPr lang="en-US" dirty="0">
                <a:solidFill>
                  <a:srgbClr val="FF0000"/>
                </a:solidFill>
              </a:rPr>
              <a:t>Objectives</a:t>
            </a:r>
          </a:p>
        </p:txBody>
      </p:sp>
      <p:sp>
        <p:nvSpPr>
          <p:cNvPr id="11" name="Content Placeholder 2"/>
          <p:cNvSpPr>
            <a:spLocks noGrp="1"/>
          </p:cNvSpPr>
          <p:nvPr>
            <p:ph idx="1"/>
          </p:nvPr>
        </p:nvSpPr>
        <p:spPr>
          <a:xfrm>
            <a:off x="457200" y="844641"/>
            <a:ext cx="8229600" cy="5655842"/>
          </a:xfrm>
        </p:spPr>
        <p:txBody>
          <a:bodyPr>
            <a:normAutofit/>
          </a:bodyPr>
          <a:lstStyle/>
          <a:p>
            <a:endParaRPr lang="en-US" dirty="0"/>
          </a:p>
          <a:p>
            <a:pPr>
              <a:buNone/>
            </a:pPr>
            <a:r>
              <a:rPr lang="en-US" sz="1800" b="1" dirty="0">
                <a:latin typeface="Times New Roman" panose="02020603050405020304" pitchFamily="18" charset="0"/>
                <a:cs typeface="Times New Roman" panose="02020603050405020304" pitchFamily="18" charset="0"/>
              </a:rPr>
              <a:t>1.Streamline Patient Management</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Enable efficient registration, appointment scheduling, and record maintenance for patients.</a:t>
            </a:r>
          </a:p>
          <a:p>
            <a:pPr>
              <a:buNone/>
            </a:pPr>
            <a:r>
              <a:rPr lang="en-US" sz="1800" b="1" dirty="0">
                <a:latin typeface="Times New Roman" panose="02020603050405020304" pitchFamily="18" charset="0"/>
                <a:cs typeface="Times New Roman" panose="02020603050405020304" pitchFamily="18" charset="0"/>
              </a:rPr>
              <a:t>2. Improve Doctor-Patient Interaction</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 a portal for doctors to access patient records, prescribe medications, and track treatment history.</a:t>
            </a:r>
          </a:p>
          <a:p>
            <a:pPr>
              <a:buNone/>
            </a:pPr>
            <a:r>
              <a:rPr lang="en-US" sz="1800" b="1" dirty="0">
                <a:latin typeface="Times New Roman" panose="02020603050405020304" pitchFamily="18" charset="0"/>
                <a:cs typeface="Times New Roman" panose="02020603050405020304" pitchFamily="18" charset="0"/>
              </a:rPr>
              <a:t> 3.Digitize Medical Records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Store and manage patient data securely to eliminate paper-based records and support quick access to medical history.</a:t>
            </a:r>
          </a:p>
          <a:p>
            <a:pPr>
              <a:buNone/>
            </a:pPr>
            <a:r>
              <a:rPr lang="en-US" sz="1800" b="1" dirty="0">
                <a:latin typeface="Times New Roman" panose="02020603050405020304" pitchFamily="18" charset="0"/>
                <a:cs typeface="Times New Roman" panose="02020603050405020304" pitchFamily="18" charset="0"/>
              </a:rPr>
              <a:t>4.Facilitate Online Appointments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Allow patients to book, reschedule, or cancel appointments through a user-friendly online interface.</a:t>
            </a:r>
          </a:p>
          <a:p>
            <a:pPr>
              <a:buNone/>
            </a:pPr>
            <a:r>
              <a:rPr lang="en-US" sz="1800" b="1" dirty="0">
                <a:latin typeface="Times New Roman" panose="02020603050405020304" pitchFamily="18" charset="0"/>
                <a:cs typeface="Times New Roman" panose="02020603050405020304" pitchFamily="18" charset="0"/>
              </a:rPr>
              <a:t>5.Manage Billing and Invoicing</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Automate billing processes, generate invoices, and track payments for medical services.</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marL="0" indent="0">
              <a:buNone/>
            </a:pPr>
            <a:endParaRPr lang="en-US" sz="1800" dirty="0"/>
          </a:p>
          <a:p>
            <a:endParaRPr lang="en-US" dirty="0"/>
          </a:p>
          <a:p>
            <a:endParaRPr lang="en-US" dirty="0"/>
          </a:p>
          <a:p>
            <a:endParaRPr lang="en-US" dirty="0"/>
          </a:p>
          <a:p>
            <a:endParaRPr lang="en-US" dirty="0"/>
          </a:p>
        </p:txBody>
      </p:sp>
      <p:sp>
        <p:nvSpPr>
          <p:cNvPr id="7" name="Date Placeholder 6"/>
          <p:cNvSpPr>
            <a:spLocks noGrp="1"/>
          </p:cNvSpPr>
          <p:nvPr>
            <p:ph type="dt" sz="half" idx="10"/>
          </p:nvPr>
        </p:nvSpPr>
        <p:spPr>
          <a:xfrm>
            <a:off x="457200" y="6356350"/>
            <a:ext cx="2133600" cy="365125"/>
          </a:xfrm>
        </p:spPr>
        <p:txBody>
          <a:bodyPr/>
          <a:lstStyle/>
          <a:p>
            <a:fld id="{A75E2FCA-C2E1-4F18-8725-C39FF27009E9}" type="datetime3">
              <a:rPr lang="en-US" smtClean="0"/>
              <a:pPr/>
              <a:t>23 April 2025</a:t>
            </a:fld>
            <a:endParaRPr lang="en-US"/>
          </a:p>
        </p:txBody>
      </p:sp>
      <p:sp>
        <p:nvSpPr>
          <p:cNvPr id="8" name="Footer Placeholder 7"/>
          <p:cNvSpPr>
            <a:spLocks noGrp="1"/>
          </p:cNvSpPr>
          <p:nvPr>
            <p:ph type="ftr" sz="quarter" idx="11"/>
          </p:nvPr>
        </p:nvSpPr>
        <p:spPr>
          <a:xfrm>
            <a:off x="3124200" y="6356350"/>
            <a:ext cx="2895600" cy="365125"/>
          </a:xfrm>
        </p:spPr>
        <p:txBody>
          <a:bodyPr/>
          <a:lstStyle/>
          <a:p>
            <a:r>
              <a:rPr lang="en-US"/>
              <a:t>Department of CSE</a:t>
            </a:r>
          </a:p>
        </p:txBody>
      </p:sp>
      <p:sp>
        <p:nvSpPr>
          <p:cNvPr id="9" name="Slide Number Placeholder 8"/>
          <p:cNvSpPr>
            <a:spLocks noGrp="1"/>
          </p:cNvSpPr>
          <p:nvPr>
            <p:ph type="sldNum" sz="quarter" idx="12"/>
          </p:nvPr>
        </p:nvSpPr>
        <p:spPr>
          <a:xfrm>
            <a:off x="6553200" y="6356350"/>
            <a:ext cx="2133600" cy="365125"/>
          </a:xfrm>
        </p:spPr>
        <p:txBody>
          <a:bodyPr/>
          <a:lstStyle/>
          <a:p>
            <a:fld id="{7B28076C-CE04-4A00-BFAA-A90EA8355859}" type="slidenum">
              <a:rPr lang="en-US" smtClean="0"/>
              <a:pPr/>
              <a:t>4</a:t>
            </a:fld>
            <a:endParaRPr lang="en-US"/>
          </a:p>
        </p:txBody>
      </p:sp>
      <p:sp>
        <p:nvSpPr>
          <p:cNvPr id="23" name="Rectangle 17"/>
          <p:cNvSpPr>
            <a:spLocks noChangeArrowheads="1"/>
          </p:cNvSpPr>
          <p:nvPr/>
        </p:nvSpPr>
        <p:spPr bwMode="auto">
          <a:xfrm>
            <a:off x="-361950" y="-3209769"/>
            <a:ext cx="10115550" cy="843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b="1" dirty="0">
              <a:latin typeface="Arial" panose="020B0604020202020204" pitchFamily="34" charset="0"/>
            </a:endParaRPr>
          </a:p>
          <a:p>
            <a:endParaRPr kumimoji="0" lang="en-US" altLang="en-US" sz="1800" b="1" i="0" u="none" strike="noStrike" cap="none" normalizeH="0" baseline="0" dirty="0">
              <a:ln>
                <a:noFill/>
              </a:ln>
              <a:solidFill>
                <a:schemeClr val="tx1"/>
              </a:solidFill>
              <a:effectLst/>
              <a:latin typeface="Arial" panose="020B0604020202020204" pitchFamily="34" charset="0"/>
            </a:endParaRPr>
          </a:p>
          <a:p>
            <a:endParaRPr lang="en-US" altLang="en-US" b="1" dirty="0">
              <a:latin typeface="Arial" panose="020B0604020202020204" pitchFamily="34" charset="0"/>
            </a:endParaRPr>
          </a:p>
          <a:p>
            <a:endParaRPr kumimoji="0" lang="en-US" altLang="en-US" sz="1800" b="1" i="0" u="none" strike="noStrike" cap="none" normalizeH="0" baseline="0" dirty="0">
              <a:ln>
                <a:noFill/>
              </a:ln>
              <a:solidFill>
                <a:schemeClr val="tx1"/>
              </a:solidFill>
              <a:effectLst/>
              <a:latin typeface="Arial" panose="020B0604020202020204" pitchFamily="34" charset="0"/>
            </a:endParaRPr>
          </a:p>
          <a:p>
            <a:pPr algn="just"/>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4" name="Rectangle 18"/>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5" name="Rectangle 19"/>
          <p:cNvSpPr>
            <a:spLocks noChangeArrowheads="1"/>
          </p:cNvSpPr>
          <p:nvPr/>
        </p:nvSpPr>
        <p:spPr bwMode="auto">
          <a:xfrm>
            <a:off x="0" y="-355689"/>
            <a:ext cx="18473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5972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228600" y="228600"/>
            <a:ext cx="8299450" cy="1143000"/>
          </a:xfrm>
        </p:spPr>
        <p:txBody>
          <a:bodyPr>
            <a:normAutofit/>
          </a:bodyPr>
          <a:lstStyle/>
          <a:p>
            <a:r>
              <a:rPr lang="en-US" dirty="0">
                <a:solidFill>
                  <a:srgbClr val="FF0000"/>
                </a:solidFill>
              </a:rPr>
              <a:t>System Architecture / Ideation Map</a:t>
            </a:r>
          </a:p>
        </p:txBody>
      </p:sp>
      <p:sp>
        <p:nvSpPr>
          <p:cNvPr id="4" name="Date Placeholder 3"/>
          <p:cNvSpPr>
            <a:spLocks noGrp="1"/>
          </p:cNvSpPr>
          <p:nvPr>
            <p:ph type="dt" sz="half" idx="10"/>
          </p:nvPr>
        </p:nvSpPr>
        <p:spPr>
          <a:xfrm>
            <a:off x="457200" y="6356350"/>
            <a:ext cx="2133600" cy="365125"/>
          </a:xfrm>
        </p:spPr>
        <p:txBody>
          <a:bodyPr/>
          <a:lstStyle/>
          <a:p>
            <a:fld id="{E530106A-D64C-4B85-9F30-8CF68746E9AD}" type="datetime3">
              <a:rPr lang="en-US" smtClean="0"/>
              <a:pPr/>
              <a:t>23 April 2025</a:t>
            </a:fld>
            <a:endParaRPr lang="en-US"/>
          </a:p>
        </p:txBody>
      </p:sp>
      <p:sp>
        <p:nvSpPr>
          <p:cNvPr id="5" name="Footer Placeholder 4"/>
          <p:cNvSpPr>
            <a:spLocks noGrp="1"/>
          </p:cNvSpPr>
          <p:nvPr>
            <p:ph type="ftr" sz="quarter" idx="11"/>
          </p:nvPr>
        </p:nvSpPr>
        <p:spPr>
          <a:xfrm>
            <a:off x="3124200" y="6356350"/>
            <a:ext cx="2895600" cy="365125"/>
          </a:xfrm>
        </p:spPr>
        <p:txBody>
          <a:bodyPr/>
          <a:lstStyle/>
          <a:p>
            <a:r>
              <a:rPr lang="en-US"/>
              <a:t>Department of CSE</a:t>
            </a:r>
          </a:p>
        </p:txBody>
      </p:sp>
      <p:sp>
        <p:nvSpPr>
          <p:cNvPr id="6" name="Slide Number Placeholder 5"/>
          <p:cNvSpPr>
            <a:spLocks noGrp="1"/>
          </p:cNvSpPr>
          <p:nvPr>
            <p:ph type="sldNum" sz="quarter" idx="12"/>
          </p:nvPr>
        </p:nvSpPr>
        <p:spPr>
          <a:xfrm>
            <a:off x="6553200" y="6356350"/>
            <a:ext cx="2133600" cy="365125"/>
          </a:xfrm>
        </p:spPr>
        <p:txBody>
          <a:bodyPr/>
          <a:lstStyle/>
          <a:p>
            <a:fld id="{7B28076C-CE04-4A00-BFAA-A90EA8355859}" type="slidenum">
              <a:rPr lang="en-US" smtClean="0"/>
              <a:pPr/>
              <a:t>5</a:t>
            </a:fld>
            <a:endParaRPr lang="en-US"/>
          </a:p>
        </p:txBody>
      </p:sp>
      <p:pic>
        <p:nvPicPr>
          <p:cNvPr id="7" name="Content Placeholder 6">
            <a:extLst>
              <a:ext uri="{FF2B5EF4-FFF2-40B4-BE49-F238E27FC236}">
                <a16:creationId xmlns:a16="http://schemas.microsoft.com/office/drawing/2014/main" id="{DC6EDCC9-F628-04C9-2781-A63C1688DC04}"/>
              </a:ext>
            </a:extLst>
          </p:cNvPr>
          <p:cNvPicPr>
            <a:picLocks noGrp="1" noChangeAspect="1"/>
          </p:cNvPicPr>
          <p:nvPr>
            <p:ph idx="1"/>
          </p:nvPr>
        </p:nvPicPr>
        <p:blipFill>
          <a:blip r:embed="rId3"/>
          <a:stretch>
            <a:fillRect/>
          </a:stretch>
        </p:blipFill>
        <p:spPr>
          <a:xfrm>
            <a:off x="990600" y="1348582"/>
            <a:ext cx="6858000" cy="5007768"/>
          </a:xfrm>
          <a:prstGeom prst="rect">
            <a:avLst/>
          </a:prstGeom>
        </p:spPr>
      </p:pic>
    </p:spTree>
    <p:extLst>
      <p:ext uri="{BB962C8B-B14F-4D97-AF65-F5344CB8AC3E}">
        <p14:creationId xmlns:p14="http://schemas.microsoft.com/office/powerpoint/2010/main" val="3978552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8A2916-C0A4-4267-9374-48ED518F9068}"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6</a:t>
            </a:fld>
            <a:endParaRPr lang="en-US"/>
          </a:p>
        </p:txBody>
      </p:sp>
      <p:sp>
        <p:nvSpPr>
          <p:cNvPr id="7" name="Title 1"/>
          <p:cNvSpPr>
            <a:spLocks noGrp="1"/>
          </p:cNvSpPr>
          <p:nvPr>
            <p:ph type="title"/>
          </p:nvPr>
        </p:nvSpPr>
        <p:spPr>
          <a:xfrm>
            <a:off x="340426" y="457200"/>
            <a:ext cx="8229600" cy="655638"/>
          </a:xfrm>
        </p:spPr>
        <p:txBody>
          <a:bodyPr>
            <a:normAutofit fontScale="90000"/>
          </a:bodyPr>
          <a:lstStyle/>
          <a:p>
            <a:pPr algn="l"/>
            <a:r>
              <a:rPr lang="en-US" dirty="0">
                <a:solidFill>
                  <a:srgbClr val="FF0000"/>
                </a:solidFill>
                <a:latin typeface="Arial" pitchFamily="34" charset="0"/>
                <a:cs typeface="Arial" pitchFamily="34" charset="0"/>
              </a:rPr>
              <a:t>Module Implementation</a:t>
            </a:r>
            <a:endParaRPr lang="en-US" dirty="0">
              <a:solidFill>
                <a:srgbClr val="FF0000"/>
              </a:solidFill>
            </a:endParaRPr>
          </a:p>
        </p:txBody>
      </p:sp>
      <p:sp>
        <p:nvSpPr>
          <p:cNvPr id="8" name="Content Placeholder 2"/>
          <p:cNvSpPr>
            <a:spLocks noGrp="1"/>
          </p:cNvSpPr>
          <p:nvPr>
            <p:ph idx="1"/>
          </p:nvPr>
        </p:nvSpPr>
        <p:spPr>
          <a:xfrm>
            <a:off x="322613" y="1554163"/>
            <a:ext cx="8305800" cy="4999037"/>
          </a:xfrm>
        </p:spPr>
        <p:txBody>
          <a:bodyPr>
            <a:noAutofit/>
          </a:bodyPr>
          <a:lstStyle/>
          <a:p>
            <a:pPr>
              <a:buNone/>
            </a:pPr>
            <a:r>
              <a:rPr lang="en-US" sz="16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1. Requirement Analysis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Goals</a:t>
            </a:r>
            <a:r>
              <a:rPr lang="en-US" sz="1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Understand the needs of </a:t>
            </a:r>
            <a:r>
              <a:rPr lang="en-US" sz="1800" b="1" dirty="0">
                <a:latin typeface="Times New Roman" panose="02020603050405020304" pitchFamily="18" charset="0"/>
                <a:cs typeface="Times New Roman" panose="02020603050405020304" pitchFamily="18" charset="0"/>
              </a:rPr>
              <a:t>patients</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doctors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admins</a:t>
            </a:r>
            <a:r>
              <a:rPr lang="en-US" sz="1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Define the system’s </a:t>
            </a:r>
            <a:r>
              <a:rPr lang="en-US" sz="1800" b="1" dirty="0">
                <a:latin typeface="Times New Roman" panose="02020603050405020304" pitchFamily="18" charset="0"/>
                <a:cs typeface="Times New Roman" panose="02020603050405020304" pitchFamily="18" charset="0"/>
              </a:rPr>
              <a:t>scope</a:t>
            </a:r>
            <a:r>
              <a:rPr lang="en-US" sz="1800" dirty="0">
                <a:latin typeface="Times New Roman" panose="02020603050405020304" pitchFamily="18" charset="0"/>
                <a:cs typeface="Times New Roman" panose="02020603050405020304" pitchFamily="18" charset="0"/>
              </a:rPr>
              <a:t> (features, modules).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Deliverables</a:t>
            </a:r>
            <a:r>
              <a:rPr lang="en-US" sz="1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Use-case Diagrams</a:t>
            </a:r>
            <a:r>
              <a:rPr lang="en-US" sz="1800" dirty="0">
                <a:latin typeface="Times New Roman" panose="02020603050405020304" pitchFamily="18" charset="0"/>
                <a:cs typeface="Times New Roman" panose="02020603050405020304" pitchFamily="18" charset="0"/>
              </a:rPr>
              <a:t>: Show interactions between users and the system.</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Functional Requirements</a:t>
            </a:r>
            <a:r>
              <a:rPr lang="en-US" sz="1800" dirty="0">
                <a:latin typeface="Times New Roman" panose="02020603050405020304" pitchFamily="18" charset="0"/>
                <a:cs typeface="Times New Roman" panose="02020603050405020304" pitchFamily="18" charset="0"/>
              </a:rPr>
              <a:t>: Detailing the features each module should have.</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Non-functional Requirements</a:t>
            </a:r>
            <a:r>
              <a:rPr lang="en-US" sz="1800" dirty="0">
                <a:latin typeface="Times New Roman" panose="02020603050405020304" pitchFamily="18" charset="0"/>
                <a:cs typeface="Times New Roman" panose="02020603050405020304" pitchFamily="18" charset="0"/>
              </a:rPr>
              <a:t>: Performance, security, and scalability needs.</a:t>
            </a:r>
          </a:p>
          <a:p>
            <a:pPr marL="742950" lvl="1"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System Design</a:t>
            </a: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3-tier architecture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Server-side logic (Node.js).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Storage solution (MySQL, PostgreSQL, MongoDB).</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endParaRPr>
          </a:p>
          <a:p>
            <a:pPr marL="742950" lvl="1" indent="-285750">
              <a:buFont typeface="Arial" panose="020B0604020202020204" pitchFamily="34" charset="0"/>
              <a:buChar char="•"/>
            </a:pPr>
            <a:endParaRPr lang="en-US" sz="1600" dirty="0"/>
          </a:p>
          <a:p>
            <a:pPr>
              <a:buFont typeface="Arial" panose="020B0604020202020204" pitchFamily="34" charset="0"/>
              <a:buChar char="•"/>
            </a:pPr>
            <a:endParaRPr lang="en-US" sz="1600" dirty="0"/>
          </a:p>
          <a:p>
            <a:pPr marL="0" indent="0">
              <a:lnSpc>
                <a:spcPct val="150000"/>
              </a:lnSpc>
              <a:buNone/>
            </a:pPr>
            <a:endParaRPr lang="en-US" sz="1400" dirty="0">
              <a:latin typeface="Arial" panose="020B0604020202020204" pitchFamily="34" charset="0"/>
              <a:cs typeface="Arial" panose="020B0604020202020204" pitchFamily="34" charset="0"/>
            </a:endParaRPr>
          </a:p>
        </p:txBody>
      </p:sp>
      <p:sp>
        <p:nvSpPr>
          <p:cNvPr id="9" name="Rectangle 3">
            <a:extLst>
              <a:ext uri="{FF2B5EF4-FFF2-40B4-BE49-F238E27FC236}">
                <a16:creationId xmlns:a16="http://schemas.microsoft.com/office/drawing/2014/main" id="{B97A3015-8B41-0A2D-AD51-B349ADD167F7}"/>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2648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latin typeface="Arial" pitchFamily="34" charset="0"/>
                <a:cs typeface="Arial" pitchFamily="34" charset="0"/>
              </a:rPr>
              <a:t>Module Implementation</a:t>
            </a:r>
            <a:endParaRPr lang="en-IN" dirty="0">
              <a:solidFill>
                <a:srgbClr val="FF0000"/>
              </a:solidFill>
            </a:endParaRPr>
          </a:p>
        </p:txBody>
      </p:sp>
      <p:sp>
        <p:nvSpPr>
          <p:cNvPr id="3" name="Content Placeholder 2"/>
          <p:cNvSpPr>
            <a:spLocks noGrp="1"/>
          </p:cNvSpPr>
          <p:nvPr>
            <p:ph idx="1"/>
          </p:nvPr>
        </p:nvSpPr>
        <p:spPr>
          <a:xfrm>
            <a:off x="331991" y="1447800"/>
            <a:ext cx="8229600" cy="5181600"/>
          </a:xfrm>
        </p:spPr>
        <p:txBody>
          <a:bodyPr>
            <a:noAutofit/>
          </a:bodyPr>
          <a:lstStyle/>
          <a:p>
            <a:pPr>
              <a:buNone/>
            </a:pPr>
            <a:r>
              <a:rPr lang="en-US" sz="1800" b="1" dirty="0"/>
              <a:t> </a:t>
            </a:r>
            <a:r>
              <a:rPr lang="en-US" sz="1800" b="1" dirty="0">
                <a:latin typeface="Times New Roman" panose="02020603050405020304" pitchFamily="18" charset="0"/>
                <a:cs typeface="Times New Roman" panose="02020603050405020304" pitchFamily="18" charset="0"/>
              </a:rPr>
              <a:t>3. Module Development</a:t>
            </a:r>
          </a:p>
          <a:p>
            <a:pPr>
              <a:buNone/>
            </a:pPr>
            <a:r>
              <a:rPr lang="en-US" sz="1800" b="1" dirty="0">
                <a:latin typeface="Times New Roman" panose="02020603050405020304" pitchFamily="18" charset="0"/>
                <a:cs typeface="Times New Roman" panose="02020603050405020304" pitchFamily="18" charset="0"/>
              </a:rPr>
              <a:t>  a. Authentication Module: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User registration/login.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Role-based redirects for different users (admin, doctor, patient).</a:t>
            </a:r>
          </a:p>
          <a:p>
            <a:pPr>
              <a:buNone/>
            </a:pPr>
            <a:r>
              <a:rPr lang="en-US" sz="1800" b="1" dirty="0">
                <a:latin typeface="Times New Roman" panose="02020603050405020304" pitchFamily="18" charset="0"/>
                <a:cs typeface="Times New Roman" panose="02020603050405020304" pitchFamily="18" charset="0"/>
              </a:rPr>
              <a:t>  b. User Dashboard:</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Separate dashboards for admin, doctor, and patient.</a:t>
            </a:r>
          </a:p>
          <a:p>
            <a:pPr>
              <a:buNone/>
            </a:pPr>
            <a:r>
              <a:rPr lang="en-US" sz="1800" b="1" dirty="0">
                <a:latin typeface="Times New Roman" panose="02020603050405020304" pitchFamily="18" charset="0"/>
                <a:cs typeface="Times New Roman" panose="02020603050405020304" pitchFamily="18" charset="0"/>
              </a:rPr>
              <a:t>  c. Doctor Management: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Admin can add/edit/remove doctor profiles.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Assign specializations and set schedules.</a:t>
            </a:r>
          </a:p>
          <a:p>
            <a:pPr>
              <a:buNone/>
            </a:pPr>
            <a:r>
              <a:rPr lang="en-US" sz="1800" b="1" dirty="0">
                <a:latin typeface="Times New Roman" panose="02020603050405020304" pitchFamily="18" charset="0"/>
                <a:cs typeface="Times New Roman" panose="02020603050405020304" pitchFamily="18" charset="0"/>
              </a:rPr>
              <a:t>  d. Patient Management: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Doctors and admins can view/update patient information.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Upload and view medical history and files.</a:t>
            </a:r>
          </a:p>
          <a:p>
            <a:pPr>
              <a:buNone/>
            </a:pPr>
            <a:r>
              <a:rPr lang="en-US" sz="1800" b="1" dirty="0">
                <a:latin typeface="Times New Roman" panose="02020603050405020304" pitchFamily="18" charset="0"/>
                <a:cs typeface="Times New Roman" panose="02020603050405020304" pitchFamily="18" charset="0"/>
              </a:rPr>
              <a:t>  e. Appointment Booking: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Show available schedules for doctors.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Book, reschedule, or cancel appointments</a:t>
            </a:r>
            <a:r>
              <a:rPr lang="en-US" sz="1800" dirty="0"/>
              <a:t>.</a:t>
            </a:r>
          </a:p>
          <a:p>
            <a:pPr marL="0" indent="0">
              <a:buNone/>
            </a:pPr>
            <a:endParaRPr lang="en-IN" sz="1800" dirty="0">
              <a:cs typeface="Arial" panose="020B0604020202020204" pitchFamily="34" charset="0"/>
            </a:endParaRPr>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7</a:t>
            </a:fld>
            <a:endParaRPr lang="en-US"/>
          </a:p>
        </p:txBody>
      </p:sp>
    </p:spTree>
    <p:extLst>
      <p:ext uri="{BB962C8B-B14F-4D97-AF65-F5344CB8AC3E}">
        <p14:creationId xmlns:p14="http://schemas.microsoft.com/office/powerpoint/2010/main" val="120859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latin typeface="Arial" pitchFamily="34" charset="0"/>
                <a:cs typeface="Arial" pitchFamily="34" charset="0"/>
              </a:rPr>
              <a:t>Module Implementation</a:t>
            </a:r>
            <a:endParaRPr lang="en-IN" dirty="0">
              <a:solidFill>
                <a:srgbClr val="FF0000"/>
              </a:solidFill>
            </a:endParaRPr>
          </a:p>
        </p:txBody>
      </p:sp>
      <p:sp>
        <p:nvSpPr>
          <p:cNvPr id="3" name="Content Placeholder 2"/>
          <p:cNvSpPr>
            <a:spLocks noGrp="1"/>
          </p:cNvSpPr>
          <p:nvPr>
            <p:ph idx="1"/>
          </p:nvPr>
        </p:nvSpPr>
        <p:spPr>
          <a:xfrm>
            <a:off x="457200" y="1579222"/>
            <a:ext cx="8229600" cy="4525963"/>
          </a:xfrm>
        </p:spPr>
        <p:txBody>
          <a:bodyPr>
            <a:normAutofit fontScale="92500" lnSpcReduction="10000"/>
          </a:bodyPr>
          <a:lstStyle/>
          <a:p>
            <a:pPr>
              <a:buNone/>
            </a:pPr>
            <a:r>
              <a:rPr lang="en-US" sz="1900" b="1" dirty="0">
                <a:latin typeface="Times New Roman" panose="02020603050405020304" pitchFamily="18" charset="0"/>
                <a:cs typeface="Times New Roman" panose="02020603050405020304" pitchFamily="18" charset="0"/>
              </a:rPr>
              <a:t>f. Medical Records:</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Doctors can add/edit diagnosis and prescriptions.</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Patients can view/download medical records.</a:t>
            </a:r>
          </a:p>
          <a:p>
            <a:pPr>
              <a:buNone/>
            </a:pPr>
            <a:r>
              <a:rPr lang="en-US" sz="1900" b="1" dirty="0">
                <a:latin typeface="Times New Roman" panose="02020603050405020304" pitchFamily="18" charset="0"/>
                <a:cs typeface="Times New Roman" panose="02020603050405020304" pitchFamily="18" charset="0"/>
              </a:rPr>
              <a:t> g. Billing &amp; Payments:</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Automatic invoice generation.</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Integration with payment gateways like </a:t>
            </a:r>
            <a:r>
              <a:rPr lang="en-US" sz="1900" dirty="0" err="1">
                <a:latin typeface="Times New Roman" panose="02020603050405020304" pitchFamily="18" charset="0"/>
                <a:cs typeface="Times New Roman" panose="02020603050405020304" pitchFamily="18" charset="0"/>
              </a:rPr>
              <a:t>Razorpay</a:t>
            </a:r>
            <a:r>
              <a:rPr lang="en-US" sz="1900" dirty="0">
                <a:latin typeface="Times New Roman" panose="02020603050405020304" pitchFamily="18" charset="0"/>
                <a:cs typeface="Times New Roman" panose="02020603050405020304" pitchFamily="18" charset="0"/>
              </a:rPr>
              <a:t>, Stripe, or PayPa</a:t>
            </a:r>
            <a:r>
              <a:rPr lang="en-US" sz="1900" b="1" dirty="0">
                <a:latin typeface="Times New Roman" panose="02020603050405020304" pitchFamily="18" charset="0"/>
                <a:cs typeface="Times New Roman" panose="02020603050405020304" pitchFamily="18" charset="0"/>
              </a:rPr>
              <a:t>l</a:t>
            </a:r>
            <a:r>
              <a:rPr lang="en-US" sz="1900" dirty="0">
                <a:latin typeface="Times New Roman" panose="02020603050405020304" pitchFamily="18" charset="0"/>
                <a:cs typeface="Times New Roman" panose="02020603050405020304" pitchFamily="18" charset="0"/>
              </a:rPr>
              <a:t>.</a:t>
            </a:r>
          </a:p>
          <a:p>
            <a:pPr>
              <a:buNone/>
            </a:pPr>
            <a:r>
              <a:rPr lang="en-US" sz="1900" b="1" dirty="0">
                <a:latin typeface="Times New Roman" panose="02020603050405020304" pitchFamily="18" charset="0"/>
                <a:cs typeface="Times New Roman" panose="02020603050405020304" pitchFamily="18" charset="0"/>
              </a:rPr>
              <a:t> h. Inventory/Pharmacy:</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Add/manage medicines in inventory.</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Alert when stock is low or needs replenishment.</a:t>
            </a:r>
          </a:p>
          <a:p>
            <a:pPr>
              <a:buNone/>
            </a:pPr>
            <a:r>
              <a:rPr lang="en-US" sz="1900" b="1" dirty="0">
                <a:latin typeface="Times New Roman" panose="02020603050405020304" pitchFamily="18" charset="0"/>
                <a:cs typeface="Times New Roman" panose="02020603050405020304" pitchFamily="18" charset="0"/>
              </a:rPr>
              <a:t> </a:t>
            </a:r>
            <a:r>
              <a:rPr lang="en-US" sz="1900" b="1" dirty="0" err="1">
                <a:latin typeface="Times New Roman" panose="02020603050405020304" pitchFamily="18" charset="0"/>
                <a:cs typeface="Times New Roman" panose="02020603050405020304" pitchFamily="18" charset="0"/>
              </a:rPr>
              <a:t>i</a:t>
            </a:r>
            <a:r>
              <a:rPr lang="en-US" sz="1900" b="1" dirty="0">
                <a:latin typeface="Times New Roman" panose="02020603050405020304" pitchFamily="18" charset="0"/>
                <a:cs typeface="Times New Roman" panose="02020603050405020304" pitchFamily="18" charset="0"/>
              </a:rPr>
              <a:t>. Notifications:</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Email/SMS reminders for appointments and prescribed medications.</a:t>
            </a:r>
          </a:p>
          <a:p>
            <a:pPr>
              <a:buNone/>
            </a:pPr>
            <a:r>
              <a:rPr lang="en-US" sz="1900" b="1" dirty="0">
                <a:latin typeface="Times New Roman" panose="02020603050405020304" pitchFamily="18" charset="0"/>
                <a:cs typeface="Times New Roman" panose="02020603050405020304" pitchFamily="18" charset="0"/>
              </a:rPr>
              <a:t> j. Reports &amp; Analytics:</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Generate reports: user activity, revenue, patient visits, etc.</a:t>
            </a:r>
          </a:p>
          <a:p>
            <a:pP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Provide charts and graphs for insights.</a:t>
            </a:r>
          </a:p>
          <a:p>
            <a:pPr marL="0" indent="0">
              <a:buNone/>
            </a:pP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8</a:t>
            </a:fld>
            <a:endParaRPr lang="en-US"/>
          </a:p>
        </p:txBody>
      </p:sp>
    </p:spTree>
    <p:extLst>
      <p:ext uri="{BB962C8B-B14F-4D97-AF65-F5344CB8AC3E}">
        <p14:creationId xmlns:p14="http://schemas.microsoft.com/office/powerpoint/2010/main" val="2724493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228600"/>
            <a:ext cx="10585940" cy="1143000"/>
          </a:xfrm>
        </p:spPr>
        <p:txBody>
          <a:bodyPr/>
          <a:lstStyle/>
          <a:p>
            <a:r>
              <a:rPr lang="en-US" dirty="0">
                <a:solidFill>
                  <a:srgbClr val="FF0000"/>
                </a:solidFill>
              </a:rPr>
              <a:t>Module Implementation</a:t>
            </a:r>
            <a:endParaRPr lang="en-IN" dirty="0">
              <a:solidFill>
                <a:srgbClr val="FF0000"/>
              </a:solidFill>
            </a:endParaRPr>
          </a:p>
        </p:txBody>
      </p:sp>
      <p:sp>
        <p:nvSpPr>
          <p:cNvPr id="21" name="Content Placeholder 20"/>
          <p:cNvSpPr>
            <a:spLocks noGrp="1"/>
          </p:cNvSpPr>
          <p:nvPr>
            <p:ph idx="1"/>
          </p:nvPr>
        </p:nvSpPr>
        <p:spPr>
          <a:xfrm>
            <a:off x="381000" y="1445964"/>
            <a:ext cx="8305800" cy="4910386"/>
          </a:xfrm>
        </p:spPr>
        <p:txBody>
          <a:bodyPr>
            <a:normAutofit/>
          </a:bodyPr>
          <a:lstStyle/>
          <a:p>
            <a:pPr>
              <a:buNone/>
            </a:pPr>
            <a:r>
              <a:rPr lang="en-US" sz="1800" b="1" dirty="0">
                <a:latin typeface="Times New Roman" panose="02020603050405020304" pitchFamily="18" charset="0"/>
                <a:cs typeface="Times New Roman" panose="02020603050405020304" pitchFamily="18" charset="0"/>
              </a:rPr>
              <a:t> 4. Testing</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Types of Testing</a:t>
            </a:r>
            <a:r>
              <a:rPr lang="en-US" sz="1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Unit Testing</a:t>
            </a:r>
            <a:r>
              <a:rPr lang="en-US" sz="1800" dirty="0">
                <a:latin typeface="Times New Roman" panose="02020603050405020304" pitchFamily="18" charset="0"/>
                <a:cs typeface="Times New Roman" panose="02020603050405020304" pitchFamily="18" charset="0"/>
              </a:rPr>
              <a:t>: Testing individual components/modules (e.g., authentication, booking).</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Integration Testing</a:t>
            </a:r>
            <a:r>
              <a:rPr lang="en-US" sz="1800" dirty="0">
                <a:latin typeface="Times New Roman" panose="02020603050405020304" pitchFamily="18" charset="0"/>
                <a:cs typeface="Times New Roman" panose="02020603050405020304" pitchFamily="18" charset="0"/>
              </a:rPr>
              <a:t>: Testing the interaction between modules (e.g., medical records and billing).</a:t>
            </a:r>
          </a:p>
          <a:p>
            <a:pPr marL="742950" lvl="1"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User Acceptance Testing (UAT)</a:t>
            </a:r>
            <a:r>
              <a:rPr lang="en-US" sz="1800" dirty="0">
                <a:latin typeface="Times New Roman" panose="02020603050405020304" pitchFamily="18" charset="0"/>
                <a:cs typeface="Times New Roman" panose="02020603050405020304" pitchFamily="18" charset="0"/>
              </a:rPr>
              <a:t>: Testing by real users (patients, doctors) to ensure the system meets their expectations.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Tools</a:t>
            </a:r>
            <a:r>
              <a:rPr lang="en-US" sz="1800" dirty="0">
                <a:latin typeface="Times New Roman" panose="02020603050405020304" pitchFamily="18" charset="0"/>
                <a:cs typeface="Times New Roman" panose="02020603050405020304" pitchFamily="18" charset="0"/>
              </a:rPr>
              <a:t>: Jest, Mocha (for unit testing), Postman (for API testing).</a:t>
            </a:r>
          </a:p>
          <a:p>
            <a:pPr>
              <a:buNone/>
            </a:pPr>
            <a:r>
              <a:rPr lang="en-US" sz="1900" b="1" dirty="0">
                <a:latin typeface="Times New Roman" panose="02020603050405020304" pitchFamily="18" charset="0"/>
                <a:cs typeface="Times New Roman" panose="02020603050405020304" pitchFamily="18" charset="0"/>
              </a:rPr>
              <a:t>5. Documentation</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Includes</a:t>
            </a:r>
            <a:r>
              <a:rPr lang="en-US" sz="19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Project Report</a:t>
            </a:r>
            <a:r>
              <a:rPr lang="en-US" sz="1900" dirty="0">
                <a:latin typeface="Times New Roman" panose="02020603050405020304" pitchFamily="18" charset="0"/>
                <a:cs typeface="Times New Roman" panose="02020603050405020304" pitchFamily="18" charset="0"/>
              </a:rPr>
              <a:t>: Objectives, system architecture, features, and testing outcomes.</a:t>
            </a:r>
          </a:p>
          <a:p>
            <a:pPr marL="742950" lvl="1"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Installation Guide</a:t>
            </a:r>
            <a:r>
              <a:rPr lang="en-US" sz="1900" dirty="0">
                <a:latin typeface="Times New Roman" panose="02020603050405020304" pitchFamily="18" charset="0"/>
                <a:cs typeface="Times New Roman" panose="02020603050405020304" pitchFamily="18" charset="0"/>
              </a:rPr>
              <a:t>: Step-by-step instructions for setting up the system locally or on a cloud server.</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None/>
            </a:pPr>
            <a:endParaRPr lang="en-US" sz="1800" dirty="0"/>
          </a:p>
          <a:p>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9</a:t>
            </a:fld>
            <a:endParaRPr lang="en-US"/>
          </a:p>
        </p:txBody>
      </p:sp>
    </p:spTree>
    <p:extLst>
      <p:ext uri="{BB962C8B-B14F-4D97-AF65-F5344CB8AC3E}">
        <p14:creationId xmlns:p14="http://schemas.microsoft.com/office/powerpoint/2010/main" val="2598829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AB790-9E98-6177-1D14-BF7E6222E752}"/>
              </a:ext>
            </a:extLst>
          </p:cNvPr>
          <p:cNvSpPr>
            <a:spLocks noGrp="1"/>
          </p:cNvSpPr>
          <p:nvPr>
            <p:ph type="title"/>
          </p:nvPr>
        </p:nvSpPr>
        <p:spPr>
          <a:xfrm>
            <a:off x="-2057400" y="228600"/>
            <a:ext cx="10585940" cy="1143000"/>
          </a:xfrm>
        </p:spPr>
        <p:txBody>
          <a:bodyPr/>
          <a:lstStyle/>
          <a:p>
            <a:r>
              <a:rPr lang="en-US" dirty="0">
                <a:solidFill>
                  <a:srgbClr val="FF0000"/>
                </a:solidFill>
              </a:rPr>
              <a:t>Module Implementation</a:t>
            </a:r>
            <a:endParaRPr lang="en-IN" dirty="0">
              <a:solidFill>
                <a:srgbClr val="FF0000"/>
              </a:solidFill>
            </a:endParaRPr>
          </a:p>
        </p:txBody>
      </p:sp>
      <p:sp>
        <p:nvSpPr>
          <p:cNvPr id="3" name="Content Placeholder 2">
            <a:extLst>
              <a:ext uri="{FF2B5EF4-FFF2-40B4-BE49-F238E27FC236}">
                <a16:creationId xmlns:a16="http://schemas.microsoft.com/office/drawing/2014/main" id="{FB113DAA-4316-6ABE-E6E3-AD21E584B76F}"/>
              </a:ext>
            </a:extLst>
          </p:cNvPr>
          <p:cNvSpPr>
            <a:spLocks noGrp="1"/>
          </p:cNvSpPr>
          <p:nvPr>
            <p:ph idx="1"/>
          </p:nvPr>
        </p:nvSpPr>
        <p:spPr>
          <a:xfrm>
            <a:off x="457200" y="1371600"/>
            <a:ext cx="8229600" cy="4754563"/>
          </a:xfrm>
        </p:spPr>
        <p:txBody>
          <a:bodyPr>
            <a:normAutofit/>
          </a:bodyPr>
          <a:lstStyle/>
          <a:p>
            <a:pPr>
              <a:buNone/>
            </a:pPr>
            <a:r>
              <a:rPr lang="en-US" sz="1800" b="1" dirty="0"/>
              <a:t> </a:t>
            </a:r>
            <a:endParaRPr lang="en-US" sz="1900" dirty="0">
              <a:latin typeface="Times New Roman" panose="02020603050405020304" pitchFamily="18" charset="0"/>
              <a:cs typeface="Times New Roman" panose="02020603050405020304" pitchFamily="18" charset="0"/>
            </a:endParaRPr>
          </a:p>
          <a:p>
            <a:pPr>
              <a:buNone/>
            </a:pPr>
            <a:r>
              <a:rPr lang="en-US" sz="1900" b="1" dirty="0">
                <a:latin typeface="Times New Roman" panose="02020603050405020304" pitchFamily="18" charset="0"/>
                <a:cs typeface="Times New Roman" panose="02020603050405020304" pitchFamily="18" charset="0"/>
              </a:rPr>
              <a:t> 6. Presentation / Demo</a:t>
            </a:r>
          </a:p>
          <a:p>
            <a:pPr>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Deliverables</a:t>
            </a:r>
            <a:r>
              <a:rPr lang="en-US" sz="19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Video Walkthrough</a:t>
            </a:r>
            <a:r>
              <a:rPr lang="en-US" sz="1900" dirty="0">
                <a:latin typeface="Times New Roman" panose="02020603050405020304" pitchFamily="18" charset="0"/>
                <a:cs typeface="Times New Roman" panose="02020603050405020304" pitchFamily="18" charset="0"/>
              </a:rPr>
              <a:t>: A short video demonstrating key features of the system.</a:t>
            </a:r>
          </a:p>
          <a:p>
            <a:pPr marL="742950" lvl="1"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Slides</a:t>
            </a:r>
            <a:r>
              <a:rPr lang="en-US" sz="1900" dirty="0">
                <a:latin typeface="Times New Roman" panose="02020603050405020304" pitchFamily="18" charset="0"/>
                <a:cs typeface="Times New Roman" panose="02020603050405020304" pitchFamily="18" charset="0"/>
              </a:rPr>
              <a:t>: Presentation slides outlining the system’s architecture, features, and benefits.</a:t>
            </a:r>
          </a:p>
          <a:p>
            <a:pPr marL="742950" lvl="1" indent="-285750">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Live Demo</a:t>
            </a:r>
            <a:r>
              <a:rPr lang="en-US" sz="1900" dirty="0">
                <a:latin typeface="Times New Roman" panose="02020603050405020304" pitchFamily="18" charset="0"/>
                <a:cs typeface="Times New Roman" panose="02020603050405020304" pitchFamily="18" charset="0"/>
              </a:rPr>
              <a:t>: If the application is deployed, provide access for stakeholders to interact with the system.</a:t>
            </a:r>
          </a:p>
          <a:p>
            <a:endParaRPr lang="en-IN" dirty="0"/>
          </a:p>
        </p:txBody>
      </p:sp>
      <p:sp>
        <p:nvSpPr>
          <p:cNvPr id="4" name="Date Placeholder 3">
            <a:extLst>
              <a:ext uri="{FF2B5EF4-FFF2-40B4-BE49-F238E27FC236}">
                <a16:creationId xmlns:a16="http://schemas.microsoft.com/office/drawing/2014/main" id="{C6FA5949-225B-7716-8A4F-6828DACE86CD}"/>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6E20F5DA-4930-9726-6A5A-198124595370}"/>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C10F25E2-CB36-BFF9-2857-A872143CBB9D}"/>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1321028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D641D-218D-8BAD-F361-BCB097F6CCDE}"/>
              </a:ext>
            </a:extLst>
          </p:cNvPr>
          <p:cNvSpPr>
            <a:spLocks noGrp="1"/>
          </p:cNvSpPr>
          <p:nvPr>
            <p:ph type="title"/>
          </p:nvPr>
        </p:nvSpPr>
        <p:spPr>
          <a:xfrm>
            <a:off x="-2590800" y="228600"/>
            <a:ext cx="11119340" cy="1143000"/>
          </a:xfrm>
        </p:spPr>
        <p:txBody>
          <a:bodyPr/>
          <a:lstStyle/>
          <a:p>
            <a:r>
              <a:rPr lang="en-US" dirty="0">
                <a:solidFill>
                  <a:srgbClr val="FF0000"/>
                </a:solidFill>
              </a:rPr>
              <a:t>Design Requirements</a:t>
            </a:r>
            <a:endParaRPr lang="en-IN" dirty="0">
              <a:solidFill>
                <a:srgbClr val="FF0000"/>
              </a:solidFill>
            </a:endParaRPr>
          </a:p>
        </p:txBody>
      </p:sp>
      <p:sp>
        <p:nvSpPr>
          <p:cNvPr id="3" name="Content Placeholder 2">
            <a:extLst>
              <a:ext uri="{FF2B5EF4-FFF2-40B4-BE49-F238E27FC236}">
                <a16:creationId xmlns:a16="http://schemas.microsoft.com/office/drawing/2014/main" id="{22222AAE-D69B-A1F3-2140-0B45BA786DE6}"/>
              </a:ext>
            </a:extLst>
          </p:cNvPr>
          <p:cNvSpPr>
            <a:spLocks noGrp="1"/>
          </p:cNvSpPr>
          <p:nvPr>
            <p:ph idx="1"/>
          </p:nvPr>
        </p:nvSpPr>
        <p:spPr>
          <a:xfrm>
            <a:off x="457200" y="1371600"/>
            <a:ext cx="8229600" cy="4754563"/>
          </a:xfrm>
        </p:spPr>
        <p:txBody>
          <a:bodyPr>
            <a:normAutofit/>
          </a:bodyPr>
          <a:lstStyle/>
          <a:p>
            <a:pPr marL="0" indent="0">
              <a:buNone/>
            </a:pPr>
            <a:r>
              <a:rPr lang="en-IN" sz="1800" b="1" dirty="0"/>
              <a:t>Hardware Requirements:</a:t>
            </a:r>
          </a:p>
          <a:p>
            <a:r>
              <a:rPr lang="en-US" sz="1800" b="1" dirty="0">
                <a:latin typeface="Times New Roman" panose="02020603050405020304" pitchFamily="18" charset="0"/>
                <a:cs typeface="Times New Roman" panose="02020603050405020304" pitchFamily="18" charset="0"/>
              </a:rPr>
              <a:t>Processor</a:t>
            </a:r>
            <a:r>
              <a:rPr lang="en-US" sz="1800" dirty="0">
                <a:latin typeface="Times New Roman" panose="02020603050405020304" pitchFamily="18" charset="0"/>
                <a:cs typeface="Times New Roman" panose="02020603050405020304" pitchFamily="18" charset="0"/>
              </a:rPr>
              <a:t>: Minimum 1.8 GHz Dual-Core (Intel or AMD) </a:t>
            </a:r>
          </a:p>
          <a:p>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RAM:</a:t>
            </a:r>
            <a:r>
              <a:rPr lang="en-US" sz="1800" dirty="0">
                <a:latin typeface="Times New Roman" panose="02020603050405020304" pitchFamily="18" charset="0"/>
                <a:cs typeface="Times New Roman" panose="02020603050405020304" pitchFamily="18" charset="0"/>
              </a:rPr>
              <a:t> At least 4 GB (8 GB recommended for smooth performance)  </a:t>
            </a:r>
          </a:p>
          <a:p>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Storage:  </a:t>
            </a:r>
          </a:p>
          <a:p>
            <a:r>
              <a:rPr lang="en-US" sz="1800" dirty="0">
                <a:latin typeface="Times New Roman" panose="02020603050405020304" pitchFamily="18" charset="0"/>
                <a:cs typeface="Times New Roman" panose="02020603050405020304" pitchFamily="18" charset="0"/>
              </a:rPr>
              <a:t>  - Minimum 500 MB for source files and basic storage  </a:t>
            </a:r>
          </a:p>
          <a:p>
            <a:r>
              <a:rPr lang="en-US" sz="1800" dirty="0">
                <a:latin typeface="Times New Roman" panose="02020603050405020304" pitchFamily="18" charset="0"/>
                <a:cs typeface="Times New Roman" panose="02020603050405020304" pitchFamily="18" charset="0"/>
              </a:rPr>
              <a:t>  - Additional space if external database or patient reports are stored </a:t>
            </a:r>
          </a:p>
          <a:p>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Display:</a:t>
            </a:r>
          </a:p>
          <a:p>
            <a:r>
              <a:rPr lang="en-US" sz="1800" dirty="0">
                <a:latin typeface="Times New Roman" panose="02020603050405020304" pitchFamily="18" charset="0"/>
                <a:cs typeface="Times New Roman" panose="02020603050405020304" pitchFamily="18" charset="0"/>
              </a:rPr>
              <a:t> 1024x768 resolution or higher </a:t>
            </a:r>
          </a:p>
          <a:p>
            <a:r>
              <a:rPr lang="en-US" sz="1800" b="1" dirty="0">
                <a:latin typeface="Times New Roman" panose="02020603050405020304" pitchFamily="18" charset="0"/>
                <a:cs typeface="Times New Roman" panose="02020603050405020304" pitchFamily="18" charset="0"/>
              </a:rPr>
              <a:t> Input Devices</a:t>
            </a:r>
            <a:r>
              <a:rPr lang="en-US" sz="1800" dirty="0">
                <a:latin typeface="Times New Roman" panose="02020603050405020304" pitchFamily="18" charset="0"/>
                <a:cs typeface="Times New Roman" panose="02020603050405020304" pitchFamily="18" charset="0"/>
              </a:rPr>
              <a:t>: Standard keyboard and mouse  </a:t>
            </a:r>
          </a:p>
          <a:p>
            <a:r>
              <a:rPr lang="en-US" sz="1800" b="1" dirty="0">
                <a:latin typeface="Times New Roman" panose="02020603050405020304" pitchFamily="18" charset="0"/>
                <a:cs typeface="Times New Roman" panose="02020603050405020304" pitchFamily="18" charset="0"/>
              </a:rPr>
              <a:t>Operating System</a:t>
            </a:r>
            <a:r>
              <a:rPr lang="en-US" sz="1800" dirty="0">
                <a:latin typeface="Times New Roman" panose="02020603050405020304" pitchFamily="18" charset="0"/>
                <a:cs typeface="Times New Roman" panose="02020603050405020304" pitchFamily="18" charset="0"/>
              </a:rPr>
              <a:t>: Compatible with Windows, Linux, or macOS</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22F103D-9E05-C03E-A067-53E9F2A444C7}"/>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8CAAC9FF-9706-CA35-3DAB-459B487751D5}"/>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057CD3DE-CF14-926D-727D-81DDF0EAD5C8}"/>
              </a:ext>
            </a:extLst>
          </p:cNvPr>
          <p:cNvSpPr>
            <a:spLocks noGrp="1"/>
          </p:cNvSpPr>
          <p:nvPr>
            <p:ph type="sldNum" sz="quarter" idx="12"/>
          </p:nvPr>
        </p:nvSpPr>
        <p:spPr/>
        <p:txBody>
          <a:bodyPr/>
          <a:lstStyle/>
          <a:p>
            <a:fld id="{7B28076C-CE04-4A00-BFAA-A90EA8355859}" type="slidenum">
              <a:rPr lang="en-US" smtClean="0"/>
              <a:pPr/>
              <a:t>11</a:t>
            </a:fld>
            <a:endParaRPr lang="en-US"/>
          </a:p>
        </p:txBody>
      </p:sp>
    </p:spTree>
    <p:extLst>
      <p:ext uri="{BB962C8B-B14F-4D97-AF65-F5344CB8AC3E}">
        <p14:creationId xmlns:p14="http://schemas.microsoft.com/office/powerpoint/2010/main" val="897957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74321-598F-EF7F-E44E-6D68547C9337}"/>
              </a:ext>
            </a:extLst>
          </p:cNvPr>
          <p:cNvSpPr>
            <a:spLocks noGrp="1"/>
          </p:cNvSpPr>
          <p:nvPr>
            <p:ph type="title"/>
          </p:nvPr>
        </p:nvSpPr>
        <p:spPr>
          <a:xfrm>
            <a:off x="-2743200" y="228600"/>
            <a:ext cx="11271740" cy="1143000"/>
          </a:xfrm>
        </p:spPr>
        <p:txBody>
          <a:bodyPr/>
          <a:lstStyle/>
          <a:p>
            <a:r>
              <a:rPr lang="en-US" dirty="0">
                <a:solidFill>
                  <a:srgbClr val="FF0000"/>
                </a:solidFill>
              </a:rPr>
              <a:t>Design Requirements</a:t>
            </a:r>
            <a:endParaRPr lang="en-IN" dirty="0">
              <a:solidFill>
                <a:srgbClr val="FF0000"/>
              </a:solidFill>
            </a:endParaRPr>
          </a:p>
        </p:txBody>
      </p:sp>
      <p:sp>
        <p:nvSpPr>
          <p:cNvPr id="3" name="Content Placeholder 2">
            <a:extLst>
              <a:ext uri="{FF2B5EF4-FFF2-40B4-BE49-F238E27FC236}">
                <a16:creationId xmlns:a16="http://schemas.microsoft.com/office/drawing/2014/main" id="{3918480C-F66E-5EE5-36F1-F2646A89C998}"/>
              </a:ext>
            </a:extLst>
          </p:cNvPr>
          <p:cNvSpPr>
            <a:spLocks noGrp="1"/>
          </p:cNvSpPr>
          <p:nvPr>
            <p:ph idx="1"/>
          </p:nvPr>
        </p:nvSpPr>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Software Requirements: </a:t>
            </a:r>
          </a:p>
          <a:p>
            <a:pPr marL="0" indent="0">
              <a:buNone/>
            </a:pPr>
            <a:r>
              <a:rPr lang="en-IN" sz="1800" b="1" dirty="0">
                <a:latin typeface="Times New Roman" panose="02020603050405020304" pitchFamily="18" charset="0"/>
                <a:cs typeface="Times New Roman" panose="02020603050405020304" pitchFamily="18" charset="0"/>
              </a:rPr>
              <a:t>    Programming Language: </a:t>
            </a:r>
            <a:r>
              <a:rPr lang="en-IN" sz="1800" dirty="0">
                <a:latin typeface="Times New Roman" panose="02020603050405020304" pitchFamily="18" charset="0"/>
                <a:cs typeface="Times New Roman" panose="02020603050405020304" pitchFamily="18" charset="0"/>
              </a:rPr>
              <a:t>Java (JDK 8 or higher)</a:t>
            </a:r>
          </a:p>
          <a:p>
            <a:pPr marL="0" indent="0">
              <a:buNone/>
            </a:pPr>
            <a:r>
              <a:rPr lang="en-IN" sz="1800" b="1" dirty="0">
                <a:latin typeface="Times New Roman" panose="02020603050405020304" pitchFamily="18" charset="0"/>
                <a:cs typeface="Times New Roman" panose="02020603050405020304" pitchFamily="18" charset="0"/>
              </a:rPr>
              <a:t>    IDE</a:t>
            </a:r>
            <a:r>
              <a:rPr lang="en-IN" sz="1800" dirty="0">
                <a:latin typeface="Times New Roman" panose="02020603050405020304" pitchFamily="18" charset="0"/>
                <a:cs typeface="Times New Roman" panose="02020603050405020304" pitchFamily="18" charset="0"/>
              </a:rPr>
              <a:t>: Eclipse / IntelliJ IDEA / NetBeans (any Java-supported IDE) </a:t>
            </a:r>
          </a:p>
          <a:p>
            <a:pPr marL="0" indent="0">
              <a:buNone/>
            </a:pPr>
            <a:r>
              <a:rPr lang="en-IN" sz="1800" b="1" dirty="0">
                <a:latin typeface="Times New Roman" panose="02020603050405020304" pitchFamily="18" charset="0"/>
                <a:cs typeface="Times New Roman" panose="02020603050405020304" pitchFamily="18" charset="0"/>
              </a:rPr>
              <a:t>    Compiler</a:t>
            </a:r>
            <a:r>
              <a:rPr lang="en-IN" sz="1800" dirty="0">
                <a:latin typeface="Times New Roman" panose="02020603050405020304" pitchFamily="18" charset="0"/>
                <a:cs typeface="Times New Roman" panose="02020603050405020304" pitchFamily="18" charset="0"/>
              </a:rPr>
              <a:t>: Java Compiler (java)  </a:t>
            </a:r>
          </a:p>
          <a:p>
            <a:pPr marL="0" indent="0">
              <a:buNone/>
            </a:pPr>
            <a:r>
              <a:rPr lang="en-IN" sz="1800" b="1" dirty="0">
                <a:latin typeface="Times New Roman" panose="02020603050405020304" pitchFamily="18" charset="0"/>
                <a:cs typeface="Times New Roman" panose="02020603050405020304" pitchFamily="18" charset="0"/>
              </a:rPr>
              <a:t>    Database (Optional for advanced version):  </a:t>
            </a:r>
          </a:p>
          <a:p>
            <a:pPr marL="0" indent="0">
              <a:buNone/>
            </a:pPr>
            <a:r>
              <a:rPr lang="en-IN" sz="1800" dirty="0">
                <a:latin typeface="Times New Roman" panose="02020603050405020304" pitchFamily="18" charset="0"/>
                <a:cs typeface="Times New Roman" panose="02020603050405020304" pitchFamily="18" charset="0"/>
              </a:rPr>
              <a:t>       - MySQL or SQLite for persistent storage   </a:t>
            </a:r>
          </a:p>
          <a:p>
            <a:pPr marL="0" indent="0">
              <a:buNone/>
            </a:pPr>
            <a:r>
              <a:rPr lang="en-IN" sz="1800" dirty="0">
                <a:latin typeface="Times New Roman" panose="02020603050405020304" pitchFamily="18" charset="0"/>
                <a:cs typeface="Times New Roman" panose="02020603050405020304" pitchFamily="18" charset="0"/>
              </a:rPr>
              <a:t>       - OR text/CSV file-based storage for basic version  </a:t>
            </a:r>
          </a:p>
          <a:p>
            <a:pPr marL="0" indent="0">
              <a:buNone/>
            </a:pPr>
            <a:r>
              <a:rPr lang="en-IN" sz="1800" b="1" dirty="0">
                <a:latin typeface="Times New Roman" panose="02020603050405020304" pitchFamily="18" charset="0"/>
                <a:cs typeface="Times New Roman" panose="02020603050405020304" pitchFamily="18" charset="0"/>
              </a:rPr>
              <a:t>    Version Control (optional): </a:t>
            </a:r>
            <a:r>
              <a:rPr lang="en-IN" sz="1800" dirty="0">
                <a:latin typeface="Times New Roman" panose="02020603050405020304" pitchFamily="18" charset="0"/>
                <a:cs typeface="Times New Roman" panose="02020603050405020304" pitchFamily="18" charset="0"/>
              </a:rPr>
              <a:t>Git (for collaborative development)   </a:t>
            </a:r>
          </a:p>
          <a:p>
            <a:pPr marL="0" indent="0">
              <a:buNone/>
            </a:pPr>
            <a:r>
              <a:rPr lang="en-IN" sz="1800" b="1" dirty="0">
                <a:latin typeface="Times New Roman" panose="02020603050405020304" pitchFamily="18" charset="0"/>
                <a:cs typeface="Times New Roman" panose="02020603050405020304" pitchFamily="18" charset="0"/>
              </a:rPr>
              <a:t>    Documentation</a:t>
            </a:r>
            <a:r>
              <a:rPr lang="en-IN" sz="1800" dirty="0">
                <a:latin typeface="Times New Roman" panose="02020603050405020304" pitchFamily="18" charset="0"/>
                <a:cs typeface="Times New Roman" panose="02020603050405020304" pitchFamily="18" charset="0"/>
              </a:rPr>
              <a:t>: Microsoft Word / Google Docs for report creation  </a:t>
            </a:r>
          </a:p>
          <a:p>
            <a:pPr marL="0" indent="0">
              <a:buNone/>
            </a:pPr>
            <a:r>
              <a:rPr lang="en-IN" sz="1800" b="1" dirty="0">
                <a:latin typeface="Times New Roman" panose="02020603050405020304" pitchFamily="18" charset="0"/>
                <a:cs typeface="Times New Roman" panose="02020603050405020304" pitchFamily="18" charset="0"/>
              </a:rPr>
              <a:t>    Operating System Compatibility</a:t>
            </a:r>
            <a:r>
              <a:rPr lang="en-IN" sz="1800" dirty="0">
                <a:latin typeface="Times New Roman" panose="02020603050405020304" pitchFamily="18" charset="0"/>
                <a:cs typeface="Times New Roman" panose="02020603050405020304" pitchFamily="18" charset="0"/>
              </a:rPr>
              <a:t>: Cross-platform (Windows, Linux, macOS)</a:t>
            </a:r>
          </a:p>
        </p:txBody>
      </p:sp>
      <p:sp>
        <p:nvSpPr>
          <p:cNvPr id="4" name="Date Placeholder 3">
            <a:extLst>
              <a:ext uri="{FF2B5EF4-FFF2-40B4-BE49-F238E27FC236}">
                <a16:creationId xmlns:a16="http://schemas.microsoft.com/office/drawing/2014/main" id="{13B9CE79-DCDA-D361-D506-D3E364354277}"/>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E7F2B533-A144-FB9D-C140-AFB510410627}"/>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858C5925-4E4D-3872-2FC7-1A45117E3B36}"/>
              </a:ext>
            </a:extLst>
          </p:cNvPr>
          <p:cNvSpPr>
            <a:spLocks noGrp="1"/>
          </p:cNvSpPr>
          <p:nvPr>
            <p:ph type="sldNum" sz="quarter" idx="12"/>
          </p:nvPr>
        </p:nvSpPr>
        <p:spPr/>
        <p:txBody>
          <a:bodyPr/>
          <a:lstStyle/>
          <a:p>
            <a:fld id="{7B28076C-CE04-4A00-BFAA-A90EA8355859}" type="slidenum">
              <a:rPr lang="en-US" smtClean="0"/>
              <a:pPr/>
              <a:t>12</a:t>
            </a:fld>
            <a:endParaRPr lang="en-US"/>
          </a:p>
        </p:txBody>
      </p:sp>
    </p:spTree>
    <p:extLst>
      <p:ext uri="{BB962C8B-B14F-4D97-AF65-F5344CB8AC3E}">
        <p14:creationId xmlns:p14="http://schemas.microsoft.com/office/powerpoint/2010/main" val="2871064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Application Snapshots</a:t>
            </a:r>
            <a:endParaRPr lang="en-IN" dirty="0">
              <a:solidFill>
                <a:srgbClr val="FF0000"/>
              </a:solidFill>
            </a:endParaRPr>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dirty="0"/>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13</a:t>
            </a:fld>
            <a:endParaRPr lang="en-US"/>
          </a:p>
        </p:txBody>
      </p:sp>
      <p:pic>
        <p:nvPicPr>
          <p:cNvPr id="11" name="Content Placeholder 10">
            <a:extLst>
              <a:ext uri="{FF2B5EF4-FFF2-40B4-BE49-F238E27FC236}">
                <a16:creationId xmlns:a16="http://schemas.microsoft.com/office/drawing/2014/main" id="{44153179-DD63-64DC-874F-9F216F166E93}"/>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2352985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Application Snapshots</a:t>
            </a: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14</a:t>
            </a:fld>
            <a:endParaRPr lang="en-US"/>
          </a:p>
        </p:txBody>
      </p:sp>
      <p:pic>
        <p:nvPicPr>
          <p:cNvPr id="11" name="Content Placeholder 10">
            <a:extLst>
              <a:ext uri="{FF2B5EF4-FFF2-40B4-BE49-F238E27FC236}">
                <a16:creationId xmlns:a16="http://schemas.microsoft.com/office/drawing/2014/main" id="{05FE6BEA-FECC-E36D-3E83-8658F38A09CC}"/>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406940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Application Snapshots</a:t>
            </a: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15</a:t>
            </a:fld>
            <a:endParaRPr lang="en-US"/>
          </a:p>
        </p:txBody>
      </p:sp>
      <p:pic>
        <p:nvPicPr>
          <p:cNvPr id="11" name="Content Placeholder 10">
            <a:extLst>
              <a:ext uri="{FF2B5EF4-FFF2-40B4-BE49-F238E27FC236}">
                <a16:creationId xmlns:a16="http://schemas.microsoft.com/office/drawing/2014/main" id="{62B0FA77-6C76-5AB2-F61E-9EBE5844A530}"/>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3721835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Application Snapshots</a:t>
            </a: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16</a:t>
            </a:fld>
            <a:endParaRPr lang="en-US"/>
          </a:p>
        </p:txBody>
      </p:sp>
      <p:pic>
        <p:nvPicPr>
          <p:cNvPr id="11" name="Content Placeholder 10">
            <a:extLst>
              <a:ext uri="{FF2B5EF4-FFF2-40B4-BE49-F238E27FC236}">
                <a16:creationId xmlns:a16="http://schemas.microsoft.com/office/drawing/2014/main" id="{CDC652E7-F68F-3897-13DC-7BB01293858F}"/>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3801229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Application Snapshots</a:t>
            </a: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17</a:t>
            </a:fld>
            <a:endParaRPr lang="en-US"/>
          </a:p>
        </p:txBody>
      </p:sp>
      <p:pic>
        <p:nvPicPr>
          <p:cNvPr id="11" name="Content Placeholder 10">
            <a:extLst>
              <a:ext uri="{FF2B5EF4-FFF2-40B4-BE49-F238E27FC236}">
                <a16:creationId xmlns:a16="http://schemas.microsoft.com/office/drawing/2014/main" id="{8B49A45B-DF99-94CB-B3FF-6D56BB7CBEE5}"/>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2124539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228600"/>
            <a:ext cx="10738340" cy="1143000"/>
          </a:xfrm>
        </p:spPr>
        <p:txBody>
          <a:bodyPr/>
          <a:lstStyle/>
          <a:p>
            <a:r>
              <a:rPr lang="en-US" dirty="0">
                <a:solidFill>
                  <a:srgbClr val="FF0000"/>
                </a:solidFill>
              </a:rPr>
              <a:t>Application Snapshots</a:t>
            </a: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18</a:t>
            </a:fld>
            <a:endParaRPr lang="en-US"/>
          </a:p>
        </p:txBody>
      </p:sp>
      <p:pic>
        <p:nvPicPr>
          <p:cNvPr id="11" name="Content Placeholder 10">
            <a:extLst>
              <a:ext uri="{FF2B5EF4-FFF2-40B4-BE49-F238E27FC236}">
                <a16:creationId xmlns:a16="http://schemas.microsoft.com/office/drawing/2014/main" id="{FA74F827-D021-72DB-F2A4-7A32C0ECF90F}"/>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110013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D119B-15CE-9E58-B9FC-B4BD151EA706}"/>
              </a:ext>
            </a:extLst>
          </p:cNvPr>
          <p:cNvSpPr>
            <a:spLocks noGrp="1"/>
          </p:cNvSpPr>
          <p:nvPr>
            <p:ph type="title"/>
          </p:nvPr>
        </p:nvSpPr>
        <p:spPr>
          <a:xfrm>
            <a:off x="-2362200" y="228600"/>
            <a:ext cx="10890740" cy="1143000"/>
          </a:xfrm>
        </p:spPr>
        <p:txBody>
          <a:bodyPr/>
          <a:lstStyle/>
          <a:p>
            <a:r>
              <a:rPr lang="en-US" dirty="0">
                <a:solidFill>
                  <a:srgbClr val="FF0000"/>
                </a:solidFill>
              </a:rPr>
              <a:t>Application Snapshots</a:t>
            </a:r>
            <a:endParaRPr lang="en-IN" dirty="0">
              <a:solidFill>
                <a:srgbClr val="FF0000"/>
              </a:solidFill>
            </a:endParaRPr>
          </a:p>
        </p:txBody>
      </p:sp>
      <p:pic>
        <p:nvPicPr>
          <p:cNvPr id="7" name="Content Placeholder 6">
            <a:extLst>
              <a:ext uri="{FF2B5EF4-FFF2-40B4-BE49-F238E27FC236}">
                <a16:creationId xmlns:a16="http://schemas.microsoft.com/office/drawing/2014/main" id="{F24D48E8-0758-B8AF-CEE0-18195AA8ED54}"/>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
        <p:nvSpPr>
          <p:cNvPr id="4" name="Date Placeholder 3">
            <a:extLst>
              <a:ext uri="{FF2B5EF4-FFF2-40B4-BE49-F238E27FC236}">
                <a16:creationId xmlns:a16="http://schemas.microsoft.com/office/drawing/2014/main" id="{8E3ABE11-425D-9B33-7A62-C235412B2B15}"/>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C432F4E6-1477-53E0-E7C1-CC74831D0279}"/>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7426ED87-D852-DE9C-6D79-1CB7A29D005A}"/>
              </a:ext>
            </a:extLst>
          </p:cNvPr>
          <p:cNvSpPr>
            <a:spLocks noGrp="1"/>
          </p:cNvSpPr>
          <p:nvPr>
            <p:ph type="sldNum" sz="quarter" idx="12"/>
          </p:nvPr>
        </p:nvSpPr>
        <p:spPr/>
        <p:txBody>
          <a:bodyPr/>
          <a:lstStyle/>
          <a:p>
            <a:fld id="{7B28076C-CE04-4A00-BFAA-A90EA8355859}" type="slidenum">
              <a:rPr lang="en-US" smtClean="0"/>
              <a:pPr/>
              <a:t>19</a:t>
            </a:fld>
            <a:endParaRPr lang="en-US"/>
          </a:p>
        </p:txBody>
      </p:sp>
    </p:spTree>
    <p:extLst>
      <p:ext uri="{BB962C8B-B14F-4D97-AF65-F5344CB8AC3E}">
        <p14:creationId xmlns:p14="http://schemas.microsoft.com/office/powerpoint/2010/main" val="1078526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37BDC-A578-D39D-94DD-D4CE82298C01}"/>
              </a:ext>
            </a:extLst>
          </p:cNvPr>
          <p:cNvSpPr>
            <a:spLocks noGrp="1"/>
          </p:cNvSpPr>
          <p:nvPr>
            <p:ph type="title"/>
          </p:nvPr>
        </p:nvSpPr>
        <p:spPr>
          <a:xfrm>
            <a:off x="-2438400" y="228600"/>
            <a:ext cx="10966940" cy="1143000"/>
          </a:xfrm>
        </p:spPr>
        <p:txBody>
          <a:bodyPr/>
          <a:lstStyle/>
          <a:p>
            <a:r>
              <a:rPr lang="en-US" dirty="0">
                <a:solidFill>
                  <a:srgbClr val="FF0000"/>
                </a:solidFill>
              </a:rPr>
              <a:t>Application Snapshots</a:t>
            </a:r>
            <a:endParaRPr lang="en-IN" dirty="0">
              <a:solidFill>
                <a:srgbClr val="FF0000"/>
              </a:solidFill>
            </a:endParaRPr>
          </a:p>
        </p:txBody>
      </p:sp>
      <p:pic>
        <p:nvPicPr>
          <p:cNvPr id="7" name="Content Placeholder 6">
            <a:extLst>
              <a:ext uri="{FF2B5EF4-FFF2-40B4-BE49-F238E27FC236}">
                <a16:creationId xmlns:a16="http://schemas.microsoft.com/office/drawing/2014/main" id="{C77B368B-008B-9C1B-AC3F-DCDAFB3E270D}"/>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
        <p:nvSpPr>
          <p:cNvPr id="4" name="Date Placeholder 3">
            <a:extLst>
              <a:ext uri="{FF2B5EF4-FFF2-40B4-BE49-F238E27FC236}">
                <a16:creationId xmlns:a16="http://schemas.microsoft.com/office/drawing/2014/main" id="{0E33609C-C954-3752-D2CB-E27842CF6790}"/>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01D08B4F-B5CA-4873-7A4E-C57331E3591C}"/>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9BDC5AB1-88DB-2AF0-1AE4-A6D4CEA88F4E}"/>
              </a:ext>
            </a:extLst>
          </p:cNvPr>
          <p:cNvSpPr>
            <a:spLocks noGrp="1"/>
          </p:cNvSpPr>
          <p:nvPr>
            <p:ph type="sldNum" sz="quarter" idx="12"/>
          </p:nvPr>
        </p:nvSpPr>
        <p:spPr/>
        <p:txBody>
          <a:bodyPr/>
          <a:lstStyle/>
          <a:p>
            <a:fld id="{7B28076C-CE04-4A00-BFAA-A90EA8355859}" type="slidenum">
              <a:rPr lang="en-US" smtClean="0"/>
              <a:pPr/>
              <a:t>20</a:t>
            </a:fld>
            <a:endParaRPr lang="en-US"/>
          </a:p>
        </p:txBody>
      </p:sp>
    </p:spTree>
    <p:extLst>
      <p:ext uri="{BB962C8B-B14F-4D97-AF65-F5344CB8AC3E}">
        <p14:creationId xmlns:p14="http://schemas.microsoft.com/office/powerpoint/2010/main" val="2963604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104BC-6F15-6D0E-2F0E-8DFA7CE0A696}"/>
              </a:ext>
            </a:extLst>
          </p:cNvPr>
          <p:cNvSpPr>
            <a:spLocks noGrp="1"/>
          </p:cNvSpPr>
          <p:nvPr>
            <p:ph type="title"/>
          </p:nvPr>
        </p:nvSpPr>
        <p:spPr>
          <a:xfrm>
            <a:off x="-2286000" y="228600"/>
            <a:ext cx="10814540" cy="1143000"/>
          </a:xfrm>
        </p:spPr>
        <p:txBody>
          <a:bodyPr/>
          <a:lstStyle/>
          <a:p>
            <a:r>
              <a:rPr lang="en-US" dirty="0">
                <a:solidFill>
                  <a:srgbClr val="FF0000"/>
                </a:solidFill>
              </a:rPr>
              <a:t>Application Snapshots</a:t>
            </a:r>
            <a:endParaRPr lang="en-IN" dirty="0">
              <a:solidFill>
                <a:srgbClr val="FF0000"/>
              </a:solidFill>
            </a:endParaRPr>
          </a:p>
        </p:txBody>
      </p:sp>
      <p:pic>
        <p:nvPicPr>
          <p:cNvPr id="7" name="Content Placeholder 6">
            <a:extLst>
              <a:ext uri="{FF2B5EF4-FFF2-40B4-BE49-F238E27FC236}">
                <a16:creationId xmlns:a16="http://schemas.microsoft.com/office/drawing/2014/main" id="{CADFE5C4-4823-5276-FA10-F25DA10E4C7F}"/>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
        <p:nvSpPr>
          <p:cNvPr id="4" name="Date Placeholder 3">
            <a:extLst>
              <a:ext uri="{FF2B5EF4-FFF2-40B4-BE49-F238E27FC236}">
                <a16:creationId xmlns:a16="http://schemas.microsoft.com/office/drawing/2014/main" id="{5E79A51E-DB39-FE94-4963-70F760E6413B}"/>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A3B4EFC5-768B-CAFA-94D7-BB4CA174C940}"/>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F0B629BB-7918-5023-4279-1E177DDF0DCC}"/>
              </a:ext>
            </a:extLst>
          </p:cNvPr>
          <p:cNvSpPr>
            <a:spLocks noGrp="1"/>
          </p:cNvSpPr>
          <p:nvPr>
            <p:ph type="sldNum" sz="quarter" idx="12"/>
          </p:nvPr>
        </p:nvSpPr>
        <p:spPr/>
        <p:txBody>
          <a:bodyPr/>
          <a:lstStyle/>
          <a:p>
            <a:fld id="{7B28076C-CE04-4A00-BFAA-A90EA8355859}" type="slidenum">
              <a:rPr lang="en-US" smtClean="0"/>
              <a:pPr/>
              <a:t>21</a:t>
            </a:fld>
            <a:endParaRPr lang="en-US"/>
          </a:p>
        </p:txBody>
      </p:sp>
    </p:spTree>
    <p:extLst>
      <p:ext uri="{BB962C8B-B14F-4D97-AF65-F5344CB8AC3E}">
        <p14:creationId xmlns:p14="http://schemas.microsoft.com/office/powerpoint/2010/main" val="3104164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A86D5-F01F-C106-CDF0-1E50D813A5EA}"/>
              </a:ext>
            </a:extLst>
          </p:cNvPr>
          <p:cNvSpPr>
            <a:spLocks noGrp="1"/>
          </p:cNvSpPr>
          <p:nvPr>
            <p:ph type="title"/>
          </p:nvPr>
        </p:nvSpPr>
        <p:spPr>
          <a:xfrm>
            <a:off x="-2362200" y="228600"/>
            <a:ext cx="10890740" cy="1143000"/>
          </a:xfrm>
        </p:spPr>
        <p:txBody>
          <a:bodyPr/>
          <a:lstStyle/>
          <a:p>
            <a:r>
              <a:rPr lang="en-US" dirty="0">
                <a:solidFill>
                  <a:srgbClr val="FF0000"/>
                </a:solidFill>
              </a:rPr>
              <a:t>Application Snapshots</a:t>
            </a:r>
            <a:endParaRPr lang="en-IN" dirty="0">
              <a:solidFill>
                <a:srgbClr val="FF0000"/>
              </a:solidFill>
            </a:endParaRPr>
          </a:p>
        </p:txBody>
      </p:sp>
      <p:sp>
        <p:nvSpPr>
          <p:cNvPr id="4" name="Date Placeholder 3">
            <a:extLst>
              <a:ext uri="{FF2B5EF4-FFF2-40B4-BE49-F238E27FC236}">
                <a16:creationId xmlns:a16="http://schemas.microsoft.com/office/drawing/2014/main" id="{3323D442-3E99-2426-1934-FB8D95121910}"/>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83FB5A8B-196B-FFC9-72B4-DD697DEF3110}"/>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89175D48-D928-F7E8-14EC-BA6B10392969}"/>
              </a:ext>
            </a:extLst>
          </p:cNvPr>
          <p:cNvSpPr>
            <a:spLocks noGrp="1"/>
          </p:cNvSpPr>
          <p:nvPr>
            <p:ph type="sldNum" sz="quarter" idx="12"/>
          </p:nvPr>
        </p:nvSpPr>
        <p:spPr/>
        <p:txBody>
          <a:bodyPr/>
          <a:lstStyle/>
          <a:p>
            <a:fld id="{7B28076C-CE04-4A00-BFAA-A90EA8355859}" type="slidenum">
              <a:rPr lang="en-US" smtClean="0"/>
              <a:pPr/>
              <a:t>22</a:t>
            </a:fld>
            <a:endParaRPr lang="en-US"/>
          </a:p>
        </p:txBody>
      </p:sp>
      <p:pic>
        <p:nvPicPr>
          <p:cNvPr id="10" name="Content Placeholder 9">
            <a:extLst>
              <a:ext uri="{FF2B5EF4-FFF2-40B4-BE49-F238E27FC236}">
                <a16:creationId xmlns:a16="http://schemas.microsoft.com/office/drawing/2014/main" id="{79EE291C-6C52-D520-0990-759605202884}"/>
              </a:ext>
            </a:extLst>
          </p:cNvPr>
          <p:cNvPicPr>
            <a:picLocks noGrp="1" noChangeAspect="1"/>
          </p:cNvPicPr>
          <p:nvPr>
            <p:ph idx="1"/>
          </p:nvPr>
        </p:nvPicPr>
        <p:blipFill>
          <a:blip r:embed="rId2"/>
          <a:stretch>
            <a:fillRect/>
          </a:stretch>
        </p:blipFill>
        <p:spPr>
          <a:xfrm>
            <a:off x="951230" y="1600200"/>
            <a:ext cx="7241540" cy="4525963"/>
          </a:xfrm>
          <a:prstGeom prst="rect">
            <a:avLst/>
          </a:prstGeom>
        </p:spPr>
      </p:pic>
    </p:spTree>
    <p:extLst>
      <p:ext uri="{BB962C8B-B14F-4D97-AF65-F5344CB8AC3E}">
        <p14:creationId xmlns:p14="http://schemas.microsoft.com/office/powerpoint/2010/main" val="74803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9E4403-D133-4E34-8516-5B0E43270005}"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23</a:t>
            </a:fld>
            <a:endParaRPr lang="en-US"/>
          </a:p>
        </p:txBody>
      </p:sp>
      <p:sp>
        <p:nvSpPr>
          <p:cNvPr id="7" name="Title 1"/>
          <p:cNvSpPr>
            <a:spLocks noGrp="1"/>
          </p:cNvSpPr>
          <p:nvPr>
            <p:ph type="title"/>
          </p:nvPr>
        </p:nvSpPr>
        <p:spPr>
          <a:xfrm>
            <a:off x="381000" y="533400"/>
            <a:ext cx="8229600" cy="503238"/>
          </a:xfrm>
        </p:spPr>
        <p:txBody>
          <a:bodyPr>
            <a:normAutofit fontScale="90000"/>
          </a:bodyPr>
          <a:lstStyle/>
          <a:p>
            <a:pPr algn="l"/>
            <a:r>
              <a:rPr lang="en-US" dirty="0">
                <a:solidFill>
                  <a:srgbClr val="FF0000"/>
                </a:solidFill>
                <a:latin typeface="Arial" pitchFamily="34" charset="0"/>
                <a:cs typeface="Arial" pitchFamily="34" charset="0"/>
              </a:rPr>
              <a:t>Methodology</a:t>
            </a:r>
          </a:p>
        </p:txBody>
      </p:sp>
      <p:sp>
        <p:nvSpPr>
          <p:cNvPr id="2" name="Content Placeholder 1">
            <a:extLst>
              <a:ext uri="{FF2B5EF4-FFF2-40B4-BE49-F238E27FC236}">
                <a16:creationId xmlns:a16="http://schemas.microsoft.com/office/drawing/2014/main" id="{30E708E5-DB6B-FE21-A084-6160E47C220C}"/>
              </a:ext>
            </a:extLst>
          </p:cNvPr>
          <p:cNvSpPr>
            <a:spLocks noGrp="1" noChangeArrowheads="1"/>
          </p:cNvSpPr>
          <p:nvPr>
            <p:ph idx="1"/>
          </p:nvPr>
        </p:nvSpPr>
        <p:spPr bwMode="auto">
          <a:xfrm>
            <a:off x="381000" y="1513860"/>
            <a:ext cx="8382001" cy="3830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1.System Design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Designed using Java classes for patients, doctors and hospital systems</a:t>
            </a:r>
          </a:p>
          <a:p>
            <a:pPr marL="0" marR="0" lvl="0" indent="0" algn="just" defTabSz="914400" rtl="0" eaLnBrk="0" fontAlgn="base" latinLnBrk="0" hangingPunct="0">
              <a:lnSpc>
                <a:spcPct val="15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2</a:t>
            </a:r>
            <a:r>
              <a:rPr lang="en-US" altLang="en-US" sz="1800" dirty="0">
                <a:latin typeface="Times New Roman" panose="02020603050405020304" pitchFamily="18" charset="0"/>
                <a:cs typeface="Times New Roman" panose="02020603050405020304" pitchFamily="18" charset="0"/>
              </a:rPr>
              <a:t>.</a:t>
            </a:r>
            <a:r>
              <a:rPr lang="en-US" altLang="en-US" sz="1800" b="1" dirty="0">
                <a:latin typeface="Times New Roman" panose="02020603050405020304" pitchFamily="18" charset="0"/>
                <a:cs typeface="Times New Roman" panose="02020603050405020304" pitchFamily="18" charset="0"/>
              </a:rPr>
              <a:t>User Interface-  </a:t>
            </a:r>
            <a:r>
              <a:rPr lang="en-US" altLang="en-US" sz="1800" dirty="0">
                <a:latin typeface="Times New Roman" panose="02020603050405020304" pitchFamily="18" charset="0"/>
                <a:cs typeface="Times New Roman" panose="02020603050405020304" pitchFamily="18" charset="0"/>
              </a:rPr>
              <a:t>console based menu to allow easy navigation for users, used </a:t>
            </a:r>
            <a:r>
              <a:rPr lang="en-US" altLang="en-US" sz="1800" dirty="0" err="1">
                <a:latin typeface="Times New Roman" panose="02020603050405020304" pitchFamily="18" charset="0"/>
                <a:cs typeface="Times New Roman" panose="02020603050405020304" pitchFamily="18" charset="0"/>
              </a:rPr>
              <a:t>arraylists</a:t>
            </a:r>
            <a:r>
              <a:rPr lang="en-US" altLang="en-US" sz="1800" dirty="0">
                <a:latin typeface="Times New Roman" panose="02020603050405020304" pitchFamily="18" charset="0"/>
                <a:cs typeface="Times New Roman" panose="02020603050405020304" pitchFamily="18" charset="0"/>
              </a:rPr>
              <a:t> to store data of patients and doctors.</a:t>
            </a:r>
          </a:p>
          <a:p>
            <a:pPr marL="0" marR="0" lvl="0" indent="0" algn="just" defTabSz="914400" rtl="0" eaLnBrk="0" fontAlgn="base" latinLnBrk="0" hangingPunct="0">
              <a:lnSpc>
                <a:spcPct val="15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3.Login System –</a:t>
            </a:r>
            <a:r>
              <a:rPr lang="en-US" altLang="en-US" sz="1800" dirty="0">
                <a:latin typeface="Times New Roman" panose="02020603050405020304" pitchFamily="18" charset="0"/>
                <a:cs typeface="Times New Roman" panose="02020603050405020304" pitchFamily="18" charset="0"/>
              </a:rPr>
              <a:t> developed for both doctors and patients with usernames and passwords.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4.Testing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Conducted unit, integration, and user acceptance testing.</a:t>
            </a:r>
          </a:p>
          <a:p>
            <a:pPr marL="0" marR="0" lvl="0" indent="0" algn="just" defTabSz="914400" rtl="0" eaLnBrk="0" fontAlgn="base" latinLnBrk="0" hangingPunct="0">
              <a:lnSpc>
                <a:spcPct val="15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5.</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 Gathering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Collected functional needs from doctors, patients, and staff</a:t>
            </a:r>
            <a:r>
              <a:rPr kumimoji="0" lang="en-US" altLang="en-US" sz="2000" b="0" i="0" u="none" strike="noStrike" cap="none" normalizeH="0" baseline="0" dirty="0">
                <a:ln>
                  <a:noFill/>
                </a:ln>
                <a:solidFill>
                  <a:schemeClr val="tx1"/>
                </a:solidFill>
                <a:effectLst/>
                <a:latin typeface="+mj-lt"/>
              </a:rPr>
              <a:t>.</a:t>
            </a:r>
          </a:p>
        </p:txBody>
      </p:sp>
    </p:spTree>
    <p:extLst>
      <p:ext uri="{BB962C8B-B14F-4D97-AF65-F5344CB8AC3E}">
        <p14:creationId xmlns:p14="http://schemas.microsoft.com/office/powerpoint/2010/main" val="1250361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2438400" y="228600"/>
            <a:ext cx="10966940" cy="1143000"/>
          </a:xfrm>
        </p:spPr>
        <p:txBody>
          <a:bodyPr/>
          <a:lstStyle/>
          <a:p>
            <a:r>
              <a:rPr lang="en-US" dirty="0">
                <a:solidFill>
                  <a:srgbClr val="FF0000"/>
                </a:solidFill>
              </a:rPr>
              <a:t>Results and Discussion</a:t>
            </a:r>
          </a:p>
        </p:txBody>
      </p:sp>
      <p:sp>
        <p:nvSpPr>
          <p:cNvPr id="13" name="Rectangle 7"/>
          <p:cNvSpPr>
            <a:spLocks noGrp="1" noChangeArrowheads="1"/>
          </p:cNvSpPr>
          <p:nvPr>
            <p:ph idx="1"/>
          </p:nvPr>
        </p:nvSpPr>
        <p:spPr>
          <a:xfrm>
            <a:off x="533400" y="1780837"/>
            <a:ext cx="8229600" cy="4525963"/>
          </a:xfrm>
        </p:spPr>
        <p:txBody>
          <a:bodyPr>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a:buNone/>
            </a:pPr>
            <a:r>
              <a:rPr lang="en-US" sz="1800" dirty="0">
                <a:latin typeface="Times New Roman" panose="02020603050405020304" pitchFamily="18" charset="0"/>
                <a:cs typeface="Times New Roman" panose="02020603050405020304" pitchFamily="18" charset="0"/>
              </a:rPr>
              <a:t>The Web-Based Medical Management System was successfully developed to streamline healthcare operations through features such as role-based access for administrators, doctors, receptionists, and patients; appointment scheduling; patient records management; billing and inventory tracking; and real-time analytics. Testing showed increased operational efficiency, reduced manual errors, and positive user feedback due to the intuitive interface and secure data handling. The system enhanced access to medical information, improved coordination among staff, and supported decision-making through integrated reports. While performance depends on internet connectivity and there is a slight learning curve for new users, the system proved scalable and adaptable, with potential for future enhancements like mobile integration and AI-assisted diagnostics</a:t>
            </a:r>
            <a:r>
              <a:rPr lang="en-US" sz="1800" dirty="0">
                <a:latin typeface="+mn-lt"/>
              </a:rPr>
              <a:t>.</a:t>
            </a:r>
            <a:endParaRPr lang="en-US" altLang="en-US" sz="1800"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42A4DED4-350B-4878-B3BD-885E45171D2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24</a:t>
            </a:fld>
            <a:endParaRPr lang="en-US"/>
          </a:p>
        </p:txBody>
      </p:sp>
      <p:sp>
        <p:nvSpPr>
          <p:cNvPr id="10" name="Rectangle 4"/>
          <p:cNvSpPr>
            <a:spLocks noChangeArrowheads="1"/>
          </p:cNvSpPr>
          <p:nvPr/>
        </p:nvSpPr>
        <p:spPr bwMode="auto">
          <a:xfrm>
            <a:off x="2209800" y="4043819"/>
            <a:ext cx="18473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862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5EA2093-AB03-4944-BBF7-9D1F3BE620B7}"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25</a:t>
            </a:fld>
            <a:endParaRPr lang="en-US"/>
          </a:p>
        </p:txBody>
      </p:sp>
      <p:sp>
        <p:nvSpPr>
          <p:cNvPr id="7" name="Title 1"/>
          <p:cNvSpPr>
            <a:spLocks noGrp="1"/>
          </p:cNvSpPr>
          <p:nvPr>
            <p:ph type="title"/>
          </p:nvPr>
        </p:nvSpPr>
        <p:spPr>
          <a:xfrm>
            <a:off x="533400" y="381000"/>
            <a:ext cx="8229600" cy="685800"/>
          </a:xfrm>
        </p:spPr>
        <p:txBody>
          <a:bodyPr>
            <a:normAutofit fontScale="90000"/>
          </a:bodyPr>
          <a:lstStyle/>
          <a:p>
            <a:pPr algn="l"/>
            <a:br>
              <a:rPr lang="en-US" dirty="0">
                <a:latin typeface="Arial" pitchFamily="34" charset="0"/>
                <a:cs typeface="Arial" pitchFamily="34" charset="0"/>
              </a:rPr>
            </a:br>
            <a:r>
              <a:rPr lang="en-US" dirty="0">
                <a:solidFill>
                  <a:srgbClr val="FF0000"/>
                </a:solidFill>
                <a:latin typeface="Arial" pitchFamily="34" charset="0"/>
                <a:cs typeface="Arial" pitchFamily="34" charset="0"/>
              </a:rPr>
              <a:t>Conclusion</a:t>
            </a: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8" name="Content Placeholder 2"/>
          <p:cNvSpPr>
            <a:spLocks noGrp="1"/>
          </p:cNvSpPr>
          <p:nvPr>
            <p:ph idx="1"/>
          </p:nvPr>
        </p:nvSpPr>
        <p:spPr>
          <a:xfrm>
            <a:off x="457200" y="1448593"/>
            <a:ext cx="8229600" cy="4525963"/>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Web Medical Management System successfully streamlines the management of healthcare data and services by providing a centralized, user-friendly platform for patients, doctors, and administrators. Through this system, routine tasks such as appointment scheduling, patient record management, and prescription tracking are efficiently handled, reducing manual errors and saving time. The implementation of this web-based solution enhances accessibility, ensures data accuracy, and promotes better communication between medical personnel and patients. Overall, the project demonstrates how digital tools can significantly improve the effectiveness and efficiency of healthcare delivery. Future enhancements could include integration with wearable health devices, real-time analytics, and mobile app support to further extend the system's capabilities.</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845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2AE96E4-D5C8-425D-96E7-CA40EBBFE28F}"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26</a:t>
            </a:fld>
            <a:endParaRPr lang="en-US"/>
          </a:p>
        </p:txBody>
      </p:sp>
      <p:sp>
        <p:nvSpPr>
          <p:cNvPr id="7" name="Title 1"/>
          <p:cNvSpPr txBox="1">
            <a:spLocks/>
          </p:cNvSpPr>
          <p:nvPr/>
        </p:nvSpPr>
        <p:spPr>
          <a:xfrm>
            <a:off x="457200" y="304800"/>
            <a:ext cx="8229600" cy="762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4000" dirty="0">
              <a:solidFill>
                <a:srgbClr val="C00000"/>
              </a:solidFill>
              <a:latin typeface="Arial" pitchFamily="34" charset="0"/>
              <a:cs typeface="Arial" pitchFamily="34" charset="0"/>
            </a:endParaRPr>
          </a:p>
          <a:p>
            <a:pPr algn="l"/>
            <a:r>
              <a:rPr lang="en-US" sz="4000" dirty="0">
                <a:solidFill>
                  <a:srgbClr val="FF0000"/>
                </a:solidFill>
                <a:latin typeface="Arial" pitchFamily="34" charset="0"/>
                <a:cs typeface="Arial" pitchFamily="34" charset="0"/>
              </a:rPr>
              <a:t>References</a:t>
            </a:r>
            <a:br>
              <a:rPr lang="en-US" sz="4000" dirty="0">
                <a:latin typeface="Arial" pitchFamily="34" charset="0"/>
                <a:cs typeface="Arial" pitchFamily="34" charset="0"/>
              </a:rPr>
            </a:br>
            <a:endParaRPr lang="en-US" sz="4000"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4D5719BA-5137-880D-2724-115DB291EE94}"/>
              </a:ext>
            </a:extLst>
          </p:cNvPr>
          <p:cNvSpPr>
            <a:spLocks noGrp="1"/>
          </p:cNvSpPr>
          <p:nvPr>
            <p:ph idx="1"/>
          </p:nvPr>
        </p:nvSpPr>
        <p:spPr>
          <a:xfrm>
            <a:off x="457200" y="1600200"/>
            <a:ext cx="8229600" cy="4876800"/>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1.</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Tanenbaum, A. S., &amp; Wetherall, D. J. (2011). Computer Networks (5th ed.). Pearson Education. → Provides insights on client-server architecture and data exchange, relevant to the medical system's backend. </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2.</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Pressman, R. S. (2014). Software Engineering: A Practitioner’s Approach (8th ed.). McGraw-Hill. → Offers methodologies for software development life cycle used in this project. </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3. </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Kumar, V., &amp; Sharma, S. (2017). Modern Medical Information Systems: Design and Development. Tata McGraw-Hill. → Details common design strategies in hospital management software.</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4.</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Chaudhary, S., &amp; Singh, R. (2020). “Design and Implementation of Hospital Management System: A Case Study.” International Journal of Computer Science and Mobile Computing, Vol. 9, Issue 3. → A peer-reviewed paper discussing real-world hospital system implementations. </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5. </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WHO Health Systems Toolkit, World Health Organization (2015). → Provides structural requirements for managing healthcare delivery systems.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9194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04800"/>
            <a:ext cx="8191500" cy="1682749"/>
          </a:xfrm>
        </p:spPr>
        <p:txBody>
          <a:bodyPr>
            <a:normAutofit/>
          </a:bodyPr>
          <a:lstStyle/>
          <a:p>
            <a:pPr algn="l"/>
            <a:r>
              <a:rPr lang="en-US" dirty="0">
                <a:solidFill>
                  <a:srgbClr val="FF0000"/>
                </a:solidFill>
                <a:latin typeface="Arial" pitchFamily="34" charset="0"/>
                <a:cs typeface="Arial" pitchFamily="34" charset="0"/>
              </a:rPr>
              <a:t>Course Certificate</a:t>
            </a:r>
            <a:br>
              <a:rPr lang="en-US" dirty="0">
                <a:solidFill>
                  <a:srgbClr val="C00000"/>
                </a:solidFill>
                <a:latin typeface="Arial" pitchFamily="34" charset="0"/>
                <a:cs typeface="Arial" pitchFamily="34" charset="0"/>
              </a:rPr>
            </a:br>
            <a:endParaRPr lang="en-IN" dirty="0"/>
          </a:p>
        </p:txBody>
      </p:sp>
      <p:sp>
        <p:nvSpPr>
          <p:cNvPr id="4" name="Date Placeholder 3"/>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p:cNvSpPr>
            <a:spLocks noGrp="1"/>
          </p:cNvSpPr>
          <p:nvPr>
            <p:ph type="ftr" sz="quarter" idx="11"/>
          </p:nvPr>
        </p:nvSpPr>
        <p:spPr/>
        <p:txBody>
          <a:bodyPr/>
          <a:lstStyle/>
          <a:p>
            <a:r>
              <a:rPr lang="en-US"/>
              <a:t>Department of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27</a:t>
            </a:fld>
            <a:endParaRPr lang="en-US"/>
          </a:p>
        </p:txBody>
      </p:sp>
      <p:pic>
        <p:nvPicPr>
          <p:cNvPr id="8" name="Content Placeholder 7">
            <a:extLst>
              <a:ext uri="{FF2B5EF4-FFF2-40B4-BE49-F238E27FC236}">
                <a16:creationId xmlns:a16="http://schemas.microsoft.com/office/drawing/2014/main" id="{EB6ED362-8FA5-DA52-E9B5-FDCAAE8D006E}"/>
              </a:ext>
            </a:extLst>
          </p:cNvPr>
          <p:cNvPicPr>
            <a:picLocks noGrp="1" noChangeAspect="1"/>
          </p:cNvPicPr>
          <p:nvPr>
            <p:ph idx="1"/>
          </p:nvPr>
        </p:nvPicPr>
        <p:blipFill>
          <a:blip r:embed="rId2"/>
          <a:stretch>
            <a:fillRect/>
          </a:stretch>
        </p:blipFill>
        <p:spPr>
          <a:xfrm>
            <a:off x="1162260" y="1600200"/>
            <a:ext cx="6819479" cy="4525963"/>
          </a:xfrm>
          <a:prstGeom prst="rect">
            <a:avLst/>
          </a:prstGeom>
        </p:spPr>
      </p:pic>
    </p:spTree>
    <p:extLst>
      <p:ext uri="{BB962C8B-B14F-4D97-AF65-F5344CB8AC3E}">
        <p14:creationId xmlns:p14="http://schemas.microsoft.com/office/powerpoint/2010/main" val="2079945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5238-6748-49F1-0A88-DF6E1F7C4371}"/>
              </a:ext>
            </a:extLst>
          </p:cNvPr>
          <p:cNvSpPr>
            <a:spLocks noGrp="1"/>
          </p:cNvSpPr>
          <p:nvPr>
            <p:ph type="title"/>
          </p:nvPr>
        </p:nvSpPr>
        <p:spPr/>
        <p:txBody>
          <a:bodyPr/>
          <a:lstStyle/>
          <a:p>
            <a:pPr algn="l"/>
            <a:r>
              <a:rPr lang="en-US" dirty="0">
                <a:solidFill>
                  <a:srgbClr val="FF0000"/>
                </a:solidFill>
                <a:latin typeface="Arial" pitchFamily="34" charset="0"/>
                <a:cs typeface="Arial" pitchFamily="34" charset="0"/>
              </a:rPr>
              <a:t>Course Certificate</a:t>
            </a:r>
            <a:endParaRPr lang="en-IN" dirty="0"/>
          </a:p>
        </p:txBody>
      </p:sp>
      <p:pic>
        <p:nvPicPr>
          <p:cNvPr id="7" name="Content Placeholder 6">
            <a:extLst>
              <a:ext uri="{FF2B5EF4-FFF2-40B4-BE49-F238E27FC236}">
                <a16:creationId xmlns:a16="http://schemas.microsoft.com/office/drawing/2014/main" id="{CF26757D-5D33-CEFF-B125-A0B2992DCDEB}"/>
              </a:ext>
            </a:extLst>
          </p:cNvPr>
          <p:cNvPicPr>
            <a:picLocks noGrp="1" noChangeAspect="1"/>
          </p:cNvPicPr>
          <p:nvPr>
            <p:ph idx="1"/>
          </p:nvPr>
        </p:nvPicPr>
        <p:blipFill>
          <a:blip r:embed="rId2"/>
          <a:stretch>
            <a:fillRect/>
          </a:stretch>
        </p:blipFill>
        <p:spPr>
          <a:xfrm>
            <a:off x="1382520" y="1600200"/>
            <a:ext cx="6378960" cy="4525963"/>
          </a:xfrm>
          <a:prstGeom prst="rect">
            <a:avLst/>
          </a:prstGeom>
        </p:spPr>
      </p:pic>
      <p:sp>
        <p:nvSpPr>
          <p:cNvPr id="4" name="Date Placeholder 3">
            <a:extLst>
              <a:ext uri="{FF2B5EF4-FFF2-40B4-BE49-F238E27FC236}">
                <a16:creationId xmlns:a16="http://schemas.microsoft.com/office/drawing/2014/main" id="{A1CE4600-4D6A-B280-3D81-8E1E5F3E0AB3}"/>
              </a:ext>
            </a:extLst>
          </p:cNvPr>
          <p:cNvSpPr>
            <a:spLocks noGrp="1"/>
          </p:cNvSpPr>
          <p:nvPr>
            <p:ph type="dt" sz="half" idx="10"/>
          </p:nvPr>
        </p:nvSpPr>
        <p:spPr/>
        <p:txBody>
          <a:bodyPr/>
          <a:lstStyle/>
          <a:p>
            <a:fld id="{A2414E9F-A237-4082-B37B-D926ADB268EE}" type="datetime3">
              <a:rPr lang="en-US" smtClean="0"/>
              <a:pPr/>
              <a:t>23 April 2025</a:t>
            </a:fld>
            <a:endParaRPr lang="en-US"/>
          </a:p>
        </p:txBody>
      </p:sp>
      <p:sp>
        <p:nvSpPr>
          <p:cNvPr id="5" name="Footer Placeholder 4">
            <a:extLst>
              <a:ext uri="{FF2B5EF4-FFF2-40B4-BE49-F238E27FC236}">
                <a16:creationId xmlns:a16="http://schemas.microsoft.com/office/drawing/2014/main" id="{6A082BA9-489C-3271-B3D6-CCDA4FD979D0}"/>
              </a:ext>
            </a:extLst>
          </p:cNvPr>
          <p:cNvSpPr>
            <a:spLocks noGrp="1"/>
          </p:cNvSpPr>
          <p:nvPr>
            <p:ph type="ftr" sz="quarter" idx="11"/>
          </p:nvPr>
        </p:nvSpPr>
        <p:spPr/>
        <p:txBody>
          <a:bodyPr/>
          <a:lstStyle/>
          <a:p>
            <a:r>
              <a:rPr lang="en-US"/>
              <a:t>Department of CSE</a:t>
            </a:r>
          </a:p>
        </p:txBody>
      </p:sp>
      <p:sp>
        <p:nvSpPr>
          <p:cNvPr id="6" name="Slide Number Placeholder 5">
            <a:extLst>
              <a:ext uri="{FF2B5EF4-FFF2-40B4-BE49-F238E27FC236}">
                <a16:creationId xmlns:a16="http://schemas.microsoft.com/office/drawing/2014/main" id="{8FCD10D7-DBC4-936F-4A55-0BA88B82EDB3}"/>
              </a:ext>
            </a:extLst>
          </p:cNvPr>
          <p:cNvSpPr>
            <a:spLocks noGrp="1"/>
          </p:cNvSpPr>
          <p:nvPr>
            <p:ph type="sldNum" sz="quarter" idx="12"/>
          </p:nvPr>
        </p:nvSpPr>
        <p:spPr/>
        <p:txBody>
          <a:bodyPr/>
          <a:lstStyle/>
          <a:p>
            <a:fld id="{7B28076C-CE04-4A00-BFAA-A90EA8355859}" type="slidenum">
              <a:rPr lang="en-US" smtClean="0"/>
              <a:pPr/>
              <a:t>28</a:t>
            </a:fld>
            <a:endParaRPr lang="en-US"/>
          </a:p>
        </p:txBody>
      </p:sp>
    </p:spTree>
    <p:extLst>
      <p:ext uri="{BB962C8B-B14F-4D97-AF65-F5344CB8AC3E}">
        <p14:creationId xmlns:p14="http://schemas.microsoft.com/office/powerpoint/2010/main" val="279284916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1652</TotalTime>
  <Words>1786</Words>
  <Application>Microsoft Office PowerPoint</Application>
  <PresentationFormat>On-screen Show (4:3)</PresentationFormat>
  <Paragraphs>305</Paragraphs>
  <Slides>28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Custom Design</vt:lpstr>
      <vt:lpstr> </vt:lpstr>
      <vt:lpstr>Presentation Outline</vt:lpstr>
      <vt:lpstr>PowerPoint Presentation</vt:lpstr>
      <vt:lpstr>Objectives</vt:lpstr>
      <vt:lpstr>System Architecture / Ideation Map</vt:lpstr>
      <vt:lpstr>Module Implementation</vt:lpstr>
      <vt:lpstr>Module Implementation</vt:lpstr>
      <vt:lpstr>Module Implementation</vt:lpstr>
      <vt:lpstr>Module Implementation</vt:lpstr>
      <vt:lpstr>Module Implementation</vt:lpstr>
      <vt:lpstr>Design Requirements</vt:lpstr>
      <vt:lpstr>Design Requirements</vt:lpstr>
      <vt:lpstr>Application Snapshots</vt:lpstr>
      <vt:lpstr>Application Snapshots</vt:lpstr>
      <vt:lpstr>Application Snapshots</vt:lpstr>
      <vt:lpstr>Application Snapshots</vt:lpstr>
      <vt:lpstr>Application Snapshots</vt:lpstr>
      <vt:lpstr>Application Snapshots</vt:lpstr>
      <vt:lpstr>Application Snapshots</vt:lpstr>
      <vt:lpstr>Application Snapshots</vt:lpstr>
      <vt:lpstr>Application Snapshots</vt:lpstr>
      <vt:lpstr>Application Snapshots</vt:lpstr>
      <vt:lpstr>Methodology</vt:lpstr>
      <vt:lpstr>Results and Discussion</vt:lpstr>
      <vt:lpstr> Conclusion </vt:lpstr>
      <vt:lpstr>PowerPoint Presentation</vt:lpstr>
      <vt:lpstr>Course Certificate </vt:lpstr>
      <vt:lpstr>Course Certificate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Bhavya Puchha</cp:lastModifiedBy>
  <cp:revision>103</cp:revision>
  <dcterms:created xsi:type="dcterms:W3CDTF">2019-11-06T07:48:53Z</dcterms:created>
  <dcterms:modified xsi:type="dcterms:W3CDTF">2025-04-23T07:35:12Z</dcterms:modified>
</cp:coreProperties>
</file>